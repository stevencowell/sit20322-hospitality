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purpose: Introduce Task 1 as a connected learning sequence. Ask students what they already know about prepare safely, control the process, produce consistently.
Keep assessment products, local procedures, recipes, equipment settings and work-placement administration with the current authorised teacher or RTO source.
[Sources]
Module content and source notes: task1-modules.json. Qualification and task identity: signed 2026–2027 Hospitality 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Connect personal readiness, workplace safety, food hygiene, production planning and honest evidence before treating any one control as an isolated checklist item.
Teach from this module:
1. A safe product comes from a safe system: Kitchen safety is not one moment at the beginning of a practical. It is a system of decisions made before, during and after production. A safe worker reads the full task, prepares themselves, checks the work area, selects suitable equipment, protects food, communicates changes and completes an effective clean-down.
2. Read the whole task before touching ingredients: Begin by identifying the product or service outcome, the expected yield, the available time, the required equipment and any steps that create extra risk. Read the method from beginning to end so that heating, cooling, resting, storage or service requirements do not appear as surprises halfway through the job.
3. Prepare the person: Personal readiness includes the required clean uniform, enclosed non-slip footwear, controlled hair, managed jewellery and nails, and any task-specific personal protective equipment. It also includes being fit to handle food and reporting illness, symptoms, wounds or another condition that may affect safe work.
Supplied worked example — Control the process as conditions change: Observed evidence: During a fictional cold-food practical, the pre-start was complete, but a drink spill later reached the movement path and clean tongs were placed on a used cloth. Decision and reason: The learner decides the original controls no longer protect people or food, so continuing would spread two hazards. Safe action: They pause, protect the food, warn others away from the spill, move the tongs to the designated reprocessing area and tell the teacher. Result: The authorised clean-up and equipment reset occur before work resumes. Next check or record: The learner rescans person, place, process and product, then records only the observed change and action taken.
Check: Which action gives the strongest start to an unfamiliar kitchen practical?
Listen for: Read the complete task, prepare yourself, inspect the area and confirm equipment before setting up. — Correct. This checks the task, person and workplace before food or equipment is placed into the workflow.
If students choose “Collect ingredients immediately and work out the method during production.”: That creates avoidable late decisions. Read the complete task first so timing, equipment, safety and yield needs can shape the setup.
Help cue: Use the sequence: understand the task, prepare the person, inspect the place, then organise the process.
Guided response: Explain how personal readiness, workstation readiness and process planning work together before production. Include one example of a risk that could remain if only two of the three were checked. Help: Return to the matching teaching explanation and compare the workplace consequence.
Apply: Map a complete pre-start. Use a teacher-nominated practical or demonstration. Record one check for the task, person, place and process, then identify the person you would tell if a check failed. Do not include personal health details or claim a formal observation.
Source boundary: Keep local procedures, equipment values and assessment conditions with the current authorised source.
[Sources]
Source basis: signed 2026–2027 Hospitality TAS and the authorised Cycle 1 Welcome to the Kitchen sequence. Assessment conditions and local pre-start procedures remain Teacher to confirm.
Local generated visual: assets/visuals/task-1-01-kitchen-readiness.svg;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Understand how workplace duties, learner responsibilities, training, consultation and reporting combine to protect people in a hospitality environment.
Teach from this module:
1. Safety is a shared workplace system: A safe kitchen is not created by one careful worker. The organisation and people who manage or control work must provide safe systems, suitable equipment, information, training, supervision and ways to report problems. Workers and learners must take reasonable care, follow the instructions and training they have been given, use equipment correctly and avoid creating new risks for other people.
2. Follow instructions, but question unsafe uncertainty: Work instructions may come through demonstrations, signs, labels, recipes, rosters, equipment information and direct supervision. Listen, ask questions and confirm unfamiliar steps before starting. Following an instruction includes using the stated equipment, sequence and protective controls rather than only reaching the final product.
3. Training and authorisation define what you may do: Hospitality workplaces contain tools, heat, electricity, chemicals and manual tasks that require correct instruction. A demonstration or online video can build understanding, but practical use still depends on the authorised local equipment, training and supervision. Never assume that watching a procedure gives permission to perform it independently.
Supplied worked example — Training and authorisation define what you may do: Observed evidence: A learner is asked to prepare equipment for a fictional kitchen task and notices that the appliance model differs from the one demonstrated in class. The controls and attachment do not match their training. Decision and reason: They decide not to experiment because familiarity with a similar appliance is not authorisation. Safe action: They leave it unpowered, keep the setup incomplete and explain the exact difference to the teacher. Result: The teacher selects an authorised alternative and adjusts the work sequence without exposing another learner. Next check or record: Before starting, the learner confirms the alternative's condition, demonstrated method and supervision requirement, then records the equipment change factually.
Check: Which action best demonstrates a learner taking reasonable care?
Listen for: Following the demonstrated method, keeping the area controlled and reporting a fault before use. — Correct. The learner follows training, protects the work area and communicates a changed condition.
If students choose “Using unfamiliar equipment alone so the group is not delayed.”: Avoiding delay does not justify working outside training or supervision.
Help cue: A learner does not control every decision, but must follow training and raise problems.
Guided response: A learner is asked to use equipment they have not been shown while the kitchen is under time pressure. Explain the responsibilities of the learner and responsible person, the communication required and the safe next action. Help: Return to the matching teaching explanation and compare the workplace consequence.
Apply: Assign responsibility in a kitchen scenario. For each teacher-approved scenario, identify what the learner can do immediately, what must be referred to the responsible person and what factual information should be communicated.
Source boundary: Keep local procedures, equipment values and assessment conditions with the current authorised source.
[Sources]
Source basis: signed TAS, authorised Protecting Yourself and Others material, Cycle 1 WHS learning and current SafeWork NSW principles. Local emergency contacts, consultation channels and incident forms remain Teacher to confirm.
Local generated visual: assets/visuals/task-1-02-whs-responsibilities.svg;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Recognise common hospitality hazards, reason from hazard to effective control and choose an immediate response that stays within training and workplace authority.
Teach from this module:
1. Hazard and risk are related but different: A hazard is something with the potential to cause harm. Risk considers what harm could occur, who might be exposed and how likely the event is under the current conditions. The same hazard can create different levels of risk when the task, people or environment changes.
2. Scan by hazard category: A structured scan helps you notice more than the most obvious problem. Physical hazards include slips, cuts, burns, noise, unstable objects and manual tasks. Chemical hazards include cleaning products, vapours, leaks, unlabelled containers and incorrect mixing. Biological hazards can arise from food, waste, pests or people. Psychological hazards can include aggression, bullying, excessive pressure or fatigue-related demands.
3. Choose the strongest reasonably practicable control: The preferred approach is to remove the hazard when reasonably practicable. If it cannot be removed, reduce exposure using stronger controls before relying only on personal behaviour or protective equipment. In student kitchens, your role is often to recognise the problem, prevent access and report it so the authorised person can decide and implement the control.
Supplied worked example — Act immediately, but stay within your authority: Observed evidence: In a fictional storeroom setup, a delivery crate narrows the doorway and a small unknown liquid patch is visible beside it. Decision and reason: The learner identifies both an obstructed movement route and an uncertain spill; moving the crate alone would not control the whole situation. Safe action: They stop others entering, do not touch the liquid and report the location, appearance and blocked path to the responsible teacher. Result: The area stays isolated while an authorised person identifies the substance and directs the response. Next check or record: After clearance, the learner checks the full doorway and nearby floor, then records the hazards, immediate protection and person notified without guessing the cause.
Check: Which statement best distinguishes a hazard from risk?
Listen for: A hazard can cause harm; risk considers the possible harm and likelihood under the current conditions. — Correct. Risk changes with exposure, task conditions and the people involved even when the hazard remains the same.
If students choose “A hazard is serious, while a risk is always minor.”: Hazard and risk do not describe two fixed levels of seriousness. Risk analysis considers consequence and likelihood.
Help cue: Hazard asks what could cause harm; risk asks what could happen here and how likely it is.
Guided response: A busy preparation area has a wet floor beside a walkway and an electrical appliance nearby. Explain the hazards, who could be affected, the immediate learner actions and the information that should be reported. Help: Return to the matching teaching explanation and compare the workplace consequence.
Apply: Match hazards to effective controls. Sort teacher-approved kitchen scenarios by hazard category, select the strongest available control and explain when a learner must stop and report rather than act alone.
Source boundary: Keep local procedures, equipment values and assessment conditions with the current authorised source.
[Sources]
Source basis: authorised Cycle 1 WHS and hazard content, Protecting Yourself and Others, authorised hazard resources and current SafeWork NSW guidance. Local emergency and reporting procedures remain Teacher to confirm.
Local generated visual: assets/visuals/task-1-03-hazards-controls.svg;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Prepare for kitchen work through hygienic personal presentation and choose, inspect and use personal protective equipment that matches the identified task hazard.
Teach from this module:
1. Presentation is a safety and hygiene control: Professional kitchen presentation helps control contamination, movement and exposure. The required clean uniform, controlled hair, enclosed non-slip footwear and managed jewellery and nails reduce the chance that clothing, hair or personal items enter food or become caught, dropped or contaminated during work.
2. Clothing and footwear must suit the work: Kitchen clothing should be clean, in suitable condition and worn as directed. Loose or damaged items may catch on handles, equipment or hot surfaces. An apron or outer layer that becomes heavily soiled can transfer contamination and must be changed through the authorised process.
3. Control hair, nails, jewellery and personal items: Hair must be controlled so it does not fall into food, contact equipment or require repeated touching. Nails and jewellery are managed according to the procedure because they can trap contamination, damage gloves or become physical hazards. Personal items such as phones should remain outside the active food zone unless an authorised task requires them and a hygiene control is in place.
Supplied worked example — Inspect, fit and use PPE correctly: Observed evidence: Before a fictional cleaning task, the authorised product information and teacher direction require splash protection, but the available eye protection has a cracked lens and will not sit securely. Decision and reason: The learner decides the PPE cannot provide the intended control and that beginning carefully would not compensate for damage. Safe action: They keep the item from use, leave the product closed and report the defect rather than modifying the PPE. Result: An approved replacement is provided and fitted using the demonstrated method before the task begins. Next check or record: The learner rechecks clothing, footwear, hair and task-specific PPE, then records the defective item and replacement without inventing a local sign-off process.
Check: Why is controlled hair part of kitchen readiness?
Listen for: It prevents hair entering food or equipment and reduces the need to touch it during preparation. — Correct. The control protects food and reduces a repeated hand-contamination route.
If students choose “It guarantees that no handwashing will be needed.”: Controlled hair reduces one trigger, but handwashing remains required whenever contamination may occur.
Help cue: Ask what hair could contact and what hands do when hair is loose.
Guided response: Choose one teacher-nominated kitchen task. Explain the personal-presentation controls and PPE required for safe participation, the hazard each control addresses and what you would do if one control failed during work. Help: Return to the matching teaching explanation and compare the workplace consequence.
Apply: Build a ready-for-work decision. Inspect illustrated, non-identifying worker profiles and task cards. Match presentation controls and PPE to the hazard, reject unsuitable combinations and explain the action required before work can begin.
Source boundary: Keep local procedures, equipment values and assessment conditions with the current authorised source.
[Sources]
Source basis: authorised Cycle 1 uniform, presentation, PPE and chemical-safety learning. The exact school uniform, permitted jewellery, footwear specifications and task PPE remain Teacher to confirm.
Local generated visual: assets/visuals/task-1-04-presentation-ppe.svg;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Trace contamination through hands, gloves and high-touch surfaces, recognise handwashing triggers and restore a clean ready-to-eat workflow after contact changes.
Teach from this module:
1. Hands are a moving contact surface: Hands connect ingredients, utensils, handles, taps, cloths, waste, phones, the face and finished food. Each touch can carry contamination from a source to a new surface. A worker must think about the contact history of their hands, not only whether they look clean.
2. Recognise the trigger before the next touch: Handwashing is required before food handling and whenever hands may have become contaminated. Common triggers include the toilet, raw food, waste, cleaning, money, a phone, coughing or sneezing, and touching the face, hair, clothing or an unclean surface. A change from raw to ready-to-eat work is a critical reset point.
3. Handwashing breaks a transfer route: Hands can move contamination from the body, raw food, waste, money, cleaning tasks, phones, door handles or one food-contact surface to another. Wash at the designated hand basin using the authorised handwashing method, clean all hand surfaces, rinse and dry using the approved method.
Supplied worked example — Reset the whole route after an accidental touch: Observed evidence: In a fictional food-preparation situation, a learner washes and dries their hands, then silences a personal phone and touches the handle of a clean utensil before reaching towards ready-to-eat food. Decision and reason: They recognise that the phone created a new transfer route; clean hands alone no longer protect the utensil or food. Safe action: The learner stops before touching the food, stores the phone away, tells the teacher what was contacted, repeats the authorised handwashing process and resets the utensil as directed. Result: The contamination pathway is broken before production resumes. Next check or record: They trace each contact from phone to hand to handle, check the protected zone and record why the reset was required.
Check: After handling raw food, a worker must prepare a ready-to-eat item. What comes first?
Listen for: Stop, remove contamination, wash and dry hands correctly, then use clean equipment in the separated ready-to-eat zone. — Correct. This breaks the transfer route at hands, equipment and workspace before ready-to-eat food is exposed.
If students choose “Put a clean glove over the contaminated glove.”: Layering gloves traps rather than removes contamination and does not restore clean hands or equipment.
Help cue: Ask what could carry contamination into food that will not receive another control step.
Guided response: Explain why handwashing must happen again when a food handler changes from raw food to ready-to-eat food. Trace the contamination source, transfer route, food at risk and the controls that break the route. Help: Return to the matching teaching explanation and compare the workplace consequence.
Apply: Break the hand-contamination route. Order an authorised handwashing sequence, then trace raw food, phone, face, waste and dirty-equipment contacts. At each trigger, select the hand, glove, equipment and zone reset required before ready-to-eat work resumes.
Source boundary: Keep local procedures, equipment values and assessment conditions with the current authorised source.
[Sources]
Source basis: authorised Cycle 1 handwashing and contamination-route content, supported by current NSW Food Authority food-handler guidance. Exact basin, product, drying and local handwashing procedure remain Teacher to confirm.
Local generated visual: assets/visuals/task-1-05-handwashing-contamination.svg;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Recognise when illness, symptoms, wounds or personal behaviour may affect safe food handling and report concerns early without recording private medical details.
Teach from this module:
1. Health can change the safety of a food-handling task: A person can become a source of food contamination through illness, symptoms, infected skin conditions, uncovered wounds or poor respiratory and hand-hygiene behaviour. The correct response begins before food handling, because a later clean-up may not undo exposure that has already occurred.
2. Report relevant symptoms promptly: Use the current food-handler and workplace guidance to identify symptoms or conditions that must be reported. Tell the responsible person before beginning relevant work, and report changes that appear during the task. Give enough factual information for a safe duty decision without broadcasting personal details to the class.
3. Manage cuts and dressings as controlled items: A cut or wound may expose food to biological contamination and the worker to further injury. Report it, obtain the required first aid and use the workplace-approved waterproof, visible dressing with any additional glove control directed for the task.
Supplied worked example — Protect food when a health control fails: Observed evidence: During a fictional preparation lesson, a learner develops a relevant illness symptom before beginning direct food handling. No food has yet been touched. Decision and reason: The learner does not decide privately that the symptom is minor because fitness for the task must be handled through the authorised health-reporting process. Safe action: They step away from the food zone, protect the untouched ingredients and speak privately to the responsible teacher. Result: The teacher determines suitable duties and any required controls; classmates receive no unnecessary health details. Next check or record: The learner confirms the new task boundary and records only the operational change and person notified, not a diagnosis or private medical information.
Check: A learner has symptoms that may affect safe food handling before class. What is the strongest response?
Listen for: Report the relevant concern before handling food and follow the responsible person's direction. — Correct. The duty decision is made before food or equipment is exposed.
If students choose “Say nothing, wear gloves and complete the practical quickly.”: Gloves do not control every illness-related hazard and do not replace required reporting.
Help cue: Report first; the responsible person decides the safe duty.
Guided response: A food handler develops a relevant symptom during preparation. Explain the immediate actions needed to protect food and people, the factual information to report and the boundary on private health information. Help: Return to the matching teaching explanation and compare the workplace consequence.
Apply: Trace a food-handler health decision. Work through de-identified illness, wound and respiratory-hygiene scenarios. Decide when work must stop, what must be protected, what should be reported and which information does not belong in the learning record.
Source boundary: Keep local procedures, equipment values and assessment conditions with the current authorised source.
[Sources]
Source basis: authorised Cycle 1 personal-health, illness, wound and hygiene content, supported by current NSW Food Authority food-handler guidance. Specific reportable conditions, duty changes and return-to-work directions remain controlled by current guidance and Teacher to confirm.
Local generated visual: assets/visuals/task-1-06-food-handler-health.svg;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Distinguish cleaning from sanitising, follow the authorised sequence and use chemical information without guessing dilution, contact time or compatibility.
Teach from this module:
1. Cleaning and sanitising solve different problems: Cleaning removes food residue, grease and visible soil from a surface or item. Sanitising follows effective cleaning and reduces microorganisms to a safer level using the authorised method. A surface can look clean without being sanitised, while sanitiser cannot work effectively through heavy residue.
2. Start with the item and contamination risk: Before choosing a method, identify what is being cleaned, what soiled it and whether it touches food. A knife, chopping board, floor, rubbish area and electrical appliance cannot automatically receive the same method. Consider material, dismantling, safe access, water and electrical risk, and the need to protect nearby food.
3. The label and SDS are working documents: Use only the approved chemical in its labelled container. The product label explains intended use and operating directions; the Safety Data Sheet provides hazard, handling, storage, exposure and emergency information. Check both whenever the task, product or risk is unfamiliar.
Supplied worked example — Work from dirty to controlled without recontamination: Observed evidence: A fictional preparation board still has visible food residue, while an unlabelled spray bottle has been left beside the sink. Decision and reason: The learner decides that spraying over residue will not complete cleaning and that an unknown chemical cannot be used safely. Safe action: They remove the board from food use, protect nearby ingredients and report the bottle. Following teacher direction, they use only the approved labelled product and authorised clean-then-sanitise sequence. Result: Dirty and controlled items remain separated and the board returns only after the required verification. Next check or record: The learner checks the transfer path, names the controlling label or procedure and records completion without inventing dilution, contact time or rinse directions.
Check: A bench looks clean after wiping. Why might it still be unsafe for food preparation?
Listen for: Visible soil may be gone, but the approved sanitising step may not have occurred. — Correct. Cleaning and sanitising have different functions, and both may be required for the food-contact surface.
If students choose “A bench can only become safe after it has been left overnight.”: Waiting is not a substitute for the authorised cleaning and sanitising method.
Help cue: Ask what wiping removed and what control has not yet been demonstrated.
Guided response: Explain how you would check an authorised cleaning procedure for one teacher-nominated item. Identify the item, likely soil, food-contact status, information sources, PPE, sequence, recontamination controls and how completion would be verified. Help: Return to the matching teaching explanation and compare the workplace consequence.
Apply: Sort clean, sanitise and chemical-safety decisions. Classify teacher-approved actions as cleaning, sanitising, both, or unsafe. Then rebuild one mixed-up sequence and identify the point at which the label or SDS must be checked.
Source boundary: Keep local procedures, equipment values and assessment conditions with the current authorised source.
[Sources]
Source basis: authorised Cycle 1 cleaning, chemicals and SDS content, supported by the signed TAS and current regulator principles. Exact products, dilution, contact time, rinse directions and local cleaning schedules remain Teacher to confirm.
Local generated visual: assets/visuals/task-1-07-cleaning-sanitising.svg;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Select, inspect, set up, operate, clean and store kitchen tools and equipment within the authorised demonstration, manufacturer information and learner's training.
Teach from this module:
1. Choose equipment for the method and quantity: Start with the authorised recipe or task. Identify the action required, the amount of food, the precision needed and any heat, cutting, electrical or manual-handling hazard. Select equipment that is designed for the job and suitable for the quantity rather than choosing the largest or fastest item available.
2. Inspect before setup: Check that the item is clean, complete and in suitable condition. Look for cracks, loose handles, damaged blades, missing guards, unstable feet, frayed leads, damaged plugs, leaks or controls that do not operate as demonstrated. For electrical equipment, keep the item disconnected while assembling it if the authorised method requires this.
3. Set up a controlled operating zone: Place equipment on the required stable, clear surface with safe access to controls and enough space for ingredients, hands and finished product. Keep leads, handles and hot or moving parts away from walkways and water. Fit bowls, blades, guards or attachments using the authorised sequence.
Supplied worked example — Inspect before setup: Observed evidence: During a fictional pre-use check, a learner finds that an appliance guard does not seat as it did in the authorised demonstration. The machine has not been powered. Decision and reason: They decide the incomplete guard makes the equipment unsuitable and that pushing, taping or testing it would become an unauthorised repair or operation. Safe action: The learner leaves the appliance unpowered, prevents it being included in the station and reports the exact fit problem to the teacher. Result: An authorised alternative is selected and the production plan is adjusted. Next check or record: The learner inspects the replacement, confirms its demonstrated setup and records the original observable defect for the next user.
Check: What should control the selection of kitchen equipment?
Listen for: The authorised method, food quantity, required result and worker's training. — Correct. Selection begins with the production need and safe authorised use.
If students choose “Whichever appliance appears fastest, regardless of capacity or training.”: Speed does not establish suitability, safe capacity or permission to operate the item.
Help cue: Task first, equipment second.
Guided response: Create a pre-use and post-use plan for one teacher-nominated item of kitchen equipment. Include selection, inspection, setup, authorised operation, shutdown, cleaning, storage and fault reporting. Help: Return to the matching teaching explanation and compare the workplace consequence.
Apply: Complete an equipment readiness trail. Use a teacher-approved equipment card. Order the selection, inspection, setup, operation, shutdown, cleaning and storage stages, then respond to one fault without attempting a repair.
Source boundary: Keep local procedures, equipment values and assessment conditions with the current authorised source.
[Sources]
Source basis: authorised Cycle 1 kitchen tools, equipment and safety learning. The exact equipment, guards, assembly, operating settings, cleaning and maintenance procedures remain controlled by current manufacturer information and Teacher to confirm.
Local generated visual: assets/visuals/task-1-08-tools-equipment.svg;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Select and handle kitchen knives through a stable work zone, authorised cutting demonstration, controlled transport, washing and storage without teaching unsupervised sharpening.
Teach from this module:
1. Match the knife to the authorised cutting task: Different knife designs support different food-preparation actions. Use the knife named or demonstrated for the teacher-authorised task and confirm unfamiliar tools before handling them. Consider the food's size, structure and stability rather than choosing a knife because it looks large or familiar.
2. Inspect condition without attempting maintenance: Before use, check that the handle is secure, the blade is undamaged and clean, and the knife is in the condition required for controlled cutting. A damaged, loose or unsuitable knife must be kept from use and reported.
3. Build a stable cutting zone: Use the designated board for the food and prevent it moving through the approved setup. Place the board on a stable, clear bench with enough space for the uncut food, cutting action and finished pieces. Keep the knife away from the bench edge and keep waste from crowding the blade path.
Supplied worked example — Inspect condition without attempting maintenance: Observed evidence: Before a fictional produce task, the learner feels movement between a knife handle and blade during the condition check. No cutting has begun. Decision and reason: They decide the knife is unsuitable because a loose handle can reduce control; using less force or choosing soft food would not remove the defect. Safe action: The learner keeps the knife visible and out of use, reports it and follows the teacher's direction for secure handling of the defective item. They select only a demonstrated replacement. Result: The task proceeds without improvising repair or sharpening. Next check or record: The learner checks the replacement handle, blade, board and work zone, then records the loose-handle observation.
Check: A learner finds a knife with a loose handle. What should happen?
Listen for: Keep it from use and report the condition so an authorised replacement or action can occur. — Correct. The damaged tool is controlled before the cutting task begins.
If students choose “Use it for soft food only.”: A loose handle can affect control regardless of the food and does not pass the pre-use check.
Help cue: Condition first; cutting only after a safe tool is confirmed.
Guided response: Plan the safe use of a knife for one teacher-nominated produce task. Explain selection, condition check, board and work-zone setup, demonstrated technique boundary, transfer, washing and storage. Help: Return to the matching teaching explanation and compare the workplace consequence.
Apply: Audit a knife-safety pathway. Inspect an illustrated, non-operating knife station. Identify safe and unsafe choices from selection through storage, then place the correction cards at the point each risk occurs.
Source boundary: Keep local procedures, equipment values and assessment conditions with the current authorised source.
[Sources]
Source basis: authorised Cycle 1 knives, equipment and food-preparation learning. Cutting techniques, knife selection, maintenance equipment and supervision remain Teacher to confirm. No sharpening angle or unsupervised sharpening sequence is authorised here.
Local generated visual: assets/visuals/task-1-09-knife-safety.svg;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Read a standard recipe as a production specification, interpret units and yield, calculate authorised quantity changes and test whether the result remains workable and safe.
Teach from this module:
1. Read every part of the standard recipe: A standard recipe is more than a list of ingredients. It identifies the product, expected yield, quantities and units, equipment, method, portion and presentation. It may also contain preparation terms, service, storage, allergen or quality information that affects the whole plan.
2. Units protect accuracy: An amount is incomplete without its unit. Mass, volume, count and package measures are not automatically interchangeable, and abbreviations must be read carefully. Select the measuring equipment suited to the ingredient and level of accuracy required by the recipe.
3. Yield states the planned output: Recipe yield may describe portions, items, volume or another finished amount. Compare the recipe yield with the quantity required for the teacher-authorised task. If they match, no scaling is needed; if they differ, calculate a scaling factor using the approved method.
Supplied worked example — Scaling is not only multiplying ingredients: Observed evidence: A fictional service request requires a different output from the yield stated on the current standard recipe, and the available mixing bowl appears too small for one enlarged batch. Decision and reason: The learner decides that multiplying ingredients alone would ignore equipment capacity and process sequence. Safe action: They calculate a proposed scale factor on the planning sheet, keep every unit and ingredient relationship aligned, then ask the teacher to confirm batch division, equipment and any method change. Result: An authorised production plan is agreed before ingredients are issued. Next check or record: The learner recalculates total planned output, checks that each batch follows the current recipe and records only the confirmed adjustments.
Check: Which information must be checked before scaling a recipe?
Listen for: Original yield, required yield, ingredient quantities and units, plus any process or capacity limits. — Correct. These details support both the calculation and the practical feasibility check.
If students choose “Only the name of the product.”: The product name does not show original output, required output or ingredient quantities.
Help cue: Required output compared with original output determines the relationship.
Guided response: Using a teacher-authorised standard recipe, explain how you would check the recipe, calculate any required yield change, keep units accurate and review equipment, batch, timing and waste consequences before production. Help: Return to the matching teaching explanation and compare the workplace consequence.
Apply: Scale and sense-check a recipe. Use a teacher-provided recipe and required yield. Calculate the authorised scaling relationship, label units, check each ingredient and flag any equipment, timing or batch question for confirmation.
Source boundary: Keep local procedures, equipment values and assessment conditions with the current authorised source.
[Sources]
Source basis: authorised Cycle 1 recipe elements, quantities and yield learning. The current recipe, rounding rules, equipment capacity, batch method and acceptable product yield remain Teacher to confirm.
Local generated visual: assets/visuals/task-1-10-recipe-yield.svg;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Read a standard recipe as a production document, select safe equipment and translate ingredients, yield, method and timing into an organised work plan.
Teach from this module:
1. A standard recipe protects consistency: A standard recipe communicates the product name, ingredients, quantities, yield, equipment, method and presentation expectations used for consistent production. It may also include service, storage, allergen or quality information. Read all sections before setting up rather than treating the ingredient list as the whole task.
2. Yield connects quantity to service: Yield states how much finished product the recipe is designed to produce. Before changing quantities, compare the required yield with the recipe yield and use the authorised scaling method. Preserve ingredient relationships and check whether equipment capacity, preparation method, timing or presentation also needs adjustment.
3. Read the method as a workflow: Underline action verbs and identify dependencies: what must be washed, measured, cut, heated, cooled, rested, assembled or held before another step can begin. Mark tasks that can occur at the same time and steps that must stay in sequence for safety or quality.
Supplied worked example — Mise en place means planned readiness: Observed evidence: A learner setting up a fictional practical has placed every ingredient on the bench, but the method shows that a protected ingredient is not needed until a later stage and the crowded layout blocks the waste route. Decision and reason: They decide this is display, not useful mise en place, because early exposure and poor movement create avoidable risk. Safe action: The learner returns the later ingredient to authorised storage, stages equipment in method order and repositions the waste point after checking with the teacher. Result: The station has clear working space and ingredients appear only when required. Next check or record: The learner rehearses the sequence aloud, checks separation and records the layout change.
Check: Why should the full standard recipe be read before ingredients are collected?
Listen for: It reveals the yield, sequence, equipment, timing and safety needs that must shape the setup. — Correct. The recipe functions as a complete production document, not just an ingredient list.
If students choose “It allows familiar-looking method steps to be skipped.”: Skipping based on appearance can miss safety, yield, timing and presentation requirements.
Help cue: Look beyond ingredients to yield, method, equipment and presentation.
Guided response: Using a teacher-nominated standard recipe, explain how you would turn the recipe into a mise-en-place plan. Include yield, method dependencies, equipment checks, station zones, food-safety controls and the final pre-start confirmation. Help: Return to the matching teaching explanation and compare the workplace consequence.
Apply: Translate a recipe into a work plan. Use a teacher-authorised standard recipe. Identify its yield, ingredients, equipment, dependencies and safety points, then arrange the steps into a practical mise-en-place and production sequence.
Source boundary: Keep local procedures, equipment values and assessment conditions with the current authorised source.
[Sources]
Source basis: authorised Cycle 1 recipe, yield, equipment, knife and mise-en-place learning. The linked mise-en-place and knife-maintenance videos are conceptual support only; local recipes, equipment and demonstrations remain Teacher to confirm.
Local generated visual: assets/visuals/task-1-11-mise-en-place.svg;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Select, wash, trim, cut, portion and protect fresh produce through a controlled workflow that supports food safety, quality, consistency and waste prevention.
Teach from this module:
1. Confirm the produce and required preparation: Begin with the authorised recipe or task. Identify the exact produce, required quantity, preparation term, cut, portion and final use. The same ingredient may need a different preparation for a garnish, filling, salad or cooked component, so do not assume the method from appearance alone.
2. Inspect quality without claiming safety by appearance: Check produce against the authorised quality and acceptance criteria. Look for identity, freshness, damage, contamination, pests, packaging condition and the amount of usable material. Separate and report items that do not meet the requirement.
3. Prepare hands, sink, equipment and work zone: Wash and dry hands, select the correct clean board, knife and containers, and prepare the designated produce-washing area. Keep dirty outer material, packaging and soil from crossing into the clean preparation and finished-product zones.
Supplied worked example — Inspect quality without claiming safety by appearance: Observed evidence: In a fictional produce delivery, one item has visible damage and soil while the surrounding items match the ordered identity. The learner has no verified storage history for the damaged item. Decision and reason: They decide that appearance supports a quality concern but cannot prove whether the item is safe or suitable. Safe action: The learner separates it from accepted produce, avoids tasting or trimming away the uncertainty and reports the observations to the teacher for the authorised acceptance decision. Result: Questionable produce is not mixed into preparation. Next check or record: The learner confirms the accepted items, prepares them only through the demonstrated method and records identity, visible condition, decision and any resulting waste factually.
Check: What should determine how fresh produce is cut?
Listen for: The authorised recipe, final use and demonstrated preparation term. — Correct. The cut supports the product's method, texture, presentation and portion.
If students choose “Whichever shape the worker can make fastest.”: Speed does not replace the specified cut or consistent product standard.
Help cue: The same vegetable can require different cuts for different products.
Guided response: Plan the preparation of one teacher-nominated fresh-produce ingredient. Explain selection, washing, trimming, demonstrated cut, contamination controls, usable yield, protection until use and clean-down. Help: Return to the matching teaching explanation and compare the workplace consequence.
Apply: Build a produce-preparation pathway. Order illustrated cards from recipe confirmation through protected storage. Identify the contamination break points, choose the demonstrated cut for the teacher-nominated use and estimate where avoidable waste could occur.
Source boundary: Keep local procedures, equipment values and assessment conditions with the current authorised source.
[Sources]
Source basis: authorised Cycle 1 selecting, washing and cutting fresh produce content, supported by the recipe, knife, hygiene and waste sequence. Exact produce, cuts, wash method, storage and product specifications remain Teacher to confirm.
Local generated visual: assets/visuals/task-1-12-produce-preparation.svg;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Compare bread characteristics and design a sandwich specification that balances structure, eating quality, customer information, portion, presentation and safe production.
Teach from this module:
1. Bread choice changes the whole product: Breads vary in thickness, crumb, crust, moisture, flavour, shape and strength. A suitable choice should support the authorised fillings, portion and service style without collapsing, overwhelming the ingredients or becoming difficult to handle.
2. Design begins with purpose and customer information: Identify where and how the sandwich will be served: immediate plate service, a display, a packed item or another authorised context. Consider the required portion, ease of handling, expected presentation and any confirmed customer or dietary information.
3. Balance filling, flavour and texture: Choose authorised ingredients that create a coherent product. Consider savoury, sweet, acidic, fresh, rich or mild elements, together with soft, crisp, firm and creamy textures. The goal is balance and consistency, not the largest possible amount of filling.
Supplied worked example — Manage moisture and structure: Observed evidence: A fictional sandwich trial follows the teacher-approved ingredient list, but the bread softens and the filling slides when the sample is lifted for its planned service check. Decision and reason: The learner identifies a structure and moisture problem rather than blaming the bread alone. Safe action: They protect the food, compare the current product specification and ask the teacher whether a different authorised layer order, preparation step or bread choice may be tested. Result: The approved second trial holds together more reliably without an invented recipe change. Next check or record: The learner compares handling, visible moisture and presentation, then records the exact authorised change and observed result for the product specification.
Check: Which bread decision is most defensible?
Listen for: Choose the bread that matches the filling weight, moisture, service style and authorised product standard. — Correct. The bread is selected as part of the product's structure and service context.
If students choose “Choose the largest bread so more filling can always be added.”: Size alone does not establish portion, balance, handling or the authorised standard.
Help cue: Ask whether the bread will hold and complement the authorised filling until service.
Guided response: Draft a supplementary design specification for a teacher-nominated sandwich brief. Explain the bread choice, filling balance, moisture and structure controls, portion, presentation, verified customer information and what requires teacher authorisation. Help: Return to the matching teaching explanation and compare the workplace consequence.
Apply: Match bread, filling and service context. Use teacher-approved bread, filling and service cards. Build a product combination, test it against structure, moisture, customer information, portion and production constraints, then flag all confirmation points.
Source boundary: Keep local procedures, equipment values and assessment conditions with the current authorised source.
[Sources]
Source basis: authorised Cycle 1 bread types, sandwich ingredients, preparation, storage and presentation content. Exact products, dietary claims, allergen controls, portions and presentation standards remain Teacher to confirm.
Local generated visual: assets/visuals/task-1-13-breads-sandwich-design.svg;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Combine bread and ingredient selection, mise en place, safe knife work, contamination and allergen control, consistent assembly, presentation, storage and waste management in one coherent production task.
Teach from this module:
1. Start from the authorised product standard: A sandwich task begins with the teacher-authorised standard recipe or product specification. Confirm the sandwich type, required yield, portion, bread, fillings, spread, cut, presentation and service or storage direction. Do not substitute ingredients or alter a recipe unless authorised.
2. Match the bread to the product: Breads differ in structure, moisture, flavour, thickness and ability to support fillings. The authorised choice should hold the portion, suit the service style and contribute to the expected eating quality. Inspect it for identity, condition and suitability before assembly.
3. Prepare fillings in a safe sequence: Plan washing, trimming, cutting, portioning and any other preparation so incompatible tasks stay separated. Use the correct clean equipment and reset hands, gloves, boards, knives and the work zone when moving between raw and ready-to-eat ingredients.
Supplied worked example — Protect quality until service: Observed evidence: During a fictional sandwich service, the order record includes a confirmed modification, but an assembled product reaches the pass without a reliable identifier. Decision and reason: The learner decides presentation alone cannot prove which sandwich matches the request, so guessing could create an accuracy or safety failure. Safe action: They isolate the unidentified product, protect the remaining ingredients and check the authorised order and ingredient information with the teacher. A replacement is made only under the confirmed direction and kept identifiable through handover. Result: The uncertain product is not served. Next check or record: The learner completes the final identity, structure and presentation check, then records the correction and communication without claiming an assessment result.
Check: Why should ready-to-eat sandwich ingredients have a separated, controlled work zone?
Listen for: They may receive no further safety step, so contamination transferred during assembly can reach the customer. — Correct. Separation protects food at the final high-contact stage of production.
If students choose “Separation makes all bread stay fresh indefinitely.”: Separation controls contamination; authorised handling and storage still control quality over time.
Help cue: The final assembly zone must remain protected from raw food, dirty equipment and waste.
Guided response: Write a safe eight-step workflow for a teacher-nominated sandwich recipe. Begin with recipe and yield confirmation and finish with protected service or storage, waste control and clean-down. Help: Return to the matching teaching explanation and compare the workplace consequence.
Apply: Sequence a sandwich production station. Arrange recipe, readiness, ingredient preparation, assembly, quality, service or storage, waste and clean-down cards into a safe workflow. Resolve contamination, allergen and timing interruptions at the point they occur.
Source boundary: Keep local procedures, equipment values and assessment conditions with the current authorised source.
[Sources]
Source basis: authorised Cycle 1 bread, sandwich, fresh-produce, recipe, mise-en-place and waste learning. Exact sandwich products, recipe quantities, presentation standards and practical observation requirements remain Teacher to confirm.
Local generated visual: assets/visuals/task-1-14-sandwich-production.svg;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Receive, label, separate, rotate and monitor food in the authorised storage environment, using current temperature controls and honest corrective action without inventing numerical limits.
Teach from this module:
1. Move accepted food into control promptly: Storage control begins at receiving. Compare the item with the authorised order and acceptance criteria, complete any required condition or measurement check using the approved method, and keep failed or uncertain products outside usable stock.
2. Protect identity and traceability: Keep food in the approved container or transfer it only through the authorised process. Labels and date information must identify the real product and history required by the workplace. Never create a new date or description to make an unknown item appear usable.
3. Separate food and non-food hazards: Arrange stock in the designated storage zones so raw products cannot contaminate ready-to-eat food. Protect open and prepared food, separate allergens as directed, and keep chemicals, personal items and cleaning equipment out of food storage areas.
Supplied worked example — Isolate, correct, report and record: Observed evidence: During a fictional storage check, a learner finds a prepared container beside correctly identified stock, but this container has no reliable label and the current monitoring record cannot be matched to it. Decision and reason: They decide that neither identity nor control history can be verified, so inventing a date, temperature or intended use would create false evidence. Safe action: The learner isolates the container from use, maintains separation and reports its location and condition to the responsible teacher. Result: It remains unavailable while the authorised person determines the disposition. Next check or record: The learner checks nearby labels and records, corrects nothing unless directed, and documents the observed facts, isolation and notification through the authorised system.
Check: A delivered food item does not meet the workplace acceptance criteria. What is the strongest response?
Listen for: Keep it from use, follow the authorised reject or isolate procedure, notify the responsible person and record the result. — Correct. The failed delivery stays outside usable stock while the authorised decision is made and documented.
If students choose “Accept it and use it before the other stock.”: Using it quickly does not restore a failed receiving control or establish that it is safe.
Help cue: Think: protect stock, isolate the item, notify, record.
Guided response: Use a teacher-provided receiving or storage scenario. Identify one food-safety hazard, the approved control that should be monitored, the evidence that the control failed and the corrective action and record that should follow. Help: Return to the matching teaching explanation and compare the workplace consequence.
Apply: Follow the food-safety decision trail. Work through receiving, storage and preparation scenarios. At each stage select the hazard, monitoring check and authorised response, then build one complete hazard-control-corrective action chain.
Source boundary: Keep local procedures, equipment values and assessment conditions with the current authorised source.
[Sources]
Source basis: authorised HACCP student activity and Cycle 1 food-safety learning, supported by current NSW Food Authority guidance. Numerical limits, acceptance specifications and local corrective-action records remain Teacher to confirm.
Local generated visual: assets/visuals/task-1-15-storage-temperature.svg;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Prevent and separate kitchen waste, record its real cause and use an honest reflection to improve the next authorised practical without claiming an assessor decision.
Teach from this module:
1. Prevent waste before production begins: The strongest waste control is prevention. Confirm the authorised recipe, required yield, available stock, ingredient condition, equipment capacity and preparation sequence before opening, measuring or cutting. Accurate ordering, scaling and portioning reduce surplus before it becomes a disposal problem.
2. Use the local waste hierarchy and streams: Avoid creating waste first. Where the authorised recipe and food-safety process allow, protect usable food for its intended use. Then follow the local system for recycling, organics, general waste, oils, broken material and any controlled waste. The available streams and rules are Teacher to confirm.
3. Separate waste without creating a new hazard: Position waste containers so they support workflow without blocking walkways or crossing clean and ready-to-eat zones. Use lids, liners, labels and handling equipment as directed. Avoid touching waste containers during food preparation; when contact occurs, complete the required hand, glove and equipment reset.
Supplied worked example — Turn the cause into an observable improvement: Observed evidence: After a fictional practical, usable trim and packaging are mixed in one container, and protected leftover ingredients show that more preparation occurred than the workflow needed. Decision and reason: The learner decides the problem began in planning and station setup, not only at disposal. Safe action: They follow the teacher-confirmed waste streams, separate material only where it is safe to do so and discuss how later preparation could be staged to demand. Result: The close-down is controlled and the next plan targets the source of avoidable waste. Next check or record: The learner records the wasted item, observed cause, authorised action and next-stage improvement without turning the reflection into a competence claim.
Check: Which reflection is most useful after an authorised practical?
Listen for: I moved the waste container after it blocked the clean work path; movement improved, and next time I will place it during setup. — Correct. It identifies a specific action, observed effect and practical next step without claiming competence.
If students choose “Everything went well and I am now competent.”: This is too broad and makes an assessor decision without specific evidence.
Help cue: Reflection is not an assessor judgement.
Guided response: Write a Task 1 waste reflection based on an authorised practical or teacher-approved scenario. Identify what waste occurred, the stage and likely evidenced cause, the control used and one specific prevention action for next time. Help: Return to the matching teaching explanation and compare the workplace consequence.
Apply: Audit waste and choose one prevention control. Use a teacher-approved practical or scenario. Sort each waste item through the local streams, link one avoidable item to ordering, yield, trimming, storage, portioning or contamination, and write a specific prevention action.
Source boundary: Keep local procedures, equipment values and assessment conditions with the current authorised source.
[Sources]
Source basis: authorised Cycle 1 food-waste, disposal, composting and recycling learning, signed TAS and site-wide evidence boundaries. Local waste streams, reuse decisions, records and formal assessment requirements remain Teacher to confirm.
Local generated visual: assets/visuals/task-1-16-waste-reflection.svg; provenance and accuracy boundary are recorded in task1-modules.json.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check: return to one purpose, one visual decision and one retrieval question rather than adding a generic recap.
Before formal assessment or practical work, confirm the current student package, local procedures, recipes, equipment instructions, adjustments and evidence destination.
Use the site module response and applied action as formative learning only unless the authorised package says otherwise.
[Sources]
Task source notes and evidence prompts: task1-modules.json. Local administration and assessment requirements remain controlled by the current teacher or RTO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4A"/>
        </a:solidFill>
      </p:bgPr>
    </p:bg>
    <p:spTree>
      <p:nvGrpSpPr>
        <p:cNvPr id="1" name=""/>
        <p:cNvGrpSpPr/>
        <p:nvPr/>
      </p:nvGrpSpPr>
      <p:grpSpPr>
        <a:xfrm>
          <a:off x="0" y="0"/>
          <a:ext cx="0" cy="0"/>
          <a:chOff x="0" y="0"/>
          <a:chExt cx="0" cy="0"/>
        </a:xfrm>
      </p:grpSpPr>
      <p:sp>
        <p:nvSpPr>
          <p:cNvPr id="2" name="Shape 0"/>
          <p:cNvSpPr/>
          <p:nvPr/>
        </p:nvSpPr>
        <p:spPr>
          <a:xfrm>
            <a:off x="8412480" y="-1097280"/>
            <a:ext cx="4846320" cy="4846320"/>
          </a:xfrm>
          <a:prstGeom prst="ellipse">
            <a:avLst/>
          </a:prstGeom>
          <a:solidFill>
            <a:srgbClr val="C96F52">
              <a:alpha val="85000"/>
            </a:srgbClr>
          </a:solidFill>
          <a:ln w="12700">
            <a:solidFill>
              <a:srgbClr val="C96F52">
                <a:alpha val="0"/>
              </a:srgbClr>
            </a:solidFill>
            <a:prstDash val="solid"/>
          </a:ln>
        </p:spPr>
      </p:sp>
      <p:sp>
        <p:nvSpPr>
          <p:cNvPr id="3" name="Shape 1"/>
          <p:cNvSpPr/>
          <p:nvPr/>
        </p:nvSpPr>
        <p:spPr>
          <a:xfrm>
            <a:off x="9464040" y="73152"/>
            <a:ext cx="2057400" cy="2057400"/>
          </a:xfrm>
          <a:prstGeom prst="ellipse">
            <a:avLst/>
          </a:prstGeom>
          <a:solidFill>
            <a:srgbClr val="FBF3E6"/>
          </a:solidFill>
          <a:ln w="12700">
            <a:solidFill>
              <a:srgbClr val="FBF3E6">
                <a:alpha val="0"/>
              </a:srgbClr>
            </a:solidFill>
            <a:prstDash val="solid"/>
          </a:ln>
        </p:spPr>
      </p:sp>
      <p:sp>
        <p:nvSpPr>
          <p:cNvPr id="4" name="Text 2"/>
          <p:cNvSpPr/>
          <p:nvPr/>
        </p:nvSpPr>
        <p:spPr>
          <a:xfrm>
            <a:off x="9464040" y="283464"/>
            <a:ext cx="2057400" cy="1572768"/>
          </a:xfrm>
          <a:prstGeom prst="rect">
            <a:avLst/>
          </a:prstGeom>
          <a:noFill/>
          <a:ln/>
        </p:spPr>
        <p:txBody>
          <a:bodyPr wrap="square" lIns="0" tIns="0" rIns="0" bIns="0" rtlCol="0" anchor="ctr"/>
          <a:lstStyle/>
          <a:p>
            <a:pPr algn="ctr" indent="0" marL="0">
              <a:buNone/>
            </a:pPr>
            <a:r>
              <a:rPr lang="en-US" sz="8000" b="1" dirty="0">
                <a:solidFill>
                  <a:srgbClr val="0B4F4A"/>
                </a:solidFill>
                <a:latin typeface="Aptos Display" pitchFamily="34" charset="0"/>
                <a:ea typeface="Aptos Display" pitchFamily="34" charset="-122"/>
                <a:cs typeface="Aptos Display" pitchFamily="34" charset="-120"/>
              </a:rPr>
              <a:t>1</a:t>
            </a:r>
            <a:endParaRPr lang="en-US" sz="8000" dirty="0"/>
          </a:p>
        </p:txBody>
      </p:sp>
      <p:sp>
        <p:nvSpPr>
          <p:cNvPr id="5" name="Text 3"/>
          <p:cNvSpPr/>
          <p:nvPr/>
        </p:nvSpPr>
        <p:spPr>
          <a:xfrm>
            <a:off x="676656" y="658368"/>
            <a:ext cx="7040880" cy="256032"/>
          </a:xfrm>
          <a:prstGeom prst="rect">
            <a:avLst/>
          </a:prstGeom>
          <a:noFill/>
          <a:ln/>
        </p:spPr>
        <p:txBody>
          <a:bodyPr wrap="square" lIns="0" tIns="0" rIns="0" bIns="0" rtlCol="0" anchor="ctr"/>
          <a:lstStyle/>
          <a:p>
            <a:pPr indent="0" marL="0">
              <a:buNone/>
            </a:pPr>
            <a:r>
              <a:rPr lang="en-US" sz="1500" b="1" spc="120" kern="0" dirty="0">
                <a:solidFill>
                  <a:srgbClr val="F3DFB0"/>
                </a:solidFill>
                <a:latin typeface="Aptos" pitchFamily="34" charset="0"/>
                <a:ea typeface="Aptos" pitchFamily="34" charset="-122"/>
                <a:cs typeface="Aptos" pitchFamily="34" charset="-120"/>
              </a:rPr>
              <a:t>SIT20322 CERTIFICATE II IN HOSPITALITY</a:t>
            </a:r>
            <a:endParaRPr lang="en-US" sz="1500" dirty="0"/>
          </a:p>
        </p:txBody>
      </p:sp>
      <p:sp>
        <p:nvSpPr>
          <p:cNvPr id="6" name="Text 4"/>
          <p:cNvSpPr/>
          <p:nvPr/>
        </p:nvSpPr>
        <p:spPr>
          <a:xfrm>
            <a:off x="658368" y="1170432"/>
            <a:ext cx="7909560" cy="1353312"/>
          </a:xfrm>
          <a:prstGeom prst="rect">
            <a:avLst/>
          </a:prstGeom>
          <a:noFill/>
          <a:ln/>
        </p:spPr>
        <p:txBody>
          <a:bodyPr wrap="square" lIns="254" tIns="254" rIns="254" bIns="254" rtlCol="0" anchor="ctr">
            <a:normAutofit/>
          </a:bodyPr>
          <a:lstStyle/>
          <a:p>
            <a:pPr indent="0" marL="0">
              <a:buNone/>
            </a:pPr>
            <a:r>
              <a:rPr lang="en-US" sz="5000" b="1" dirty="0">
                <a:solidFill>
                  <a:srgbClr val="FFFFFF"/>
                </a:solidFill>
                <a:latin typeface="Aptos Display" pitchFamily="34" charset="0"/>
                <a:ea typeface="Aptos Display" pitchFamily="34" charset="-122"/>
                <a:cs typeface="Aptos Display" pitchFamily="34" charset="-120"/>
              </a:rPr>
              <a:t>Task 1 · Safety in the Kitchen</a:t>
            </a:r>
            <a:endParaRPr lang="en-US" sz="5000" dirty="0"/>
          </a:p>
        </p:txBody>
      </p:sp>
      <p:sp>
        <p:nvSpPr>
          <p:cNvPr id="7" name="Text 5"/>
          <p:cNvSpPr/>
          <p:nvPr/>
        </p:nvSpPr>
        <p:spPr>
          <a:xfrm>
            <a:off x="685800" y="2743200"/>
            <a:ext cx="7818120" cy="950976"/>
          </a:xfrm>
          <a:prstGeom prst="rect">
            <a:avLst/>
          </a:prstGeom>
          <a:noFill/>
          <a:ln/>
        </p:spPr>
        <p:txBody>
          <a:bodyPr wrap="square" lIns="0" tIns="0" rIns="0" bIns="0" rtlCol="0" anchor="ctr"/>
          <a:lstStyle/>
          <a:p>
            <a:pPr indent="0" marL="0">
              <a:buNone/>
            </a:pPr>
            <a:r>
              <a:rPr lang="en-US" sz="2300" dirty="0">
                <a:solidFill>
                  <a:srgbClr val="FBF3E6"/>
                </a:solidFill>
                <a:latin typeface="Aptos" pitchFamily="34" charset="0"/>
                <a:ea typeface="Aptos" pitchFamily="34" charset="-122"/>
                <a:cs typeface="Aptos" pitchFamily="34" charset="-120"/>
              </a:rPr>
              <a:t>Prepare people and spaces, control hazards, and produce food through safe, organised workflows.</a:t>
            </a:r>
            <a:endParaRPr lang="en-US" sz="2300" dirty="0"/>
          </a:p>
        </p:txBody>
      </p:sp>
      <p:sp>
        <p:nvSpPr>
          <p:cNvPr id="8" name="Shape 6"/>
          <p:cNvSpPr/>
          <p:nvPr/>
        </p:nvSpPr>
        <p:spPr>
          <a:xfrm>
            <a:off x="685800" y="4096512"/>
            <a:ext cx="10835640" cy="0"/>
          </a:xfrm>
          <a:prstGeom prst="line">
            <a:avLst/>
          </a:prstGeom>
          <a:noFill/>
          <a:ln w="16510">
            <a:solidFill>
              <a:srgbClr val="B8D9D3">
                <a:alpha val="65000"/>
              </a:srgbClr>
            </a:solidFill>
            <a:prstDash val="solid"/>
          </a:ln>
        </p:spPr>
      </p:sp>
      <p:sp>
        <p:nvSpPr>
          <p:cNvPr id="9" name="Text 7"/>
          <p:cNvSpPr/>
          <p:nvPr/>
        </p:nvSpPr>
        <p:spPr>
          <a:xfrm>
            <a:off x="685800" y="4407408"/>
            <a:ext cx="493776" cy="347472"/>
          </a:xfrm>
          <a:prstGeom prst="rect">
            <a:avLst/>
          </a:prstGeom>
          <a:noFill/>
          <a:ln/>
        </p:spPr>
        <p:txBody>
          <a:bodyPr wrap="square" lIns="0" tIns="0" rIns="0" bIns="0" rtlCol="0" anchor="ctr"/>
          <a:lstStyle/>
          <a:p>
            <a:pPr indent="0" marL="0">
              <a:buNone/>
            </a:pPr>
            <a:r>
              <a:rPr lang="en-US" sz="1800" b="1" dirty="0">
                <a:solidFill>
                  <a:srgbClr val="C96F52"/>
                </a:solidFill>
                <a:latin typeface="Aptos Display" pitchFamily="34" charset="0"/>
                <a:ea typeface="Aptos Display" pitchFamily="34" charset="-122"/>
                <a:cs typeface="Aptos Display" pitchFamily="34" charset="-120"/>
              </a:rPr>
              <a:t>01</a:t>
            </a:r>
            <a:endParaRPr lang="en-US" sz="1800" dirty="0"/>
          </a:p>
        </p:txBody>
      </p:sp>
      <p:sp>
        <p:nvSpPr>
          <p:cNvPr id="10" name="Text 8"/>
          <p:cNvSpPr/>
          <p:nvPr/>
        </p:nvSpPr>
        <p:spPr>
          <a:xfrm>
            <a:off x="1234440"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Prepare safely</a:t>
            </a:r>
            <a:endParaRPr lang="en-US" sz="2000" dirty="0"/>
          </a:p>
        </p:txBody>
      </p:sp>
      <p:sp>
        <p:nvSpPr>
          <p:cNvPr id="11" name="Text 9"/>
          <p:cNvSpPr/>
          <p:nvPr/>
        </p:nvSpPr>
        <p:spPr>
          <a:xfrm>
            <a:off x="4279392" y="4407408"/>
            <a:ext cx="493776" cy="347472"/>
          </a:xfrm>
          <a:prstGeom prst="rect">
            <a:avLst/>
          </a:prstGeom>
          <a:noFill/>
          <a:ln/>
        </p:spPr>
        <p:txBody>
          <a:bodyPr wrap="square" lIns="0" tIns="0" rIns="0" bIns="0" rtlCol="0" anchor="ctr"/>
          <a:lstStyle/>
          <a:p>
            <a:pPr indent="0" marL="0">
              <a:buNone/>
            </a:pPr>
            <a:r>
              <a:rPr lang="en-US" sz="1800" b="1" dirty="0">
                <a:solidFill>
                  <a:srgbClr val="C96F52"/>
                </a:solidFill>
                <a:latin typeface="Aptos Display" pitchFamily="34" charset="0"/>
                <a:ea typeface="Aptos Display" pitchFamily="34" charset="-122"/>
                <a:cs typeface="Aptos Display" pitchFamily="34" charset="-120"/>
              </a:rPr>
              <a:t>02</a:t>
            </a:r>
            <a:endParaRPr lang="en-US" sz="1800" dirty="0"/>
          </a:p>
        </p:txBody>
      </p:sp>
      <p:sp>
        <p:nvSpPr>
          <p:cNvPr id="12" name="Text 10"/>
          <p:cNvSpPr/>
          <p:nvPr/>
        </p:nvSpPr>
        <p:spPr>
          <a:xfrm>
            <a:off x="4828032"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Control the process</a:t>
            </a:r>
            <a:endParaRPr lang="en-US" sz="2000" dirty="0"/>
          </a:p>
        </p:txBody>
      </p:sp>
      <p:sp>
        <p:nvSpPr>
          <p:cNvPr id="13" name="Text 11"/>
          <p:cNvSpPr/>
          <p:nvPr/>
        </p:nvSpPr>
        <p:spPr>
          <a:xfrm>
            <a:off x="7872984" y="4407408"/>
            <a:ext cx="493776" cy="347472"/>
          </a:xfrm>
          <a:prstGeom prst="rect">
            <a:avLst/>
          </a:prstGeom>
          <a:noFill/>
          <a:ln/>
        </p:spPr>
        <p:txBody>
          <a:bodyPr wrap="square" lIns="0" tIns="0" rIns="0" bIns="0" rtlCol="0" anchor="ctr"/>
          <a:lstStyle/>
          <a:p>
            <a:pPr indent="0" marL="0">
              <a:buNone/>
            </a:pPr>
            <a:r>
              <a:rPr lang="en-US" sz="1800" b="1" dirty="0">
                <a:solidFill>
                  <a:srgbClr val="C96F52"/>
                </a:solidFill>
                <a:latin typeface="Aptos Display" pitchFamily="34" charset="0"/>
                <a:ea typeface="Aptos Display" pitchFamily="34" charset="-122"/>
                <a:cs typeface="Aptos Display" pitchFamily="34" charset="-120"/>
              </a:rPr>
              <a:t>03</a:t>
            </a:r>
            <a:endParaRPr lang="en-US" sz="1800" dirty="0"/>
          </a:p>
        </p:txBody>
      </p:sp>
      <p:sp>
        <p:nvSpPr>
          <p:cNvPr id="14" name="Text 12"/>
          <p:cNvSpPr/>
          <p:nvPr/>
        </p:nvSpPr>
        <p:spPr>
          <a:xfrm>
            <a:off x="8421624"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Produce consistently</a:t>
            </a:r>
            <a:endParaRPr lang="en-US" sz="2000" dirty="0"/>
          </a:p>
        </p:txBody>
      </p:sp>
      <p:sp>
        <p:nvSpPr>
          <p:cNvPr id="15" name="Text 13"/>
          <p:cNvSpPr/>
          <p:nvPr/>
        </p:nvSpPr>
        <p:spPr>
          <a:xfrm>
            <a:off x="685800" y="6062472"/>
            <a:ext cx="7040880" cy="274320"/>
          </a:xfrm>
          <a:prstGeom prst="rect">
            <a:avLst/>
          </a:prstGeom>
          <a:noFill/>
          <a:ln/>
        </p:spPr>
        <p:txBody>
          <a:bodyPr wrap="square" lIns="0" tIns="0" rIns="0" bIns="0" rtlCol="0" anchor="ctr"/>
          <a:lstStyle/>
          <a:p>
            <a:pPr indent="0" marL="0">
              <a:buNone/>
            </a:pPr>
            <a:r>
              <a:rPr lang="en-US" sz="1450" dirty="0">
                <a:solidFill>
                  <a:srgbClr val="B8D9D3"/>
                </a:solidFill>
                <a:latin typeface="Aptos" pitchFamily="34" charset="0"/>
                <a:ea typeface="Aptos" pitchFamily="34" charset="-122"/>
                <a:cs typeface="Aptos" pitchFamily="34" charset="-120"/>
              </a:rPr>
              <a:t>16 lesson visuals · retrieval · applied checking</a:t>
            </a:r>
            <a:endParaRPr lang="en-US" sz="1450" dirty="0"/>
          </a:p>
        </p:txBody>
      </p:sp>
      <p:sp>
        <p:nvSpPr>
          <p:cNvPr id="16" name="Text 14"/>
          <p:cNvSpPr/>
          <p:nvPr/>
        </p:nvSpPr>
        <p:spPr>
          <a:xfrm>
            <a:off x="10899648" y="6062472"/>
            <a:ext cx="640080" cy="274320"/>
          </a:xfrm>
          <a:prstGeom prst="rect">
            <a:avLst/>
          </a:prstGeom>
          <a:noFill/>
          <a:ln/>
        </p:spPr>
        <p:txBody>
          <a:bodyPr wrap="square" lIns="0" tIns="0" rIns="0" bIns="0" rtlCol="0" anchor="ctr"/>
          <a:lstStyle/>
          <a:p>
            <a:pPr algn="r" indent="0" marL="0">
              <a:buNone/>
            </a:pPr>
            <a:r>
              <a:rPr lang="en-US" sz="1200" dirty="0">
                <a:solidFill>
                  <a:srgbClr val="B8D9D3"/>
                </a:solidFill>
                <a:latin typeface="Aptos" pitchFamily="34" charset="0"/>
                <a:ea typeface="Aptos" pitchFamily="34" charset="-122"/>
                <a:cs typeface="Aptos" pitchFamily="34" charset="-120"/>
              </a:rPr>
              <a:t>1 / 18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01</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Kitchen readiness</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01-kitchen-readiness-instructional-visual" descr="Four connected pre-start lanes for task, person, place and process lead to a start or stop decision, followed by monitoring and an honest record.">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Connect personal readiness, workplace safety, food hygiene, production planning and honest evidence before treating any one control as an isolated checklist item.</a:t>
            </a:r>
            <a:endParaRPr lang="en-US" sz="17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safe product comes from a safe system</a:t>
            </a:r>
            <a:endParaRPr lang="en-US" sz="1600" dirty="0"/>
          </a:p>
        </p:txBody>
      </p:sp>
      <p:sp>
        <p:nvSpPr>
          <p:cNvPr id="13" name="Shape 10"/>
          <p:cNvSpPr/>
          <p:nvPr/>
        </p:nvSpPr>
        <p:spPr>
          <a:xfrm>
            <a:off x="734263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Read the whole task before touching ingredients</a:t>
            </a:r>
            <a:endParaRPr lang="en-US" sz="1600" dirty="0"/>
          </a:p>
        </p:txBody>
      </p:sp>
      <p:sp>
        <p:nvSpPr>
          <p:cNvPr id="15" name="Shape 12"/>
          <p:cNvSpPr/>
          <p:nvPr/>
        </p:nvSpPr>
        <p:spPr>
          <a:xfrm>
            <a:off x="734263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Prepare the person</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action gives the strongest start to an unfamiliar kitchen practical?</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2 / 18</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02</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WHS responsibilities</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02-whs-responsibilities-instructional-visual" descr="Learner actions, authorised decisions and shared communication connect across common kitchen safety situation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Understand how workplace duties, learner responsibilities, training, consultation and reporting combine to protect people in a hospitality environment.</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Safety is a shared workplace system</a:t>
            </a:r>
            <a:endParaRPr lang="en-US" sz="1600" dirty="0"/>
          </a:p>
        </p:txBody>
      </p:sp>
      <p:sp>
        <p:nvSpPr>
          <p:cNvPr id="13" name="Shape 10"/>
          <p:cNvSpPr/>
          <p:nvPr/>
        </p:nvSpPr>
        <p:spPr>
          <a:xfrm>
            <a:off x="53035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Follow instructions, but question unsafe uncertainty</a:t>
            </a:r>
            <a:endParaRPr lang="en-US" sz="1600" dirty="0"/>
          </a:p>
        </p:txBody>
      </p:sp>
      <p:sp>
        <p:nvSpPr>
          <p:cNvPr id="15" name="Shape 12"/>
          <p:cNvSpPr/>
          <p:nvPr/>
        </p:nvSpPr>
        <p:spPr>
          <a:xfrm>
            <a:off x="53035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Training and authorisation define what you may do</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action best demonstrates a learner taking reasonable care?</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3 / 18</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03</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Hazards and controls</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03-hazards-controls-instructional-visual" descr="Decision tree for observing a kitchen hazard, protecting people, acting only within training, reporting and reviewing the control.">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Recognise common hospitality hazards, reason from hazard to effective control and choose an immediate response that stays within training and workplace authority.</a:t>
            </a:r>
            <a:endParaRPr lang="en-US" sz="17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Hazard and risk are related but different</a:t>
            </a:r>
            <a:endParaRPr lang="en-US" sz="1600" dirty="0"/>
          </a:p>
        </p:txBody>
      </p:sp>
      <p:sp>
        <p:nvSpPr>
          <p:cNvPr id="13" name="Shape 10"/>
          <p:cNvSpPr/>
          <p:nvPr/>
        </p:nvSpPr>
        <p:spPr>
          <a:xfrm>
            <a:off x="734263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Scan by hazard category</a:t>
            </a:r>
            <a:endParaRPr lang="en-US" sz="1600" dirty="0"/>
          </a:p>
        </p:txBody>
      </p:sp>
      <p:sp>
        <p:nvSpPr>
          <p:cNvPr id="15" name="Shape 12"/>
          <p:cNvSpPr/>
          <p:nvPr/>
        </p:nvSpPr>
        <p:spPr>
          <a:xfrm>
            <a:off x="734263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Choose the strongest reasonably practicable control</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statement best distinguishes a hazard from risk?</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4 / 18</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04</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Presentation and PPE</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04-presentation-ppe-instructional-visual" descr="Personal-presentation controls prepare a worker for food handling, while task hazards connect to specific authorised PPE and wider control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Prepare for kitchen work through hygienic personal presentation and choose, inspect and use personal protective equipment that matches the identified task hazard.</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Presentation is a safety and hygiene control</a:t>
            </a:r>
            <a:endParaRPr lang="en-US" sz="1600" dirty="0"/>
          </a:p>
        </p:txBody>
      </p:sp>
      <p:sp>
        <p:nvSpPr>
          <p:cNvPr id="13" name="Shape 10"/>
          <p:cNvSpPr/>
          <p:nvPr/>
        </p:nvSpPr>
        <p:spPr>
          <a:xfrm>
            <a:off x="53035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Clothing and footwear must suit the work</a:t>
            </a:r>
            <a:endParaRPr lang="en-US" sz="1600" dirty="0"/>
          </a:p>
        </p:txBody>
      </p:sp>
      <p:sp>
        <p:nvSpPr>
          <p:cNvPr id="15" name="Shape 12"/>
          <p:cNvSpPr/>
          <p:nvPr/>
        </p:nvSpPr>
        <p:spPr>
          <a:xfrm>
            <a:off x="53035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Control hair, nails, jewellery and personal items</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Why is controlled hair part of kitchen readiness?</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5 / 18</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05</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Handwashing and contamination</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05-handwashing-contamination-instructional-visual" descr="Common touchpoints transfer contamination through hands or gloves to ready-to-eat food, with hygiene controls breaking each pathway.">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Trace contamination through hands, gloves and high-touch surfaces, recognise handwashing triggers and restore a clean ready-to-eat workflow after contact changes.</a:t>
            </a:r>
            <a:endParaRPr lang="en-US" sz="17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Hands are a moving contact surface</a:t>
            </a:r>
            <a:endParaRPr lang="en-US" sz="1600" dirty="0"/>
          </a:p>
        </p:txBody>
      </p:sp>
      <p:sp>
        <p:nvSpPr>
          <p:cNvPr id="13" name="Shape 10"/>
          <p:cNvSpPr/>
          <p:nvPr/>
        </p:nvSpPr>
        <p:spPr>
          <a:xfrm>
            <a:off x="734263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Recognise the trigger before the next touch</a:t>
            </a:r>
            <a:endParaRPr lang="en-US" sz="1600" dirty="0"/>
          </a:p>
        </p:txBody>
      </p:sp>
      <p:sp>
        <p:nvSpPr>
          <p:cNvPr id="15" name="Shape 12"/>
          <p:cNvSpPr/>
          <p:nvPr/>
        </p:nvSpPr>
        <p:spPr>
          <a:xfrm>
            <a:off x="734263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Handwashing breaks a transfer route</a:t>
            </a:r>
            <a:endParaRPr lang="en-US" sz="1600" dirty="0"/>
          </a:p>
        </p:txBody>
      </p:sp>
      <p:sp>
        <p:nvSpPr>
          <p:cNvPr id="17" name="Shape 14"/>
          <p:cNvSpPr/>
          <p:nvPr/>
        </p:nvSpPr>
        <p:spPr>
          <a:xfrm>
            <a:off x="734263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After handling raw food, a worker must prepare a ready-to-eat item. What comes first?</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6 / 18</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06</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Food-handler health</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06-food-handler-health-instructional-visual" descr="Food-handler health concerns lead to stopping work, protecting food, factual reporting and an authorised duty decision, while private medical information stays protected.">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Recognise when illness, symptoms, wounds or personal behaviour may affect safe food handling and report concerns early without recording private medical details.</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Health can change the safety of a food-handling task</a:t>
            </a:r>
            <a:endParaRPr lang="en-US" sz="1600" dirty="0"/>
          </a:p>
        </p:txBody>
      </p:sp>
      <p:sp>
        <p:nvSpPr>
          <p:cNvPr id="13" name="Shape 10"/>
          <p:cNvSpPr/>
          <p:nvPr/>
        </p:nvSpPr>
        <p:spPr>
          <a:xfrm>
            <a:off x="53035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Report relevant symptoms promptly</a:t>
            </a:r>
            <a:endParaRPr lang="en-US" sz="1600" dirty="0"/>
          </a:p>
        </p:txBody>
      </p:sp>
      <p:sp>
        <p:nvSpPr>
          <p:cNvPr id="15" name="Shape 12"/>
          <p:cNvSpPr/>
          <p:nvPr/>
        </p:nvSpPr>
        <p:spPr>
          <a:xfrm>
            <a:off x="53035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Manage cuts and dressings as controlled items</a:t>
            </a:r>
            <a:endParaRPr lang="en-US" sz="1600" dirty="0"/>
          </a:p>
        </p:txBody>
      </p:sp>
      <p:sp>
        <p:nvSpPr>
          <p:cNvPr id="17" name="Shape 14"/>
          <p:cNvSpPr/>
          <p:nvPr/>
        </p:nvSpPr>
        <p:spPr>
          <a:xfrm>
            <a:off x="530352" y="5029200"/>
            <a:ext cx="4315968" cy="1234440"/>
          </a:xfrm>
          <a:prstGeom prst="roundRect">
            <a:avLst>
              <a:gd name="adj" fmla="val 3704"/>
            </a:avLst>
          </a:prstGeom>
          <a:solidFill>
            <a:srgbClr val="0B4F4A"/>
          </a:solidFill>
          <a:ln w="12700">
            <a:solidFill>
              <a:srgbClr val="0B4F4A">
                <a:alpha val="0"/>
              </a:srgbClr>
            </a:solidFill>
            <a:prstDash val="solid"/>
          </a:ln>
        </p:spPr>
      </p:sp>
      <p:sp>
        <p:nvSpPr>
          <p:cNvPr id="18" name="Text 15"/>
          <p:cNvSpPr/>
          <p:nvPr/>
        </p:nvSpPr>
        <p:spPr>
          <a:xfrm>
            <a:off x="694944" y="5129784"/>
            <a:ext cx="3986784"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694944" y="5358384"/>
            <a:ext cx="3986784" cy="85039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A learner has symptoms that may affect safe food handling before class. What is the strongest response?</a:t>
            </a:r>
            <a:endParaRPr lang="en-US" sz="15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7 / 18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07</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Cleaning and sanitising</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07-cleaning-sanitising-instructional-visual" descr="Cleaning and sanitising sequence aligned with chemical-safety checks and a stop-and-report branch for unknown produ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Distinguish cleaning from sanitising, follow the authorised sequence and use chemical information without guessing dilution, contact time or compatibility.</a:t>
            </a:r>
            <a:endParaRPr lang="en-US" sz="17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Cleaning and sanitising solve different problems</a:t>
            </a:r>
            <a:endParaRPr lang="en-US" sz="1600" dirty="0"/>
          </a:p>
        </p:txBody>
      </p:sp>
      <p:sp>
        <p:nvSpPr>
          <p:cNvPr id="13" name="Shape 10"/>
          <p:cNvSpPr/>
          <p:nvPr/>
        </p:nvSpPr>
        <p:spPr>
          <a:xfrm>
            <a:off x="734263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Start with the item and contamination risk</a:t>
            </a:r>
            <a:endParaRPr lang="en-US" sz="1600" dirty="0"/>
          </a:p>
        </p:txBody>
      </p:sp>
      <p:sp>
        <p:nvSpPr>
          <p:cNvPr id="15" name="Shape 12"/>
          <p:cNvSpPr/>
          <p:nvPr/>
        </p:nvSpPr>
        <p:spPr>
          <a:xfrm>
            <a:off x="734263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The label and SDS are working documents</a:t>
            </a:r>
            <a:endParaRPr lang="en-US" sz="1600" dirty="0"/>
          </a:p>
        </p:txBody>
      </p:sp>
      <p:sp>
        <p:nvSpPr>
          <p:cNvPr id="17" name="Shape 14"/>
          <p:cNvSpPr/>
          <p:nvPr/>
        </p:nvSpPr>
        <p:spPr>
          <a:xfrm>
            <a:off x="734263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A bench looks clean after wiping. Why might it still be unsafe for food preparation?</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8 / 18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08</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Tools and equipment</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08-tools-equipment-instructional-visual" descr="Kitchen equipment moves through selection, inspection, setup, operation, shutdown, cleaning and storage, with faults diverted to reporti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Select, inspect, set up, operate, clean and store kitchen tools and equipment within the authorised demonstration, manufacturer information and learner's training.</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Choose equipment for the method and quantity</a:t>
            </a:r>
            <a:endParaRPr lang="en-US" sz="1600" dirty="0"/>
          </a:p>
        </p:txBody>
      </p:sp>
      <p:sp>
        <p:nvSpPr>
          <p:cNvPr id="13" name="Shape 10"/>
          <p:cNvSpPr/>
          <p:nvPr/>
        </p:nvSpPr>
        <p:spPr>
          <a:xfrm>
            <a:off x="53035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Inspect before setup</a:t>
            </a:r>
            <a:endParaRPr lang="en-US" sz="1600" dirty="0"/>
          </a:p>
        </p:txBody>
      </p:sp>
      <p:sp>
        <p:nvSpPr>
          <p:cNvPr id="15" name="Shape 12"/>
          <p:cNvSpPr/>
          <p:nvPr/>
        </p:nvSpPr>
        <p:spPr>
          <a:xfrm>
            <a:off x="53035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Set up a controlled operating zone</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What should control the selection of kitchen equipment?</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9 / 18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09</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Knife safety</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09-knife-safety-instructional-visual" descr="A knife remains visible and controlled from selection through cutting, washing and storage, while damage and maintenance are referred to the teache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Select and handle kitchen knives through a stable work zone, authorised cutting demonstration, controlled transport, washing and storage without teaching unsupervised sharpening.</a:t>
            </a:r>
            <a:endParaRPr lang="en-US" sz="16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Match the knife to the authorised cutting task</a:t>
            </a:r>
            <a:endParaRPr lang="en-US" sz="1600" dirty="0"/>
          </a:p>
        </p:txBody>
      </p:sp>
      <p:sp>
        <p:nvSpPr>
          <p:cNvPr id="13" name="Shape 10"/>
          <p:cNvSpPr/>
          <p:nvPr/>
        </p:nvSpPr>
        <p:spPr>
          <a:xfrm>
            <a:off x="734263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Inspect condition without attempting maintenance</a:t>
            </a:r>
            <a:endParaRPr lang="en-US" sz="1600" dirty="0"/>
          </a:p>
        </p:txBody>
      </p:sp>
      <p:sp>
        <p:nvSpPr>
          <p:cNvPr id="15" name="Shape 12"/>
          <p:cNvSpPr/>
          <p:nvPr/>
        </p:nvSpPr>
        <p:spPr>
          <a:xfrm>
            <a:off x="734263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Build a stable cutting zone</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A learner finds a knife with a loose handle. What should happen?</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10 / 18</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10</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Recipe and yield</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10-recipe-yield-instructional-visual" descr="A recipe scaling calculation with units must pass equipment, batch, timing and waste checks before produc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Read a standard recipe as a production specification, interpret units and yield, calculate authorised quantity changes and test whether the result remains workable and safe.</a:t>
            </a:r>
            <a:endParaRPr lang="en-US" sz="16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Read every part of the standard recipe</a:t>
            </a:r>
            <a:endParaRPr lang="en-US" sz="1600" dirty="0"/>
          </a:p>
        </p:txBody>
      </p:sp>
      <p:sp>
        <p:nvSpPr>
          <p:cNvPr id="13" name="Shape 10"/>
          <p:cNvSpPr/>
          <p:nvPr/>
        </p:nvSpPr>
        <p:spPr>
          <a:xfrm>
            <a:off x="53035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Units protect accuracy</a:t>
            </a:r>
            <a:endParaRPr lang="en-US" sz="1600" dirty="0"/>
          </a:p>
        </p:txBody>
      </p:sp>
      <p:sp>
        <p:nvSpPr>
          <p:cNvPr id="15" name="Shape 12"/>
          <p:cNvSpPr/>
          <p:nvPr/>
        </p:nvSpPr>
        <p:spPr>
          <a:xfrm>
            <a:off x="53035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Yield states the planned output</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information must be checked before scaling a recipe?</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11 / 18</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11</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Mise en place</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11-mise-en-place-instructional-visual" descr="Recipe details are translated into yield, preparation, equipment, timing, safety and presentation decisions that form an organised st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Read a standard recipe as a production document, select safe equipment and translate ingredients, yield, method and timing into an organised work plan.</a:t>
            </a:r>
            <a:endParaRPr lang="en-US" sz="17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standard recipe protects consistency</a:t>
            </a:r>
            <a:endParaRPr lang="en-US" sz="1600" dirty="0"/>
          </a:p>
        </p:txBody>
      </p:sp>
      <p:sp>
        <p:nvSpPr>
          <p:cNvPr id="13" name="Shape 10"/>
          <p:cNvSpPr/>
          <p:nvPr/>
        </p:nvSpPr>
        <p:spPr>
          <a:xfrm>
            <a:off x="734263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Yield connects quantity to service</a:t>
            </a:r>
            <a:endParaRPr lang="en-US" sz="1600" dirty="0"/>
          </a:p>
        </p:txBody>
      </p:sp>
      <p:sp>
        <p:nvSpPr>
          <p:cNvPr id="15" name="Shape 12"/>
          <p:cNvSpPr/>
          <p:nvPr/>
        </p:nvSpPr>
        <p:spPr>
          <a:xfrm>
            <a:off x="734263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Read the method as a workflow</a:t>
            </a:r>
            <a:endParaRPr lang="en-US" sz="1600" dirty="0"/>
          </a:p>
        </p:txBody>
      </p:sp>
      <p:sp>
        <p:nvSpPr>
          <p:cNvPr id="17" name="Shape 14"/>
          <p:cNvSpPr/>
          <p:nvPr/>
        </p:nvSpPr>
        <p:spPr>
          <a:xfrm>
            <a:off x="734263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Why should the full standard recipe be read before ingredients are collected?</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12 / 18</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12</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Produce preparation</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12-produce-preparation-instructional-visual" descr="Fresh produce moves from inspection and washing through controlled trimming and cutting into a protected ready-to-use containe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Select, wash, trim, cut, portion and protect fresh produce through a controlled workflow that supports food safety, quality, consistency and waste prevention.</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Confirm the produce and required preparation</a:t>
            </a:r>
            <a:endParaRPr lang="en-US" sz="1600" dirty="0"/>
          </a:p>
        </p:txBody>
      </p:sp>
      <p:sp>
        <p:nvSpPr>
          <p:cNvPr id="13" name="Shape 10"/>
          <p:cNvSpPr/>
          <p:nvPr/>
        </p:nvSpPr>
        <p:spPr>
          <a:xfrm>
            <a:off x="53035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Inspect quality without claiming safety by appearance</a:t>
            </a:r>
            <a:endParaRPr lang="en-US" sz="1600" dirty="0"/>
          </a:p>
        </p:txBody>
      </p:sp>
      <p:sp>
        <p:nvSpPr>
          <p:cNvPr id="15" name="Shape 12"/>
          <p:cNvSpPr/>
          <p:nvPr/>
        </p:nvSpPr>
        <p:spPr>
          <a:xfrm>
            <a:off x="53035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Prepare hands, sink, equipment and work zone</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What should determine how fresh produce is cut?</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13 / 18</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13</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Breads and sandwich design</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13-breads-sandwich-design-instructional-visual" descr="Bread characteristics are matched with filling, service, portion and presentation needs to form a controlled sandwich specific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Compare bread characteristics and design a sandwich specification that balances structure, eating quality, customer information, portion, presentation and safe production.</a:t>
            </a:r>
            <a:endParaRPr lang="en-US" sz="16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Bread choice changes the whole product</a:t>
            </a:r>
            <a:endParaRPr lang="en-US" sz="1600" dirty="0"/>
          </a:p>
        </p:txBody>
      </p:sp>
      <p:sp>
        <p:nvSpPr>
          <p:cNvPr id="13" name="Shape 10"/>
          <p:cNvSpPr/>
          <p:nvPr/>
        </p:nvSpPr>
        <p:spPr>
          <a:xfrm>
            <a:off x="734263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Design begins with purpose and customer information</a:t>
            </a:r>
            <a:endParaRPr lang="en-US" sz="1600" dirty="0"/>
          </a:p>
        </p:txBody>
      </p:sp>
      <p:sp>
        <p:nvSpPr>
          <p:cNvPr id="15" name="Shape 12"/>
          <p:cNvSpPr/>
          <p:nvPr/>
        </p:nvSpPr>
        <p:spPr>
          <a:xfrm>
            <a:off x="734263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Balance filling, flavour and texture</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bread decision is most defensible?</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14 / 18</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14</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Sandwich production</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14-sandwich-production-instructional-visual" descr="Sandwich layers align with recipe, preparation, safety, assembly, presentation, service and waste-control decision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Combine bread and ingredient selection, mise en place, safe knife work, contamination and allergen control, consistent assembly, presentation, storage and waste management in one coherent production task.</a:t>
            </a:r>
            <a:endParaRPr lang="en-US" sz="16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Start from the authorised product standard</a:t>
            </a:r>
            <a:endParaRPr lang="en-US" sz="1600" dirty="0"/>
          </a:p>
        </p:txBody>
      </p:sp>
      <p:sp>
        <p:nvSpPr>
          <p:cNvPr id="13" name="Shape 10"/>
          <p:cNvSpPr/>
          <p:nvPr/>
        </p:nvSpPr>
        <p:spPr>
          <a:xfrm>
            <a:off x="53035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Match the bread to the product</a:t>
            </a:r>
            <a:endParaRPr lang="en-US" sz="1600" dirty="0"/>
          </a:p>
        </p:txBody>
      </p:sp>
      <p:sp>
        <p:nvSpPr>
          <p:cNvPr id="15" name="Shape 12"/>
          <p:cNvSpPr/>
          <p:nvPr/>
        </p:nvSpPr>
        <p:spPr>
          <a:xfrm>
            <a:off x="53035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Prepare fillings in a safe sequence</a:t>
            </a:r>
            <a:endParaRPr lang="en-US" sz="1600" dirty="0"/>
          </a:p>
        </p:txBody>
      </p:sp>
      <p:sp>
        <p:nvSpPr>
          <p:cNvPr id="17" name="Shape 14"/>
          <p:cNvSpPr/>
          <p:nvPr/>
        </p:nvSpPr>
        <p:spPr>
          <a:xfrm>
            <a:off x="53035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Why should ready-to-eat sandwich ingredients have a separated, controlled work zone?</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15 / 18</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15</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Storage and temperature</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15-storage-temperature-instructional-visual" descr="Storage zones protect food through identification, separation, rotation, airflow and current temperature monitoring, with failed controls isolated and reported.">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Receive, label, separate, rotate and monitor food in the authorised storage environment, using current temperature controls and honest corrective action without inventing numerical limits.</a:t>
            </a:r>
            <a:endParaRPr lang="en-US" sz="16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Move accepted food into control promptly</a:t>
            </a:r>
            <a:endParaRPr lang="en-US" sz="1600" dirty="0"/>
          </a:p>
        </p:txBody>
      </p:sp>
      <p:sp>
        <p:nvSpPr>
          <p:cNvPr id="13" name="Shape 10"/>
          <p:cNvSpPr/>
          <p:nvPr/>
        </p:nvSpPr>
        <p:spPr>
          <a:xfrm>
            <a:off x="734263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Protect identity and traceability</a:t>
            </a:r>
            <a:endParaRPr lang="en-US" sz="1600" dirty="0"/>
          </a:p>
        </p:txBody>
      </p:sp>
      <p:sp>
        <p:nvSpPr>
          <p:cNvPr id="15" name="Shape 12"/>
          <p:cNvSpPr/>
          <p:nvPr/>
        </p:nvSpPr>
        <p:spPr>
          <a:xfrm>
            <a:off x="734263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Separate food and non-food hazards</a:t>
            </a:r>
            <a:endParaRPr lang="en-US" sz="1600" dirty="0"/>
          </a:p>
        </p:txBody>
      </p:sp>
      <p:sp>
        <p:nvSpPr>
          <p:cNvPr id="17" name="Shape 14"/>
          <p:cNvSpPr/>
          <p:nvPr/>
        </p:nvSpPr>
        <p:spPr>
          <a:xfrm>
            <a:off x="7342632" y="5029200"/>
            <a:ext cx="4315968" cy="1234440"/>
          </a:xfrm>
          <a:prstGeom prst="roundRect">
            <a:avLst>
              <a:gd name="adj" fmla="val 3704"/>
            </a:avLst>
          </a:prstGeom>
          <a:solidFill>
            <a:srgbClr val="0B4F4A"/>
          </a:solidFill>
          <a:ln w="12700">
            <a:solidFill>
              <a:srgbClr val="0B4F4A">
                <a:alpha val="0"/>
              </a:srgbClr>
            </a:solidFill>
            <a:prstDash val="solid"/>
          </a:ln>
        </p:spPr>
      </p:sp>
      <p:sp>
        <p:nvSpPr>
          <p:cNvPr id="18" name="Text 15"/>
          <p:cNvSpPr/>
          <p:nvPr/>
        </p:nvSpPr>
        <p:spPr>
          <a:xfrm>
            <a:off x="7507224" y="5129784"/>
            <a:ext cx="3986784"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7507224" y="5358384"/>
            <a:ext cx="3986784" cy="85039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A delivered food item does not meet the workplace acceptance criteria. What is the strongest response?</a:t>
            </a:r>
            <a:endParaRPr lang="en-US" sz="15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16 / 18</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C96F52"/>
          </a:solidFill>
          <a:ln w="12700">
            <a:solidFill>
              <a:srgbClr val="C96F5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1 · LESSON 16</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Waste and reflection</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16-waste-reflection-instructional-visual" descr="Kitchen waste is prevented first, separated through authorised streams, recorded honestly and traced back to one production improveme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Prevent and separate kitchen waste, record its real cause and use an honest reflection to improve the next authorised practical without claiming an assessor decision.</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C96F5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C96F52"/>
          </a:solidFill>
          <a:ln w="12700">
            <a:solidFill>
              <a:srgbClr val="C96F5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Prevent waste before production begins</a:t>
            </a:r>
            <a:endParaRPr lang="en-US" sz="1600" dirty="0"/>
          </a:p>
        </p:txBody>
      </p:sp>
      <p:sp>
        <p:nvSpPr>
          <p:cNvPr id="13" name="Shape 10"/>
          <p:cNvSpPr/>
          <p:nvPr/>
        </p:nvSpPr>
        <p:spPr>
          <a:xfrm>
            <a:off x="530352" y="4105656"/>
            <a:ext cx="118872" cy="118872"/>
          </a:xfrm>
          <a:prstGeom prst="ellipse">
            <a:avLst/>
          </a:prstGeom>
          <a:solidFill>
            <a:srgbClr val="C96F52"/>
          </a:solidFill>
          <a:ln w="12700">
            <a:solidFill>
              <a:srgbClr val="C96F5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Use the local waste hierarchy and streams</a:t>
            </a:r>
            <a:endParaRPr lang="en-US" sz="1600" dirty="0"/>
          </a:p>
        </p:txBody>
      </p:sp>
      <p:sp>
        <p:nvSpPr>
          <p:cNvPr id="15" name="Shape 12"/>
          <p:cNvSpPr/>
          <p:nvPr/>
        </p:nvSpPr>
        <p:spPr>
          <a:xfrm>
            <a:off x="530352" y="4562856"/>
            <a:ext cx="118872" cy="118872"/>
          </a:xfrm>
          <a:prstGeom prst="ellipse">
            <a:avLst/>
          </a:prstGeom>
          <a:solidFill>
            <a:srgbClr val="C96F52"/>
          </a:solidFill>
          <a:ln w="12700">
            <a:solidFill>
              <a:srgbClr val="C96F5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Separate waste without creating a new hazard</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reflection is most useful after an authorised practical?</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17 / 18</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207008"/>
          </a:xfrm>
          <a:prstGeom prst="rect">
            <a:avLst/>
          </a:prstGeom>
          <a:solidFill>
            <a:srgbClr val="0B4F4A"/>
          </a:solidFill>
          <a:ln w="12700">
            <a:solidFill>
              <a:srgbClr val="0B4F4A">
                <a:alpha val="0"/>
              </a:srgbClr>
            </a:solidFill>
            <a:prstDash val="solid"/>
          </a:ln>
        </p:spPr>
      </p:sp>
      <p:sp>
        <p:nvSpPr>
          <p:cNvPr id="3" name="Text 1"/>
          <p:cNvSpPr/>
          <p:nvPr/>
        </p:nvSpPr>
        <p:spPr>
          <a:xfrm>
            <a:off x="658368" y="292608"/>
            <a:ext cx="10927080" cy="585216"/>
          </a:xfrm>
          <a:prstGeom prst="rect">
            <a:avLst/>
          </a:prstGeom>
          <a:noFill/>
          <a:ln/>
        </p:spPr>
        <p:txBody>
          <a:bodyPr wrap="square" lIns="0" tIns="0" rIns="0" bIns="0" rtlCol="0" anchor="ctr"/>
          <a:lstStyle/>
          <a:p>
            <a:pPr algn="ctr" indent="0" marL="0">
              <a:buNone/>
            </a:pPr>
            <a:r>
              <a:rPr lang="en-US" sz="3800" b="1" dirty="0">
                <a:solidFill>
                  <a:srgbClr val="FFFFFF"/>
                </a:solidFill>
                <a:latin typeface="Aptos Display" pitchFamily="34" charset="0"/>
                <a:ea typeface="Aptos Display" pitchFamily="34" charset="-122"/>
                <a:cs typeface="Aptos Display" pitchFamily="34" charset="-120"/>
              </a:rPr>
              <a:t>Finish with evidence, not a guess</a:t>
            </a:r>
            <a:endParaRPr lang="en-US" sz="3800" dirty="0"/>
          </a:p>
        </p:txBody>
      </p:sp>
      <p:sp>
        <p:nvSpPr>
          <p:cNvPr id="4" name="Text 2"/>
          <p:cNvSpPr/>
          <p:nvPr/>
        </p:nvSpPr>
        <p:spPr>
          <a:xfrm>
            <a:off x="694944" y="1682496"/>
            <a:ext cx="640080" cy="384048"/>
          </a:xfrm>
          <a:prstGeom prst="rect">
            <a:avLst/>
          </a:prstGeom>
          <a:noFill/>
          <a:ln/>
        </p:spPr>
        <p:txBody>
          <a:bodyPr wrap="square" lIns="0" tIns="0" rIns="0" bIns="0" rtlCol="0" anchor="ctr"/>
          <a:lstStyle/>
          <a:p>
            <a:pPr indent="0" marL="0">
              <a:buNone/>
            </a:pPr>
            <a:r>
              <a:rPr lang="en-US" sz="2200" b="1" dirty="0">
                <a:solidFill>
                  <a:srgbClr val="C96F52"/>
                </a:solidFill>
                <a:latin typeface="Aptos Display" pitchFamily="34" charset="0"/>
                <a:ea typeface="Aptos Display" pitchFamily="34" charset="-122"/>
                <a:cs typeface="Aptos Display" pitchFamily="34" charset="-120"/>
              </a:rPr>
              <a:t>01</a:t>
            </a:r>
            <a:endParaRPr lang="en-US" sz="2200" dirty="0"/>
          </a:p>
        </p:txBody>
      </p:sp>
      <p:sp>
        <p:nvSpPr>
          <p:cNvPr id="5" name="Text 3"/>
          <p:cNvSpPr/>
          <p:nvPr/>
        </p:nvSpPr>
        <p:spPr>
          <a:xfrm>
            <a:off x="694944"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Retrieve</a:t>
            </a:r>
            <a:endParaRPr lang="en-US" sz="2700" dirty="0"/>
          </a:p>
        </p:txBody>
      </p:sp>
      <p:sp>
        <p:nvSpPr>
          <p:cNvPr id="6" name="Text 4"/>
          <p:cNvSpPr/>
          <p:nvPr/>
        </p:nvSpPr>
        <p:spPr>
          <a:xfrm>
            <a:off x="694944"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Explain one lesson idea and the workplace consequence it helps prevent or improve.</a:t>
            </a:r>
            <a:endParaRPr lang="en-US" sz="1900" dirty="0"/>
          </a:p>
        </p:txBody>
      </p:sp>
      <p:sp>
        <p:nvSpPr>
          <p:cNvPr id="7" name="Text 5"/>
          <p:cNvSpPr/>
          <p:nvPr/>
        </p:nvSpPr>
        <p:spPr>
          <a:xfrm>
            <a:off x="4498848" y="1682496"/>
            <a:ext cx="640080" cy="384048"/>
          </a:xfrm>
          <a:prstGeom prst="rect">
            <a:avLst/>
          </a:prstGeom>
          <a:noFill/>
          <a:ln/>
        </p:spPr>
        <p:txBody>
          <a:bodyPr wrap="square" lIns="0" tIns="0" rIns="0" bIns="0" rtlCol="0" anchor="ctr"/>
          <a:lstStyle/>
          <a:p>
            <a:pPr indent="0" marL="0">
              <a:buNone/>
            </a:pPr>
            <a:r>
              <a:rPr lang="en-US" sz="2200" b="1" dirty="0">
                <a:solidFill>
                  <a:srgbClr val="C96F52"/>
                </a:solidFill>
                <a:latin typeface="Aptos Display" pitchFamily="34" charset="0"/>
                <a:ea typeface="Aptos Display" pitchFamily="34" charset="-122"/>
                <a:cs typeface="Aptos Display" pitchFamily="34" charset="-120"/>
              </a:rPr>
              <a:t>02</a:t>
            </a:r>
            <a:endParaRPr lang="en-US" sz="2200" dirty="0"/>
          </a:p>
        </p:txBody>
      </p:sp>
      <p:sp>
        <p:nvSpPr>
          <p:cNvPr id="8" name="Text 6"/>
          <p:cNvSpPr/>
          <p:nvPr/>
        </p:nvSpPr>
        <p:spPr>
          <a:xfrm>
            <a:off x="4498848"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Apply</a:t>
            </a:r>
            <a:endParaRPr lang="en-US" sz="2700" dirty="0"/>
          </a:p>
        </p:txBody>
      </p:sp>
      <p:sp>
        <p:nvSpPr>
          <p:cNvPr id="9" name="Text 7"/>
          <p:cNvSpPr/>
          <p:nvPr/>
        </p:nvSpPr>
        <p:spPr>
          <a:xfrm>
            <a:off x="4498848"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Use one module visual to justify the next safe, accurate or service-focused action.</a:t>
            </a:r>
            <a:endParaRPr lang="en-US" sz="1900" dirty="0"/>
          </a:p>
        </p:txBody>
      </p:sp>
      <p:sp>
        <p:nvSpPr>
          <p:cNvPr id="10" name="Text 8"/>
          <p:cNvSpPr/>
          <p:nvPr/>
        </p:nvSpPr>
        <p:spPr>
          <a:xfrm>
            <a:off x="8302752" y="1682496"/>
            <a:ext cx="640080" cy="384048"/>
          </a:xfrm>
          <a:prstGeom prst="rect">
            <a:avLst/>
          </a:prstGeom>
          <a:noFill/>
          <a:ln/>
        </p:spPr>
        <p:txBody>
          <a:bodyPr wrap="square" lIns="0" tIns="0" rIns="0" bIns="0" rtlCol="0" anchor="ctr"/>
          <a:lstStyle/>
          <a:p>
            <a:pPr indent="0" marL="0">
              <a:buNone/>
            </a:pPr>
            <a:r>
              <a:rPr lang="en-US" sz="2200" b="1" dirty="0">
                <a:solidFill>
                  <a:srgbClr val="C96F52"/>
                </a:solidFill>
                <a:latin typeface="Aptos Display" pitchFamily="34" charset="0"/>
                <a:ea typeface="Aptos Display" pitchFamily="34" charset="-122"/>
                <a:cs typeface="Aptos Display" pitchFamily="34" charset="-120"/>
              </a:rPr>
              <a:t>03</a:t>
            </a:r>
            <a:endParaRPr lang="en-US" sz="2200" dirty="0"/>
          </a:p>
        </p:txBody>
      </p:sp>
      <p:sp>
        <p:nvSpPr>
          <p:cNvPr id="11" name="Text 9"/>
          <p:cNvSpPr/>
          <p:nvPr/>
        </p:nvSpPr>
        <p:spPr>
          <a:xfrm>
            <a:off x="8302752"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Check the boundary</a:t>
            </a:r>
            <a:endParaRPr lang="en-US" sz="2700" dirty="0"/>
          </a:p>
        </p:txBody>
      </p:sp>
      <p:sp>
        <p:nvSpPr>
          <p:cNvPr id="12" name="Text 10"/>
          <p:cNvSpPr/>
          <p:nvPr/>
        </p:nvSpPr>
        <p:spPr>
          <a:xfrm>
            <a:off x="8302752"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Name what must come from the current teacher, workplace or RTO source before anyone acts.</a:t>
            </a:r>
            <a:endParaRPr lang="en-US" sz="1900" dirty="0"/>
          </a:p>
        </p:txBody>
      </p:sp>
      <p:sp>
        <p:nvSpPr>
          <p:cNvPr id="13" name="Shape 11"/>
          <p:cNvSpPr/>
          <p:nvPr/>
        </p:nvSpPr>
        <p:spPr>
          <a:xfrm>
            <a:off x="694944" y="4782312"/>
            <a:ext cx="10808208" cy="1143000"/>
          </a:xfrm>
          <a:prstGeom prst="roundRect">
            <a:avLst>
              <a:gd name="adj" fmla="val 4000"/>
            </a:avLst>
          </a:prstGeom>
          <a:solidFill>
            <a:srgbClr val="B8D9D3">
              <a:alpha val="80000"/>
            </a:srgbClr>
          </a:solidFill>
          <a:ln w="15240">
            <a:solidFill>
              <a:srgbClr val="19766F"/>
            </a:solidFill>
            <a:prstDash val="solid"/>
          </a:ln>
        </p:spPr>
      </p:sp>
      <p:sp>
        <p:nvSpPr>
          <p:cNvPr id="14" name="Text 12"/>
          <p:cNvSpPr/>
          <p:nvPr/>
        </p:nvSpPr>
        <p:spPr>
          <a:xfrm>
            <a:off x="914400" y="5001768"/>
            <a:ext cx="1097280" cy="219456"/>
          </a:xfrm>
          <a:prstGeom prst="rect">
            <a:avLst/>
          </a:prstGeom>
          <a:noFill/>
          <a:ln/>
        </p:spPr>
        <p:txBody>
          <a:bodyPr wrap="square" lIns="0" tIns="0" rIns="0" bIns="0" rtlCol="0" anchor="ctr"/>
          <a:lstStyle/>
          <a:p>
            <a:pPr indent="0" marL="0">
              <a:buNone/>
            </a:pPr>
            <a:r>
              <a:rPr lang="en-US" sz="1300" b="1" spc="80" kern="0" dirty="0">
                <a:solidFill>
                  <a:srgbClr val="0B4F4A"/>
                </a:solidFill>
                <a:latin typeface="Aptos" pitchFamily="34" charset="0"/>
                <a:ea typeface="Aptos" pitchFamily="34" charset="-122"/>
                <a:cs typeface="Aptos" pitchFamily="34" charset="-120"/>
              </a:rPr>
              <a:t>NEXT STEP</a:t>
            </a:r>
            <a:endParaRPr lang="en-US" sz="1300" dirty="0"/>
          </a:p>
        </p:txBody>
      </p:sp>
      <p:sp>
        <p:nvSpPr>
          <p:cNvPr id="15" name="Text 13"/>
          <p:cNvSpPr/>
          <p:nvPr/>
        </p:nvSpPr>
        <p:spPr>
          <a:xfrm>
            <a:off x="2084832" y="4910328"/>
            <a:ext cx="9107424" cy="585216"/>
          </a:xfrm>
          <a:prstGeom prst="rect">
            <a:avLst/>
          </a:prstGeom>
          <a:noFill/>
          <a:ln/>
        </p:spPr>
        <p:txBody>
          <a:bodyPr wrap="square" lIns="0" tIns="0" rIns="0" bIns="0" rtlCol="0" anchor="ctr">
            <a:normAutofit/>
          </a:bodyPr>
          <a:lstStyle/>
          <a:p>
            <a:pPr indent="0" marL="0">
              <a:buNone/>
            </a:pPr>
            <a:r>
              <a:rPr lang="en-US" sz="1900" b="1" dirty="0">
                <a:solidFill>
                  <a:srgbClr val="17343A"/>
                </a:solidFill>
                <a:latin typeface="Aptos" pitchFamily="34" charset="0"/>
                <a:ea typeface="Aptos" pitchFamily="34" charset="-122"/>
                <a:cs typeface="Aptos" pitchFamily="34" charset="-120"/>
              </a:rPr>
              <a:t>Complete the teacher-nominated response or activity, save only privacy-safe learning evidence, and ask before acting when a procedure or authority limit is unclear.</a:t>
            </a:r>
            <a:endParaRPr lang="en-US" sz="1900" dirty="0"/>
          </a:p>
        </p:txBody>
      </p:sp>
      <p:sp>
        <p:nvSpPr>
          <p:cNvPr id="16" name="Shape 14"/>
          <p:cNvSpPr/>
          <p:nvPr/>
        </p:nvSpPr>
        <p:spPr>
          <a:xfrm>
            <a:off x="530352" y="6473952"/>
            <a:ext cx="11128248" cy="0"/>
          </a:xfrm>
          <a:prstGeom prst="line">
            <a:avLst/>
          </a:prstGeom>
          <a:noFill/>
          <a:ln w="15240">
            <a:solidFill>
              <a:srgbClr val="B8D9D3"/>
            </a:solidFill>
            <a:prstDash val="solid"/>
          </a:ln>
        </p:spPr>
      </p:sp>
      <p:sp>
        <p:nvSpPr>
          <p:cNvPr id="17" name="Text 15"/>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1</a:t>
            </a:r>
            <a:endParaRPr lang="en-US" sz="1050" dirty="0"/>
          </a:p>
        </p:txBody>
      </p:sp>
      <p:sp>
        <p:nvSpPr>
          <p:cNvPr id="18" name="Text 16"/>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18 / 18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TAS Faculty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 — Safety in the Kitchen</dc:title>
  <dc:subject>SIT20322 Hospitality Task 1 classroom teaching deck</dc:subject>
  <dc:creator>TAS Faculty</dc:creator>
  <cp:lastModifiedBy>TAS Faculty</cp:lastModifiedBy>
  <cp:revision>1</cp:revision>
  <dcterms:created xsi:type="dcterms:W3CDTF">2026-08-20T14:31:54Z</dcterms:created>
  <dcterms:modified xsi:type="dcterms:W3CDTF">2026-08-20T14:31:54Z</dcterms:modified>
</cp:coreProperties>
</file>