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purpose: Introduce Task 3 as a connected learning sequence. Ask students what they already know about map the industry, verify the source, apply the finding.
Keep assessment products, local procedures, recipes, equipment settings and work-placement administration with the current authorised teacher or RTO source.
[Sources]
Module content and source notes: task3-modules.json. Qualification and task identity: signed 2026–2027 Hospitality 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Turn a broad hospitality topic into a focused workplace question, distinguish current evidence from opinion and show how information can improve day-to-day work.
Teach from this module:
1. Industry knowledge belongs in day-to-day work: Hospitality workers use industry information when they explain a service, respond to a change, check a requirement, choose a reliable source or suggest an improvement. Useful knowledge is connected to an operational duty. It helps a worker make a clearer decision, communicate accurately or recognise when an issue must be checked with someone who has authority.
2. Build a question that can guide a decision: A focused industry question names the topic, the role or workplace context and the reason the answer matters. Compare a broad topic such as careers in hotels with a decision-ready question such as which official sources can help a new accommodation worker compare the general responsibilities and entry pathways of two roles.
3. Current and emerging are evidence claims: Current information is information whose status and reference period can be checked now. Emerging information describes a development that is new, growing or being tested, but the label still needs evidence. A recent publication date alone does not prove that every claim in a page is current, and a widely repeated idea is not automatically an industry trend.
Supplied worked example — Industry knowledge belongs in day-to-day work: A café team hears that a digital ordering feature has changed. The useful question is not simply whether the feature is popular. The team needs to know what has changed in the order workflow, which source confirms it, what staff must learn and how service continues if the feature is unavailable.
Check: Which question is most useful for a hospitality worker preparing for a new ordering process?
Listen for: How does the authorised ordering process change my accuracy checks and who confirms the fallback when the system is unavailable? — Correct. It names the workflow, the worker's duty and the information needed for an authorised response.
If students choose “What is everything that has ever changed in hospitality technology?”: Not yet. The scope is too broad to guide one operational decision or identify which evidence matters.
Help cue: Review how a focused question names the context, decision and source authority.
Guided response: Write a focused hospitality-industry question for a fictional or teacher-issued workplace context. Explain why it matters, identify two suitable source types and state one decision the finding could inform. Help: Name one workplace duty or decision. Avoid broad topics, undated statistics and claims that a source applies everywhere.
Apply: Workplace question canvas. Use a teacher-issued scenario or a fictional café, accommodation or function context. Build the question card that will begin the existing industry-brief activity.
Source boundary: Use a fictional or teacher-issued context. A research question is learning evidence, not a replacement for the current assessment task or a claim about a real workplace.
[Sources]
The focus on current and emerging information, day-to-day application, economic and social significance, source recording and workplace improvement is source-supported. No current statistic or local research question has been prescribed. Source IDs: TAS-2026-2027, TEACHER-T3-RESOURCE, SITE-T3-V2, TGA-SITHIND006, TGA-SITHIND006-AR, GOV-JSA-INDUSTRY, GOV-TRA-ANALYSIS.
Local generated visual: assets/visuals/task-3-01-industry-purpose.svg;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Map the functions and characteristics of hospitality sectors, allied industries and suppliers, then trace how information moves across a customer experience.
Teach from this module:
1. A sector groups related functions, not identical businesses: Industry sectors help organise businesses with related main functions. Accommodation businesses provide places to stay and connected guest services. Food and beverage businesses prepare, sell or serve food and drinks in varied settings. Functions, venues, clubs and visitor services can overlap with these areas, while each business still has its own service style, customers, size and operating context.
2. The customer sees one experience, not separate departments: A hospitality experience often crosses several work areas. A booking may create information for reception, a function team, kitchen, beverage service, accounts and cleaning. Each area performs a different function, yet the customer judges the combined outcome. Accuracy at the handover matters as much as the quality of the individual task.
3. Allied and related industries extend the service system: Hospitality connects with industries and services beyond the venue. Examples can include tourism and travel, transport, entertainment, events, retail, agriculture and food production, technology, training, cleaning, maintenance and waste services. The relationship matters when another organisation supplies a product, information, infrastructure or customer connection.
Supplied worked example — A sector groups related functions, not identical businesses: A hotel may connect accommodation, reception, housekeeping, food and beverage, functions and maintenance. A small motel may use a much narrower role structure. Both are accommodation contexts, but their work relationships are not identical.
Check: Why is a supplier part of a hospitality service system?
Listen for: Because supplier information, availability, quality or timing can affect what the venue can promise and deliver. — Correct. The relationship becomes operational when the supplier's input changes a product, service or team decision.
If students choose “Because suppliers make every customer-service decision for the venue.”: Not yet. Suppliers provide inputs and information, but venue responsibilities and authority still belong to the relevant workplace roles.
Help cue: Review the promised input, receiving role and handover check in a supplier relationship.
Guided response: Trace one fictional café order, accommodation stay or function booking across at least four work areas, sectors or supporting services. Identify the information passed at each connection and analyse one likely handover failure. Help: Describe functions and information, not just business names. Use fictional identifiers and explain why each connection matters.
Apply: Customer-journey industry map. Use a teacher-issued scenario or create a fictional service journey. Build a map with sectors, allied services, supplier input and closed-loop handovers.
Source boundary: Use public, fictional or teacher-issued information only. Do not identify a placement business, copy a booking, disclose a supplier arrangement or present an unverified local service as current fact.
[Sources]
Sector characteristics, functions, local and regional features, allied industries, supplier relationships and cross-sector work are explicit knowledge domains. Examples remain illustrative and do not assert a current local business map. Source IDs: TAS-2026-2027, TEACHER-T3-RESOURCE, SITE-T3-V2, TGA-SITHIND006-AR, GOV-JSA-INDUSTRY, GOV-TRA-ANALYSIS.
Local generated visual: assets/visuals/task-3-02-sectors-relationships.svg;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Investigate hospitality roles through duties, conditions, pathways, work ethic and authoritative employment information without turning a career snapshot into personal or legal advice.
Teach from this module:
1. Look past the job title: A job title is a starting point, not a complete role description. The same title can involve different duties in a café, hotel, club, function venue or catering operation. Compare the products or services supported, customer contact, equipment or systems used, team relationships, supervision and decisions within the role.
2. Responsibility includes knowing the boundary: General responsibilities can include accurate communication, safe and ethical conduct, customer service, product knowledge, teamwork, record keeping and care of work areas. Exact duties and authority depend on the workplace, training and current direction. Research should therefore separate common role patterns from local instructions.
3. Work ethic is visible in repeated choices: Work ethic is not a vague claim that someone is a good worker. It can be evidenced through punctual preparation, reliability, honest communication, care for quality, respectful teamwork, appropriate initiative, willingness to learn, response to feedback and completion of agreed duties. The behaviour needs a context and an effect.
Supplied worked example — Look past the job title: Two workers are both called food and beverage attendants. In one fictional venue the role centres on counter orders and table clearing; in another it supports functions, setup and coordinated table service. The title alone cannot establish the exact duties.
Check: Which role snapshot provides the strongest evidence?
Listen for: The role supports the service by completing named duties, using specified information and handing changes to the responsible role. — Correct. It describes observable contribution and role boundaries rather than relying on a label.
If students choose “Baristas are friendly and chefs are creative.”: Not yet. These are stereotypes and do not identify duties, context, authority or evidence.
Help cue: Review how service contribution and work context make a role description useful.
Guided response: Create a source-safe snapshot of one hospitality role. Explain four general responsibilities, two observable work-ethic behaviours, one employment-information source, one training or occupation source and one possible pathway. Help: Use general, source-supported role information. Do not invent pay, vacancies, a promotion promise, a local position description or advice for a real person's employment situation.
Apply: Role and pathway source comparison. Use a fictional role or a teacher-approved public vacancy with all personal and business-specific details removed. Compare what three source types can and cannot establish.
Source boundary: Do not identify an applicant, employee, employer or placement business. Do not give individual pay, discrimination, entitlement or career advice; direct real questions to current official tools and appropriate support.
[Sources]
Career opportunities, general role responsibilities, work ethic, industrial-relations concepts and equal employment opportunity are source-supported knowledge domains. No pay rate, award coverage, vacancy, pathway guarantee or individual legal conclusion is supplied. Source IDs: TAS-2026-2027, TEACHER-T3-RESOURCE, SITE-T3-V2, TGA-SITHIND006, TGA-SITHIND006-AR, GOV-JSA-INDUSTRY, GOV-FAIRWORK-AWARDS, GOV-AHRC-WORKPLACE.
Local generated visual: assets/visuals/task-3-03-roles-careers-work-ethic.svg;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Choose and test hospitality information sources, route compliance questions to the responsible authority and connect quality information to an authorised improvement.
Teach from this module:
1. Hospitality information comes from different kinds of authority: Useful sources can include government regulators, developers of codes or ethics, industry associations, accreditation operators, unions, training, journals, seminars, suppliers, colleagues, experienced industry personnel and personal observation. Each source type has a different purpose. A regulator may explain a law in plain English; a supplier may explain a product update; a workplace procedure controls the local method.
2. Test authority, currency, jurisdiction, relevance and traceability: Authority asks whether the publisher is responsible or qualified for the claim. Currency asks when the content and underlying evidence were updated. Jurisdiction asks where the information applies. Relevance asks whether it answers this role and decision. Traceability asks whether another person can find the source and see how the conclusion was reached.
3. Triangulation gives sources different jobs: Triangulation is more than finding three pages that repeat the same sentence. Use sources with complementary roles. One might establish the official requirement or unit intent, another might provide current industry context, and a workplace or experienced-person source might explain how the information affects a duty.
Supplied worked example — Hospitality information comes from different kinds of authority: A worker notices that two team members describe a food-business requirement differently. The observation identifies a need to check; the current NSW regulator source clarifies the public guidance; the authorised workplace process determines how the local team applies it.
Check: A worker needs current plain-English information about a NSW food-business requirement. Where should the search begin?
Listen for: A current NSW regulator source responsible for food-business guidance. — Correct. Starting with the responsible regulator gives the question an appropriate authority and jurisdiction.
If students choose “An undated personal blog because it uses simple language.”: Not yet. Plain language is useful, but the source still lacks verified authority, currency and jurisdiction.
Help cue: Review how topic, role and jurisdiction identify the responsible source.
Guided response: Appraise one current official hospitality source for a teacher-issued question. Record the organisation, title, date or status, jurisdiction, key finding, evidence period if relevant, authority, limitation and one authorised workplace application. Help: Evaluate the source for one exact claim. Do not copy long passages, give legal advice or treat an official national page as a local workplace procedure.
Apply: Three-source decision trail. Prepare this module's source card, then combine it with the existing two-source industry-brief activity so the learning trail uses three distinct source types. The authorised assessment package controls the formal evidence required.
Source boundary: Use public official sources and teacher-authorised scenarios. Do not upload protected documents, copy another student's research, disclose a workplace record or present the practice trail as the current formal assessment.
[Sources]
The source types, plain-English regulator documents, compliance topics, ethical issues and quality-assurance categories reflect current unit knowledge evidence. The package teaches routing and application, not legal advice or universal local requirements. Source IDs: TAS-2026-2027, TEACHER-T3-RESOURCE, SITE-T3-V2, TGA-SITHIND006, TGA-SITHIND006-AR, GOV-NSW-FOOD-AUTHORITY, GOV-SAFEWORK-NSW, GOV-FAIRWORK-AWARDS, GOV-AHRC-WORKPLACE.
Local generated visual: assets/visuals/task-3-04-sources-compliance-quality.svg;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Evaluate current and emerging hospitality technology through workflow impact, evidence quality, customer and worker risks, fallback planning and an authorised improvement proposal.
Teach from this module:
1. Hospitality technology supports connected systems: Current unit knowledge spans catering systems, applications for devices and computers, computer-aided despatch, food production, online booking, reservations, operations, financial and tracking systems, project management and social media. These categories describe functions; they do not require every workplace to use a particular product.
2. A trend needs a source, period and scope: Technology marketing often uses words such as leading, smart, seamless or essential. These descriptions are claims, not evidence. To identify a current or emerging trend, check who reports it, what evidence period and market are covered, whether the source explains its method and whether the development affects the named hospitality role.
3. Map the workflow before judging the tool: A technology should be evaluated against the work it changes. Map the trigger, information entered, decisions supported, handovers, customer touchpoints, records and end result. Then compare the current and proposed workflow. A faster screen is not an improvement if it creates duplicate entry, hides an allergy message or leaves no clear owner.
Supplied worked example — Hospitality technology supports connected systems: A fictional venue introduces a shared event-planning system. The change affects who enters updates, how versions are identified, which staff can view customer information and what happens when access is unavailable.
Check: A vendor calls its system essential for every modern venue. What is the strongest research response?
Listen for: Check a current method-transparent source, compare the claim with the named workflow and record what remains unproven. — Correct. This tests the trend claim and keeps the local adoption decision separate.
If students choose “Treat the marketing claim as proof of an industry-wide trend.”: Not yet. A vendor can explain features, but the adoption claim still needs independent evidence, scope and a reference period.
Help cue: Review how source purpose, evidence period and workflow relevance test a trend claim.
Guided response: Evaluate one teacher-issued hospitality technology or trend scenario. Explain the verified change, one benefit, two risks, the affected roles, a fallback and an authorised way to test whether it improves the work. Help: Evaluate the workflow rather than advertising language. Use fictional data, record the evidence period and refer exact settings, privacy duties and implementation decisions to current authorised sources.
Apply: Technology change canvas. Use a teacher-issued fictional technology scenario. Compare the current and proposed workflows, then prepare a short improvement pitch with risks, fallback and review evidence.
Source boundary: Use fictional systems, bookings and data. Do not enter credentials, customer information, private screenshots, vendor contracts, local settings or a claim that the proposed tool is approved.
[Sources]
The technology categories, current and emerging information, workplace improvement and knowledge-sharing cycle are source-supported. Privacy and cyber-security are treated as source-routing and operational-risk questions, not legal advice; no product is presented as required or approved. Source IDs: TAS-2026-2027, TEACHER-T3-RESOURCE, SITE-T3-V2, TGA-SITHIND006, TGA-SITHIND006-AR, GOV-TRA-ANALYSIS, GOV-CYBER-CUSTOMER-DATA, GOV-OAIC-SMALL-BUSINESS.
Local generated visual: assets/visuals/task-3-05-technology-trends.svg;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focus: Synthesise current hospitality information into a concise, traceable briefing that a colleague can use, then test understanding and improve the recommendation.
Teach from this module:
1. A brief is written for someone to use: An industry brief is shorter than a research report but still traceable. It tells a named audience what they need to know, why it matters for their work and what next step the evidence supports. The opening should state the focused question, role or context and decision without making the reader search for the purpose.
2. Give each source a job in the evidence matrix: A defensible learning brief uses multiple source types and records what each contributes. The current unit's performance evidence includes sourcing and documenting industry information using at least three information sources. This package uses a three-source practice pattern, while the current authorised assessment package controls the formal evidence students must submit.
3. Synthesis explains the relationship between findings: A source-by-source list makes the reader do the thinking. Synthesis groups evidence around the workplace question. It shows where sources agree, where they address different parts of the issue and where their scope prevents a direct comparison.
Supplied worked example — A brief is written for someone to use: A brief about a fictional booking-system change begins: This note helps reception and function staff understand how the proposed update could change booking handovers. It does not begin with a history of hospitality technology.
Check: What makes three sources a useful evidence set?
Listen for: Each has a clear role, such as official requirement, current context and workplace application, with scope and limitations recorded. — Correct. Complementary sources build a traceable argument instead of inflating the source count.
If students choose “They are three copies of the same unattributed claim.”: Not yet. Repetition does not add independent authority, context or workplace application.
Help cue: Review the distinct contribution and limitation recorded for each source.
Guided response: Write the final applied industry brief for a fictional or teacher-issued hospitality question. Include the question, audience, three-source synthesis, key finding, limitation, workplace effect, authorised recommendation, review evidence and one follow-up question. Help: Write one connected argument rather than three source summaries. Keep dates, scope and limitations visible and remove all real customer, worker, student and private workplace information.
Apply: Brief, share, probe and revise. Complete the existing industry-brief activity with public official sources and a fictional or teacher-issued context. Deliver a short verbal brief to a partner, use one open and one closed probe question, then revise from the feedback.
Source boundary: This is a learning and evidence-organising activity. The current authorised assessment package controls formal instructions, source count, sharing conditions and submission. Do not use assessor answers, student work or private workplace information.
[Sources]
Sourcing and documenting current information, interpreting and sharing multiple knowledge domains, applying a finding to work performance, written summary and probe questioning are source-supported. The three-source pattern reflects current unit performance evidence but does not reproduce or replace the local assessment package. Source IDs: TAS-2026-2027, TEACHER-T3-RESOURCE, SITE-T3-V2, TGA-SITHIND006, TGA-SITHIND006-AR.
Local generated visual: assets/visuals/task-3-06-industry-brief-share.svg; provenance and accuracy boundary are recorded in task3-modules.json.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Delivery check: return to one purpose, one visual decision and one retrieval question rather than adding a generic recap.
Before formal assessment or practical work, confirm the current student package, local procedures, recipes, equipment instructions, adjustments and evidence destination.
Use the site module response and applied action as formative learning only unless the authorised package says otherwise.
[Sources]
Task source notes and evidence prompts: task3-modules.json. Local administration and assessment requirements remain controlled by the current teacher or RTO source.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sv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svg"/><Relationship Id="rId3" Type="http://schemas.openxmlformats.org/officeDocument/2006/relationships/slideLayout" Target="../slideLayouts/slideLayout1.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sv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sv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sv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Shape 0"/>
          <p:cNvSpPr/>
          <p:nvPr/>
        </p:nvSpPr>
        <p:spPr>
          <a:xfrm>
            <a:off x="8412480" y="-1097280"/>
            <a:ext cx="4846320" cy="4846320"/>
          </a:xfrm>
          <a:prstGeom prst="ellipse">
            <a:avLst/>
          </a:prstGeom>
          <a:solidFill>
            <a:srgbClr val="5C8E8A">
              <a:alpha val="85000"/>
            </a:srgbClr>
          </a:solidFill>
          <a:ln w="12700">
            <a:solidFill>
              <a:srgbClr val="5C8E8A">
                <a:alpha val="0"/>
              </a:srgbClr>
            </a:solidFill>
            <a:prstDash val="solid"/>
          </a:ln>
        </p:spPr>
      </p:sp>
      <p:sp>
        <p:nvSpPr>
          <p:cNvPr id="3" name="Shape 1"/>
          <p:cNvSpPr/>
          <p:nvPr/>
        </p:nvSpPr>
        <p:spPr>
          <a:xfrm>
            <a:off x="9464040" y="73152"/>
            <a:ext cx="2057400" cy="2057400"/>
          </a:xfrm>
          <a:prstGeom prst="ellipse">
            <a:avLst/>
          </a:prstGeom>
          <a:solidFill>
            <a:srgbClr val="FBF3E6"/>
          </a:solidFill>
          <a:ln w="12700">
            <a:solidFill>
              <a:srgbClr val="FBF3E6">
                <a:alpha val="0"/>
              </a:srgbClr>
            </a:solidFill>
            <a:prstDash val="solid"/>
          </a:ln>
        </p:spPr>
      </p:sp>
      <p:sp>
        <p:nvSpPr>
          <p:cNvPr id="4" name="Text 2"/>
          <p:cNvSpPr/>
          <p:nvPr/>
        </p:nvSpPr>
        <p:spPr>
          <a:xfrm>
            <a:off x="9464040" y="283464"/>
            <a:ext cx="2057400" cy="1572768"/>
          </a:xfrm>
          <a:prstGeom prst="rect">
            <a:avLst/>
          </a:prstGeom>
          <a:noFill/>
          <a:ln/>
        </p:spPr>
        <p:txBody>
          <a:bodyPr wrap="square" lIns="0" tIns="0" rIns="0" bIns="0" rtlCol="0" anchor="ctr"/>
          <a:lstStyle/>
          <a:p>
            <a:pPr algn="ctr" indent="0" marL="0">
              <a:buNone/>
            </a:pPr>
            <a:r>
              <a:rPr lang="en-US" sz="8000" b="1" dirty="0">
                <a:solidFill>
                  <a:srgbClr val="0B4F4A"/>
                </a:solidFill>
                <a:latin typeface="Aptos Display" pitchFamily="34" charset="0"/>
                <a:ea typeface="Aptos Display" pitchFamily="34" charset="-122"/>
                <a:cs typeface="Aptos Display" pitchFamily="34" charset="-120"/>
              </a:rPr>
              <a:t>3</a:t>
            </a:r>
            <a:endParaRPr lang="en-US" sz="8000" dirty="0"/>
          </a:p>
        </p:txBody>
      </p:sp>
      <p:sp>
        <p:nvSpPr>
          <p:cNvPr id="5" name="Text 3"/>
          <p:cNvSpPr/>
          <p:nvPr/>
        </p:nvSpPr>
        <p:spPr>
          <a:xfrm>
            <a:off x="676656" y="658368"/>
            <a:ext cx="7040880" cy="256032"/>
          </a:xfrm>
          <a:prstGeom prst="rect">
            <a:avLst/>
          </a:prstGeom>
          <a:noFill/>
          <a:ln/>
        </p:spPr>
        <p:txBody>
          <a:bodyPr wrap="square" lIns="0" tIns="0" rIns="0" bIns="0" rtlCol="0" anchor="ctr"/>
          <a:lstStyle/>
          <a:p>
            <a:pPr indent="0" marL="0">
              <a:buNone/>
            </a:pPr>
            <a:r>
              <a:rPr lang="en-US" sz="1500" b="1" spc="120" kern="0" dirty="0">
                <a:solidFill>
                  <a:srgbClr val="F3DFB0"/>
                </a:solidFill>
                <a:latin typeface="Aptos" pitchFamily="34" charset="0"/>
                <a:ea typeface="Aptos" pitchFamily="34" charset="-122"/>
                <a:cs typeface="Aptos" pitchFamily="34" charset="-120"/>
              </a:rPr>
              <a:t>SIT20322 CERTIFICATE II IN HOSPITALITY</a:t>
            </a:r>
            <a:endParaRPr lang="en-US" sz="1500" dirty="0"/>
          </a:p>
        </p:txBody>
      </p:sp>
      <p:sp>
        <p:nvSpPr>
          <p:cNvPr id="6" name="Text 4"/>
          <p:cNvSpPr/>
          <p:nvPr/>
        </p:nvSpPr>
        <p:spPr>
          <a:xfrm>
            <a:off x="658368" y="1170432"/>
            <a:ext cx="7909560" cy="1353312"/>
          </a:xfrm>
          <a:prstGeom prst="rect">
            <a:avLst/>
          </a:prstGeom>
          <a:noFill/>
          <a:ln/>
        </p:spPr>
        <p:txBody>
          <a:bodyPr wrap="square" lIns="254" tIns="254" rIns="254" bIns="254" rtlCol="0" anchor="ctr">
            <a:normAutofit/>
          </a:bodyPr>
          <a:lstStyle/>
          <a:p>
            <a:pPr indent="0" marL="0">
              <a:buNone/>
            </a:pPr>
            <a:r>
              <a:rPr lang="en-US" sz="5000" b="1" dirty="0">
                <a:solidFill>
                  <a:srgbClr val="FFFFFF"/>
                </a:solidFill>
                <a:latin typeface="Aptos Display" pitchFamily="34" charset="0"/>
                <a:ea typeface="Aptos Display" pitchFamily="34" charset="-122"/>
                <a:cs typeface="Aptos Display" pitchFamily="34" charset="-120"/>
              </a:rPr>
              <a:t>Task 3 · The Hospitality Industry</a:t>
            </a:r>
            <a:endParaRPr lang="en-US" sz="5000" dirty="0"/>
          </a:p>
        </p:txBody>
      </p:sp>
      <p:sp>
        <p:nvSpPr>
          <p:cNvPr id="7" name="Text 5"/>
          <p:cNvSpPr/>
          <p:nvPr/>
        </p:nvSpPr>
        <p:spPr>
          <a:xfrm>
            <a:off x="685800" y="2743200"/>
            <a:ext cx="7818120" cy="950976"/>
          </a:xfrm>
          <a:prstGeom prst="rect">
            <a:avLst/>
          </a:prstGeom>
          <a:noFill/>
          <a:ln/>
        </p:spPr>
        <p:txBody>
          <a:bodyPr wrap="square" lIns="0" tIns="0" rIns="0" bIns="0" rtlCol="0" anchor="ctr"/>
          <a:lstStyle/>
          <a:p>
            <a:pPr indent="0" marL="0">
              <a:buNone/>
            </a:pPr>
            <a:r>
              <a:rPr lang="en-US" sz="2300" dirty="0">
                <a:solidFill>
                  <a:srgbClr val="FBF3E6"/>
                </a:solidFill>
                <a:latin typeface="Aptos" pitchFamily="34" charset="0"/>
                <a:ea typeface="Aptos" pitchFamily="34" charset="-122"/>
                <a:cs typeface="Aptos" pitchFamily="34" charset="-120"/>
              </a:rPr>
              <a:t>Map the connected industry, test current information and apply reliable findings to workplace decisions.</a:t>
            </a:r>
            <a:endParaRPr lang="en-US" sz="2300" dirty="0"/>
          </a:p>
        </p:txBody>
      </p:sp>
      <p:sp>
        <p:nvSpPr>
          <p:cNvPr id="8" name="Shape 6"/>
          <p:cNvSpPr/>
          <p:nvPr/>
        </p:nvSpPr>
        <p:spPr>
          <a:xfrm>
            <a:off x="685800" y="4096512"/>
            <a:ext cx="10835640" cy="0"/>
          </a:xfrm>
          <a:prstGeom prst="line">
            <a:avLst/>
          </a:prstGeom>
          <a:noFill/>
          <a:ln w="16510">
            <a:solidFill>
              <a:srgbClr val="B8D9D3">
                <a:alpha val="65000"/>
              </a:srgbClr>
            </a:solidFill>
            <a:prstDash val="solid"/>
          </a:ln>
        </p:spPr>
      </p:sp>
      <p:sp>
        <p:nvSpPr>
          <p:cNvPr id="9" name="Text 7"/>
          <p:cNvSpPr/>
          <p:nvPr/>
        </p:nvSpPr>
        <p:spPr>
          <a:xfrm>
            <a:off x="685800" y="4407408"/>
            <a:ext cx="493776" cy="347472"/>
          </a:xfrm>
          <a:prstGeom prst="rect">
            <a:avLst/>
          </a:prstGeom>
          <a:noFill/>
          <a:ln/>
        </p:spPr>
        <p:txBody>
          <a:bodyPr wrap="square" lIns="0" tIns="0" rIns="0" bIns="0" rtlCol="0" anchor="ctr"/>
          <a:lstStyle/>
          <a:p>
            <a:pPr indent="0" marL="0">
              <a:buNone/>
            </a:pPr>
            <a:r>
              <a:rPr lang="en-US" sz="1800" b="1" dirty="0">
                <a:solidFill>
                  <a:srgbClr val="5C8E8A"/>
                </a:solidFill>
                <a:latin typeface="Aptos Display" pitchFamily="34" charset="0"/>
                <a:ea typeface="Aptos Display" pitchFamily="34" charset="-122"/>
                <a:cs typeface="Aptos Display" pitchFamily="34" charset="-120"/>
              </a:rPr>
              <a:t>01</a:t>
            </a:r>
            <a:endParaRPr lang="en-US" sz="1800" dirty="0"/>
          </a:p>
        </p:txBody>
      </p:sp>
      <p:sp>
        <p:nvSpPr>
          <p:cNvPr id="10" name="Text 8"/>
          <p:cNvSpPr/>
          <p:nvPr/>
        </p:nvSpPr>
        <p:spPr>
          <a:xfrm>
            <a:off x="1234440"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Map the industry</a:t>
            </a:r>
            <a:endParaRPr lang="en-US" sz="2000" dirty="0"/>
          </a:p>
        </p:txBody>
      </p:sp>
      <p:sp>
        <p:nvSpPr>
          <p:cNvPr id="11" name="Text 9"/>
          <p:cNvSpPr/>
          <p:nvPr/>
        </p:nvSpPr>
        <p:spPr>
          <a:xfrm>
            <a:off x="4279392" y="4407408"/>
            <a:ext cx="493776" cy="347472"/>
          </a:xfrm>
          <a:prstGeom prst="rect">
            <a:avLst/>
          </a:prstGeom>
          <a:noFill/>
          <a:ln/>
        </p:spPr>
        <p:txBody>
          <a:bodyPr wrap="square" lIns="0" tIns="0" rIns="0" bIns="0" rtlCol="0" anchor="ctr"/>
          <a:lstStyle/>
          <a:p>
            <a:pPr indent="0" marL="0">
              <a:buNone/>
            </a:pPr>
            <a:r>
              <a:rPr lang="en-US" sz="1800" b="1" dirty="0">
                <a:solidFill>
                  <a:srgbClr val="5C8E8A"/>
                </a:solidFill>
                <a:latin typeface="Aptos Display" pitchFamily="34" charset="0"/>
                <a:ea typeface="Aptos Display" pitchFamily="34" charset="-122"/>
                <a:cs typeface="Aptos Display" pitchFamily="34" charset="-120"/>
              </a:rPr>
              <a:t>02</a:t>
            </a:r>
            <a:endParaRPr lang="en-US" sz="1800" dirty="0"/>
          </a:p>
        </p:txBody>
      </p:sp>
      <p:sp>
        <p:nvSpPr>
          <p:cNvPr id="12" name="Text 10"/>
          <p:cNvSpPr/>
          <p:nvPr/>
        </p:nvSpPr>
        <p:spPr>
          <a:xfrm>
            <a:off x="4828032"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Verify the source</a:t>
            </a:r>
            <a:endParaRPr lang="en-US" sz="2000" dirty="0"/>
          </a:p>
        </p:txBody>
      </p:sp>
      <p:sp>
        <p:nvSpPr>
          <p:cNvPr id="13" name="Text 11"/>
          <p:cNvSpPr/>
          <p:nvPr/>
        </p:nvSpPr>
        <p:spPr>
          <a:xfrm>
            <a:off x="7872984" y="4407408"/>
            <a:ext cx="493776" cy="347472"/>
          </a:xfrm>
          <a:prstGeom prst="rect">
            <a:avLst/>
          </a:prstGeom>
          <a:noFill/>
          <a:ln/>
        </p:spPr>
        <p:txBody>
          <a:bodyPr wrap="square" lIns="0" tIns="0" rIns="0" bIns="0" rtlCol="0" anchor="ctr"/>
          <a:lstStyle/>
          <a:p>
            <a:pPr indent="0" marL="0">
              <a:buNone/>
            </a:pPr>
            <a:r>
              <a:rPr lang="en-US" sz="1800" b="1" dirty="0">
                <a:solidFill>
                  <a:srgbClr val="5C8E8A"/>
                </a:solidFill>
                <a:latin typeface="Aptos Display" pitchFamily="34" charset="0"/>
                <a:ea typeface="Aptos Display" pitchFamily="34" charset="-122"/>
                <a:cs typeface="Aptos Display" pitchFamily="34" charset="-120"/>
              </a:rPr>
              <a:t>03</a:t>
            </a:r>
            <a:endParaRPr lang="en-US" sz="1800" dirty="0"/>
          </a:p>
        </p:txBody>
      </p:sp>
      <p:sp>
        <p:nvSpPr>
          <p:cNvPr id="14" name="Text 12"/>
          <p:cNvSpPr/>
          <p:nvPr/>
        </p:nvSpPr>
        <p:spPr>
          <a:xfrm>
            <a:off x="8421624" y="4361688"/>
            <a:ext cx="2697480" cy="676656"/>
          </a:xfrm>
          <a:prstGeom prst="rect">
            <a:avLst/>
          </a:prstGeom>
          <a:noFill/>
          <a:ln/>
        </p:spPr>
        <p:txBody>
          <a:bodyPr wrap="square" lIns="0" tIns="0" rIns="0" bIns="0" rtlCol="0" anchor="ctr"/>
          <a:lstStyle/>
          <a:p>
            <a:pPr indent="0" marL="0">
              <a:buNone/>
            </a:pPr>
            <a:r>
              <a:rPr lang="en-US" sz="2000" b="1" dirty="0">
                <a:solidFill>
                  <a:srgbClr val="FFFFFF"/>
                </a:solidFill>
                <a:latin typeface="Aptos" pitchFamily="34" charset="0"/>
                <a:ea typeface="Aptos" pitchFamily="34" charset="-122"/>
                <a:cs typeface="Aptos" pitchFamily="34" charset="-120"/>
              </a:rPr>
              <a:t>Apply the finding</a:t>
            </a:r>
            <a:endParaRPr lang="en-US" sz="2000" dirty="0"/>
          </a:p>
        </p:txBody>
      </p:sp>
      <p:sp>
        <p:nvSpPr>
          <p:cNvPr id="15" name="Text 13"/>
          <p:cNvSpPr/>
          <p:nvPr/>
        </p:nvSpPr>
        <p:spPr>
          <a:xfrm>
            <a:off x="685800" y="6062472"/>
            <a:ext cx="7040880" cy="274320"/>
          </a:xfrm>
          <a:prstGeom prst="rect">
            <a:avLst/>
          </a:prstGeom>
          <a:noFill/>
          <a:ln/>
        </p:spPr>
        <p:txBody>
          <a:bodyPr wrap="square" lIns="0" tIns="0" rIns="0" bIns="0" rtlCol="0" anchor="ctr"/>
          <a:lstStyle/>
          <a:p>
            <a:pPr indent="0" marL="0">
              <a:buNone/>
            </a:pPr>
            <a:r>
              <a:rPr lang="en-US" sz="1450" dirty="0">
                <a:solidFill>
                  <a:srgbClr val="B8D9D3"/>
                </a:solidFill>
                <a:latin typeface="Aptos" pitchFamily="34" charset="0"/>
                <a:ea typeface="Aptos" pitchFamily="34" charset="-122"/>
                <a:cs typeface="Aptos" pitchFamily="34" charset="-120"/>
              </a:rPr>
              <a:t>6 lesson visuals · retrieval · applied checking</a:t>
            </a:r>
            <a:endParaRPr lang="en-US" sz="1450" dirty="0"/>
          </a:p>
        </p:txBody>
      </p:sp>
      <p:sp>
        <p:nvSpPr>
          <p:cNvPr id="16" name="Text 14"/>
          <p:cNvSpPr/>
          <p:nvPr/>
        </p:nvSpPr>
        <p:spPr>
          <a:xfrm>
            <a:off x="10899648" y="6062472"/>
            <a:ext cx="640080" cy="274320"/>
          </a:xfrm>
          <a:prstGeom prst="rect">
            <a:avLst/>
          </a:prstGeom>
          <a:noFill/>
          <a:ln/>
        </p:spPr>
        <p:txBody>
          <a:bodyPr wrap="square" lIns="0" tIns="0" rIns="0" bIns="0" rtlCol="0" anchor="ctr"/>
          <a:lstStyle/>
          <a:p>
            <a:pPr algn="r" indent="0" marL="0">
              <a:buNone/>
            </a:pPr>
            <a:r>
              <a:rPr lang="en-US" sz="1200" dirty="0">
                <a:solidFill>
                  <a:srgbClr val="B8D9D3"/>
                </a:solidFill>
                <a:latin typeface="Aptos" pitchFamily="34" charset="0"/>
                <a:ea typeface="Aptos" pitchFamily="34" charset="-122"/>
                <a:cs typeface="Aptos" pitchFamily="34" charset="-120"/>
              </a:rPr>
              <a:t>1 / 8</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01</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Industry information with a purpose</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1-industry-purpose-instructional-visual" descr="Research funnel turning a broad hospitality topic into a role-specific question, then separating the sourced fact, workplace meaning, authorised action and limitat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Turn a broad hospitality topic into a focused workplace question, distinguish current evidence from opinion and show how information can improve day-to-day work.</a:t>
            </a:r>
            <a:endParaRPr lang="en-US" sz="17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Industry knowledge belongs in day-to-day work</a:t>
            </a:r>
            <a:endParaRPr lang="en-US" sz="1600" dirty="0"/>
          </a:p>
        </p:txBody>
      </p:sp>
      <p:sp>
        <p:nvSpPr>
          <p:cNvPr id="13" name="Shape 10"/>
          <p:cNvSpPr/>
          <p:nvPr/>
        </p:nvSpPr>
        <p:spPr>
          <a:xfrm>
            <a:off x="734263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Build a question that can guide a decision</a:t>
            </a:r>
            <a:endParaRPr lang="en-US" sz="1600" dirty="0"/>
          </a:p>
        </p:txBody>
      </p:sp>
      <p:sp>
        <p:nvSpPr>
          <p:cNvPr id="15" name="Shape 12"/>
          <p:cNvSpPr/>
          <p:nvPr/>
        </p:nvSpPr>
        <p:spPr>
          <a:xfrm>
            <a:off x="734263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Current and emerging are evidence claims</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Which question is most useful for a hospitality worker preparing for a new ordering process?</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2 / 8</a:t>
            </a:r>
            <a:endParaRPr lang="en-US"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02</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2800" b="1" dirty="0">
                <a:solidFill>
                  <a:srgbClr val="FFFFFF"/>
                </a:solidFill>
                <a:latin typeface="Aptos Display" pitchFamily="34" charset="0"/>
                <a:ea typeface="Aptos Display" pitchFamily="34" charset="-122"/>
                <a:cs typeface="Aptos Display" pitchFamily="34" charset="-120"/>
              </a:rPr>
              <a:t>Sectors, services and working relationships</a:t>
            </a:r>
            <a:endParaRPr lang="en-US" sz="28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2-sectors-relationships-instructional-visual" descr="Fictional hospitality customer journey connecting accommodation, food and beverage, events, transport and suppliers, with labelled information handovers and a closed-loop response to one chang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Map the functions and characteristics of hospitality sectors, allied industries and suppliers, then trace how information moves across a customer experience.</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sector groups related functions, not identical businesses</a:t>
            </a:r>
            <a:endParaRPr lang="en-US" sz="1600" dirty="0"/>
          </a:p>
        </p:txBody>
      </p:sp>
      <p:sp>
        <p:nvSpPr>
          <p:cNvPr id="13" name="Shape 10"/>
          <p:cNvSpPr/>
          <p:nvPr/>
        </p:nvSpPr>
        <p:spPr>
          <a:xfrm>
            <a:off x="53035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The customer sees one experience, not separate departments</a:t>
            </a:r>
            <a:endParaRPr lang="en-US" sz="1600" dirty="0"/>
          </a:p>
        </p:txBody>
      </p:sp>
      <p:sp>
        <p:nvSpPr>
          <p:cNvPr id="15" name="Shape 12"/>
          <p:cNvSpPr/>
          <p:nvPr/>
        </p:nvSpPr>
        <p:spPr>
          <a:xfrm>
            <a:off x="53035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Allied and related industries extend the service system</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Why is a supplier part of a hospitality service system?</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3 / 8</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03</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Roles, careers and work ethic</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3-roles-careers-work-ethic-instructional-visual" descr="Hospitality role evidence board showing duties, observable work ethic, authority boundaries, several possible career moves and separate official sources for occupation, training and employment questions.">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Investigate hospitality roles through duties, conditions, pathways, work ethic and authoritative employment information without turning a career snapshot into personal or legal advice.</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Look past the job title</a:t>
            </a:r>
            <a:endParaRPr lang="en-US" sz="1600" dirty="0"/>
          </a:p>
        </p:txBody>
      </p:sp>
      <p:sp>
        <p:nvSpPr>
          <p:cNvPr id="13" name="Shape 10"/>
          <p:cNvSpPr/>
          <p:nvPr/>
        </p:nvSpPr>
        <p:spPr>
          <a:xfrm>
            <a:off x="734263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Responsibility includes knowing the boundary</a:t>
            </a:r>
            <a:endParaRPr lang="en-US" sz="1600" dirty="0"/>
          </a:p>
        </p:txBody>
      </p:sp>
      <p:sp>
        <p:nvSpPr>
          <p:cNvPr id="15" name="Shape 12"/>
          <p:cNvSpPr/>
          <p:nvPr/>
        </p:nvSpPr>
        <p:spPr>
          <a:xfrm>
            <a:off x="734263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Work ethic is visible in repeated choices</a:t>
            </a:r>
            <a:endParaRPr lang="en-US" sz="1600" dirty="0"/>
          </a:p>
        </p:txBody>
      </p:sp>
      <p:sp>
        <p:nvSpPr>
          <p:cNvPr id="17" name="Shape 14"/>
          <p:cNvSpPr/>
          <p:nvPr/>
        </p:nvSpPr>
        <p:spPr>
          <a:xfrm>
            <a:off x="734263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Which role snapshot provides the strongest evidence?</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4 / 8</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04</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Sources, compliance and quality</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4-sources-compliance-quality-instructional-visual" descr="Hospitality source router testing authority, currency, jurisdiction, relevance and traceability before information enters a quality loop of standard, observation, authorised action and follow-up.">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Choose and test hospitality information sources, route compliance questions to the responsible authority and connect quality information to an authorised improvement.</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Hospitality information comes from different kinds of authority</a:t>
            </a:r>
            <a:endParaRPr lang="en-US" sz="1600" dirty="0"/>
          </a:p>
        </p:txBody>
      </p:sp>
      <p:sp>
        <p:nvSpPr>
          <p:cNvPr id="13" name="Shape 10"/>
          <p:cNvSpPr/>
          <p:nvPr/>
        </p:nvSpPr>
        <p:spPr>
          <a:xfrm>
            <a:off x="53035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Test authority, currency, jurisdiction, relevance and traceability</a:t>
            </a:r>
            <a:endParaRPr lang="en-US" sz="1600" dirty="0"/>
          </a:p>
        </p:txBody>
      </p:sp>
      <p:sp>
        <p:nvSpPr>
          <p:cNvPr id="15" name="Shape 12"/>
          <p:cNvSpPr/>
          <p:nvPr/>
        </p:nvSpPr>
        <p:spPr>
          <a:xfrm>
            <a:off x="53035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Triangulation gives sources different jobs</a:t>
            </a:r>
            <a:endParaRPr lang="en-US" sz="1600" dirty="0"/>
          </a:p>
        </p:txBody>
      </p:sp>
      <p:sp>
        <p:nvSpPr>
          <p:cNvPr id="17" name="Shape 14"/>
          <p:cNvSpPr/>
          <p:nvPr/>
        </p:nvSpPr>
        <p:spPr>
          <a:xfrm>
            <a:off x="530352" y="5029200"/>
            <a:ext cx="4315968" cy="1234440"/>
          </a:xfrm>
          <a:prstGeom prst="roundRect">
            <a:avLst>
              <a:gd name="adj" fmla="val 3704"/>
            </a:avLst>
          </a:prstGeom>
          <a:solidFill>
            <a:srgbClr val="0B4F4A"/>
          </a:solidFill>
          <a:ln w="12700">
            <a:solidFill>
              <a:srgbClr val="0B4F4A">
                <a:alpha val="0"/>
              </a:srgbClr>
            </a:solidFill>
            <a:prstDash val="solid"/>
          </a:ln>
        </p:spPr>
      </p:sp>
      <p:sp>
        <p:nvSpPr>
          <p:cNvPr id="18" name="Text 15"/>
          <p:cNvSpPr/>
          <p:nvPr/>
        </p:nvSpPr>
        <p:spPr>
          <a:xfrm>
            <a:off x="694944" y="5129784"/>
            <a:ext cx="3986784"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694944" y="5358384"/>
            <a:ext cx="3986784" cy="850392"/>
          </a:xfrm>
          <a:prstGeom prst="rect">
            <a:avLst/>
          </a:prstGeom>
          <a:noFill/>
          <a:ln/>
        </p:spPr>
        <p:txBody>
          <a:bodyPr wrap="square" lIns="0" tIns="0" rIns="0" bIns="0" rtlCol="0" anchor="ctr">
            <a:normAutofit/>
          </a:bodyPr>
          <a:lstStyle/>
          <a:p>
            <a:pPr indent="0" marL="0">
              <a:buNone/>
            </a:pPr>
            <a:r>
              <a:rPr lang="en-US" sz="1550" b="1" dirty="0">
                <a:solidFill>
                  <a:srgbClr val="FFFFFF"/>
                </a:solidFill>
                <a:latin typeface="Aptos" pitchFamily="34" charset="0"/>
                <a:ea typeface="Aptos" pitchFamily="34" charset="-122"/>
                <a:cs typeface="Aptos" pitchFamily="34" charset="-120"/>
              </a:rPr>
              <a:t>A worker needs current plain-English information about a NSW food-business requirement. Where should the search begin?</a:t>
            </a:r>
            <a:endParaRPr lang="en-US" sz="15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5 / 8</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05</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Technology, trends and safer change</a:t>
            </a:r>
            <a:endParaRPr lang="en-US" sz="3500" dirty="0"/>
          </a:p>
        </p:txBody>
      </p:sp>
      <p:sp>
        <p:nvSpPr>
          <p:cNvPr id="6" name="Shape 4"/>
          <p:cNvSpPr/>
          <p:nvPr/>
        </p:nvSpPr>
        <p:spPr>
          <a:xfrm>
            <a:off x="502920" y="1298448"/>
            <a:ext cx="6510528" cy="4901184"/>
          </a:xfrm>
          <a:prstGeom prst="roundRect">
            <a:avLst>
              <a:gd name="adj" fmla="val 1306"/>
            </a:avLst>
          </a:prstGeom>
          <a:solidFill>
            <a:srgbClr val="FFFDF8"/>
          </a:solidFill>
          <a:ln w="17780">
            <a:solidFill>
              <a:srgbClr val="B8D9D3"/>
            </a:solidFill>
            <a:prstDash val="solid"/>
          </a:ln>
        </p:spPr>
      </p:sp>
      <p:pic>
        <p:nvPicPr>
          <p:cNvPr id="7" name="05-technology-trends-instructional-visual" descr="Before-and-after hospitality technology workflow showing changed handovers, people and data, alongside evidence, benefits, risks, training, fallback and an authorised trial gate.">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12648" y="1914144"/>
            <a:ext cx="6291072" cy="3669792"/>
          </a:xfrm>
          <a:prstGeom prst="rect">
            <a:avLst/>
          </a:prstGeom>
        </p:spPr>
      </p:pic>
      <p:sp>
        <p:nvSpPr>
          <p:cNvPr id="8" name="Text 5"/>
          <p:cNvSpPr/>
          <p:nvPr/>
        </p:nvSpPr>
        <p:spPr>
          <a:xfrm>
            <a:off x="734263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7342632" y="1627632"/>
            <a:ext cx="4315968" cy="1536192"/>
          </a:xfrm>
          <a:prstGeom prst="rect">
            <a:avLst/>
          </a:prstGeom>
          <a:noFill/>
          <a:ln/>
        </p:spPr>
        <p:txBody>
          <a:bodyPr wrap="square" lIns="0" tIns="0" rIns="0" bIns="0" rtlCol="0" anchor="t">
            <a:normAutofit/>
          </a:bodyPr>
          <a:lstStyle/>
          <a:p>
            <a:pPr indent="0" marL="0">
              <a:buNone/>
            </a:pPr>
            <a:r>
              <a:rPr lang="en-US" sz="1600" dirty="0">
                <a:solidFill>
                  <a:srgbClr val="17343A"/>
                </a:solidFill>
                <a:latin typeface="Aptos" pitchFamily="34" charset="0"/>
                <a:ea typeface="Aptos" pitchFamily="34" charset="-122"/>
                <a:cs typeface="Aptos" pitchFamily="34" charset="-120"/>
              </a:rPr>
              <a:t>Evaluate current and emerging hospitality technology through workflow impact, evidence quality, customer and worker risks, fallback planning and an authorised improvement proposal.</a:t>
            </a:r>
            <a:endParaRPr lang="en-US" sz="1600" dirty="0"/>
          </a:p>
        </p:txBody>
      </p:sp>
      <p:sp>
        <p:nvSpPr>
          <p:cNvPr id="10" name="Text 7"/>
          <p:cNvSpPr/>
          <p:nvPr/>
        </p:nvSpPr>
        <p:spPr>
          <a:xfrm>
            <a:off x="734263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734263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55294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Hospitality technology supports connected systems</a:t>
            </a:r>
            <a:endParaRPr lang="en-US" sz="1600" dirty="0"/>
          </a:p>
        </p:txBody>
      </p:sp>
      <p:sp>
        <p:nvSpPr>
          <p:cNvPr id="13" name="Shape 10"/>
          <p:cNvSpPr/>
          <p:nvPr/>
        </p:nvSpPr>
        <p:spPr>
          <a:xfrm>
            <a:off x="734263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55294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trend needs a source, period and scope</a:t>
            </a:r>
            <a:endParaRPr lang="en-US" sz="1600" dirty="0"/>
          </a:p>
        </p:txBody>
      </p:sp>
      <p:sp>
        <p:nvSpPr>
          <p:cNvPr id="15" name="Shape 12"/>
          <p:cNvSpPr/>
          <p:nvPr/>
        </p:nvSpPr>
        <p:spPr>
          <a:xfrm>
            <a:off x="734263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55294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Map the workflow before judging the tool</a:t>
            </a:r>
            <a:endParaRPr lang="en-US" sz="1600" dirty="0"/>
          </a:p>
        </p:txBody>
      </p:sp>
      <p:sp>
        <p:nvSpPr>
          <p:cNvPr id="17" name="Shape 14"/>
          <p:cNvSpPr/>
          <p:nvPr/>
        </p:nvSpPr>
        <p:spPr>
          <a:xfrm>
            <a:off x="7342632" y="5029200"/>
            <a:ext cx="4315968" cy="1024128"/>
          </a:xfrm>
          <a:prstGeom prst="roundRect">
            <a:avLst>
              <a:gd name="adj" fmla="val 4464"/>
            </a:avLst>
          </a:prstGeom>
          <a:solidFill>
            <a:srgbClr val="0B4F4A"/>
          </a:solidFill>
          <a:ln w="12700">
            <a:solidFill>
              <a:srgbClr val="0B4F4A">
                <a:alpha val="0"/>
              </a:srgbClr>
            </a:solidFill>
            <a:prstDash val="solid"/>
          </a:ln>
        </p:spPr>
      </p:sp>
      <p:sp>
        <p:nvSpPr>
          <p:cNvPr id="18" name="Text 15"/>
          <p:cNvSpPr/>
          <p:nvPr/>
        </p:nvSpPr>
        <p:spPr>
          <a:xfrm>
            <a:off x="750722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8174736" y="5102352"/>
            <a:ext cx="3337560" cy="740664"/>
          </a:xfrm>
          <a:prstGeom prst="rect">
            <a:avLst/>
          </a:prstGeom>
          <a:noFill/>
          <a:ln/>
        </p:spPr>
        <p:txBody>
          <a:bodyPr wrap="square" lIns="0" tIns="0" rIns="0" bIns="0" rtlCol="0" anchor="ctr">
            <a:normAutofit/>
          </a:bodyPr>
          <a:lstStyle/>
          <a:p>
            <a:pPr indent="0" marL="0">
              <a:buNone/>
            </a:pPr>
            <a:r>
              <a:rPr lang="en-US" sz="1650" b="1" dirty="0">
                <a:solidFill>
                  <a:srgbClr val="FFFFFF"/>
                </a:solidFill>
                <a:latin typeface="Aptos" pitchFamily="34" charset="0"/>
                <a:ea typeface="Aptos" pitchFamily="34" charset="-122"/>
                <a:cs typeface="Aptos" pitchFamily="34" charset="-120"/>
              </a:rPr>
              <a:t>A vendor calls its system essential for every modern venue. What is the strongest research response?</a:t>
            </a:r>
            <a:endParaRPr lang="en-US" sz="16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6 / 8</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143000"/>
          </a:xfrm>
          <a:prstGeom prst="rect">
            <a:avLst/>
          </a:prstGeom>
          <a:solidFill>
            <a:srgbClr val="0B4F4A"/>
          </a:solidFill>
          <a:ln w="12700">
            <a:solidFill>
              <a:srgbClr val="0B4F4A">
                <a:alpha val="0"/>
              </a:srgbClr>
            </a:solidFill>
            <a:prstDash val="solid"/>
          </a:ln>
        </p:spPr>
      </p:sp>
      <p:sp>
        <p:nvSpPr>
          <p:cNvPr id="3" name="Shape 1"/>
          <p:cNvSpPr/>
          <p:nvPr/>
        </p:nvSpPr>
        <p:spPr>
          <a:xfrm>
            <a:off x="0" y="0"/>
            <a:ext cx="164592" cy="1143000"/>
          </a:xfrm>
          <a:prstGeom prst="rect">
            <a:avLst/>
          </a:prstGeom>
          <a:solidFill>
            <a:srgbClr val="5C8E8A"/>
          </a:solidFill>
          <a:ln w="12700">
            <a:solidFill>
              <a:srgbClr val="5C8E8A">
                <a:alpha val="0"/>
              </a:srgbClr>
            </a:solidFill>
            <a:prstDash val="solid"/>
          </a:ln>
        </p:spPr>
      </p:sp>
      <p:sp>
        <p:nvSpPr>
          <p:cNvPr id="4" name="Text 2"/>
          <p:cNvSpPr/>
          <p:nvPr/>
        </p:nvSpPr>
        <p:spPr>
          <a:xfrm>
            <a:off x="438912" y="109728"/>
            <a:ext cx="2084832" cy="182880"/>
          </a:xfrm>
          <a:prstGeom prst="rect">
            <a:avLst/>
          </a:prstGeom>
          <a:noFill/>
          <a:ln/>
        </p:spPr>
        <p:txBody>
          <a:bodyPr wrap="square" lIns="0" tIns="0" rIns="0" bIns="0" rtlCol="0" anchor="ctr"/>
          <a:lstStyle/>
          <a:p>
            <a:pPr indent="0" marL="0">
              <a:buNone/>
            </a:pPr>
            <a:r>
              <a:rPr lang="en-US" sz="1150" b="1" spc="80" kern="0" dirty="0">
                <a:solidFill>
                  <a:srgbClr val="F3DFB0"/>
                </a:solidFill>
                <a:latin typeface="Aptos" pitchFamily="34" charset="0"/>
                <a:ea typeface="Aptos" pitchFamily="34" charset="-122"/>
                <a:cs typeface="Aptos" pitchFamily="34" charset="-120"/>
              </a:rPr>
              <a:t>TASK 3 · LESSON 06</a:t>
            </a:r>
            <a:endParaRPr lang="en-US" sz="1150" dirty="0"/>
          </a:p>
        </p:txBody>
      </p:sp>
      <p:sp>
        <p:nvSpPr>
          <p:cNvPr id="5" name="Text 3"/>
          <p:cNvSpPr/>
          <p:nvPr/>
        </p:nvSpPr>
        <p:spPr>
          <a:xfrm>
            <a:off x="429768" y="310896"/>
            <a:ext cx="11155680" cy="731520"/>
          </a:xfrm>
          <a:prstGeom prst="rect">
            <a:avLst/>
          </a:prstGeom>
          <a:noFill/>
          <a:ln/>
        </p:spPr>
        <p:txBody>
          <a:bodyPr wrap="square" lIns="0" tIns="0" rIns="0" bIns="0" rtlCol="0" anchor="ctr">
            <a:normAutofit/>
          </a:bodyPr>
          <a:lstStyle/>
          <a:p>
            <a:pPr indent="0" marL="0">
              <a:buNone/>
            </a:pPr>
            <a:r>
              <a:rPr lang="en-US" sz="3500" b="1" dirty="0">
                <a:solidFill>
                  <a:srgbClr val="FFFFFF"/>
                </a:solidFill>
                <a:latin typeface="Aptos Display" pitchFamily="34" charset="0"/>
                <a:ea typeface="Aptos Display" pitchFamily="34" charset="-122"/>
                <a:cs typeface="Aptos Display" pitchFamily="34" charset="-120"/>
              </a:rPr>
              <a:t>Build, share and improve an industry brief</a:t>
            </a:r>
            <a:endParaRPr lang="en-US" sz="3500" dirty="0"/>
          </a:p>
        </p:txBody>
      </p:sp>
      <p:sp>
        <p:nvSpPr>
          <p:cNvPr id="6" name="Shape 4"/>
          <p:cNvSpPr/>
          <p:nvPr/>
        </p:nvSpPr>
        <p:spPr>
          <a:xfrm>
            <a:off x="5175504" y="1298448"/>
            <a:ext cx="6510528" cy="4901184"/>
          </a:xfrm>
          <a:prstGeom prst="roundRect">
            <a:avLst>
              <a:gd name="adj" fmla="val 1306"/>
            </a:avLst>
          </a:prstGeom>
          <a:solidFill>
            <a:srgbClr val="FFFDF8"/>
          </a:solidFill>
          <a:ln w="17780">
            <a:solidFill>
              <a:srgbClr val="B8D9D3"/>
            </a:solidFill>
            <a:prstDash val="solid"/>
          </a:ln>
        </p:spPr>
      </p:sp>
      <p:pic>
        <p:nvPicPr>
          <p:cNvPr id="7" name="06-industry-brief-share-instructional-visual" descr="Six-step hospitality industry brief storyboard moving from question and three-source matrix to synthesis, workplace effect and authorised action, then looping colleague questions back to source checking and revision.">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5285232" y="1914144"/>
            <a:ext cx="6291072" cy="3669792"/>
          </a:xfrm>
          <a:prstGeom prst="rect">
            <a:avLst/>
          </a:prstGeom>
        </p:spPr>
      </p:pic>
      <p:sp>
        <p:nvSpPr>
          <p:cNvPr id="8" name="Text 5"/>
          <p:cNvSpPr/>
          <p:nvPr/>
        </p:nvSpPr>
        <p:spPr>
          <a:xfrm>
            <a:off x="530352" y="1353312"/>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PURPOSE</a:t>
            </a:r>
            <a:endParaRPr lang="en-US" sz="1300" dirty="0"/>
          </a:p>
        </p:txBody>
      </p:sp>
      <p:sp>
        <p:nvSpPr>
          <p:cNvPr id="9" name="Text 6"/>
          <p:cNvSpPr/>
          <p:nvPr/>
        </p:nvSpPr>
        <p:spPr>
          <a:xfrm>
            <a:off x="530352" y="1627632"/>
            <a:ext cx="4315968" cy="1536192"/>
          </a:xfrm>
          <a:prstGeom prst="rect">
            <a:avLst/>
          </a:prstGeom>
          <a:noFill/>
          <a:ln/>
        </p:spPr>
        <p:txBody>
          <a:bodyPr wrap="square" lIns="0" tIns="0" rIns="0" bIns="0" rtlCol="0" anchor="t">
            <a:normAutofit/>
          </a:bodyPr>
          <a:lstStyle/>
          <a:p>
            <a:pPr indent="0" marL="0">
              <a:buNone/>
            </a:pPr>
            <a:r>
              <a:rPr lang="en-US" sz="1700" dirty="0">
                <a:solidFill>
                  <a:srgbClr val="17343A"/>
                </a:solidFill>
                <a:latin typeface="Aptos" pitchFamily="34" charset="0"/>
                <a:ea typeface="Aptos" pitchFamily="34" charset="-122"/>
                <a:cs typeface="Aptos" pitchFamily="34" charset="-120"/>
              </a:rPr>
              <a:t>Synthesise current hospitality information into a concise, traceable briefing that a colleague can use, then test understanding and improve the recommendation.</a:t>
            </a:r>
            <a:endParaRPr lang="en-US" sz="1700" dirty="0"/>
          </a:p>
        </p:txBody>
      </p:sp>
      <p:sp>
        <p:nvSpPr>
          <p:cNvPr id="10" name="Text 7"/>
          <p:cNvSpPr/>
          <p:nvPr/>
        </p:nvSpPr>
        <p:spPr>
          <a:xfrm>
            <a:off x="530352" y="3291840"/>
            <a:ext cx="4315968" cy="219456"/>
          </a:xfrm>
          <a:prstGeom prst="rect">
            <a:avLst/>
          </a:prstGeom>
          <a:noFill/>
          <a:ln/>
        </p:spPr>
        <p:txBody>
          <a:bodyPr wrap="square" lIns="0" tIns="0" rIns="0" bIns="0" rtlCol="0" anchor="ctr"/>
          <a:lstStyle/>
          <a:p>
            <a:pPr indent="0" marL="0">
              <a:buNone/>
            </a:pPr>
            <a:r>
              <a:rPr lang="en-US" sz="1300" b="1" spc="110" kern="0" dirty="0">
                <a:solidFill>
                  <a:srgbClr val="5C8E8A"/>
                </a:solidFill>
                <a:latin typeface="Aptos" pitchFamily="34" charset="0"/>
                <a:ea typeface="Aptos" pitchFamily="34" charset="-122"/>
                <a:cs typeface="Aptos" pitchFamily="34" charset="-120"/>
              </a:rPr>
              <a:t>NOTICE</a:t>
            </a:r>
            <a:endParaRPr lang="en-US" sz="1300" dirty="0"/>
          </a:p>
        </p:txBody>
      </p:sp>
      <p:sp>
        <p:nvSpPr>
          <p:cNvPr id="11" name="Shape 8"/>
          <p:cNvSpPr/>
          <p:nvPr/>
        </p:nvSpPr>
        <p:spPr>
          <a:xfrm>
            <a:off x="530352" y="3648456"/>
            <a:ext cx="118872" cy="118872"/>
          </a:xfrm>
          <a:prstGeom prst="ellipse">
            <a:avLst/>
          </a:prstGeom>
          <a:solidFill>
            <a:srgbClr val="5C8E8A"/>
          </a:solidFill>
          <a:ln w="12700">
            <a:solidFill>
              <a:srgbClr val="5C8E8A">
                <a:alpha val="0"/>
              </a:srgbClr>
            </a:solidFill>
            <a:prstDash val="solid"/>
          </a:ln>
        </p:spPr>
      </p:sp>
      <p:sp>
        <p:nvSpPr>
          <p:cNvPr id="12" name="Text 9"/>
          <p:cNvSpPr/>
          <p:nvPr/>
        </p:nvSpPr>
        <p:spPr>
          <a:xfrm>
            <a:off x="740664" y="35753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A brief is written for someone to use</a:t>
            </a:r>
            <a:endParaRPr lang="en-US" sz="1600" dirty="0"/>
          </a:p>
        </p:txBody>
      </p:sp>
      <p:sp>
        <p:nvSpPr>
          <p:cNvPr id="13" name="Shape 10"/>
          <p:cNvSpPr/>
          <p:nvPr/>
        </p:nvSpPr>
        <p:spPr>
          <a:xfrm>
            <a:off x="530352" y="4105656"/>
            <a:ext cx="118872" cy="118872"/>
          </a:xfrm>
          <a:prstGeom prst="ellipse">
            <a:avLst/>
          </a:prstGeom>
          <a:solidFill>
            <a:srgbClr val="5C8E8A"/>
          </a:solidFill>
          <a:ln w="12700">
            <a:solidFill>
              <a:srgbClr val="5C8E8A">
                <a:alpha val="0"/>
              </a:srgbClr>
            </a:solidFill>
            <a:prstDash val="solid"/>
          </a:ln>
        </p:spPr>
      </p:sp>
      <p:sp>
        <p:nvSpPr>
          <p:cNvPr id="14" name="Text 11"/>
          <p:cNvSpPr/>
          <p:nvPr/>
        </p:nvSpPr>
        <p:spPr>
          <a:xfrm>
            <a:off x="740664" y="40325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Give each source a job in the evidence matrix</a:t>
            </a:r>
            <a:endParaRPr lang="en-US" sz="1600" dirty="0"/>
          </a:p>
        </p:txBody>
      </p:sp>
      <p:sp>
        <p:nvSpPr>
          <p:cNvPr id="15" name="Shape 12"/>
          <p:cNvSpPr/>
          <p:nvPr/>
        </p:nvSpPr>
        <p:spPr>
          <a:xfrm>
            <a:off x="530352" y="4562856"/>
            <a:ext cx="118872" cy="118872"/>
          </a:xfrm>
          <a:prstGeom prst="ellipse">
            <a:avLst/>
          </a:prstGeom>
          <a:solidFill>
            <a:srgbClr val="5C8E8A"/>
          </a:solidFill>
          <a:ln w="12700">
            <a:solidFill>
              <a:srgbClr val="5C8E8A">
                <a:alpha val="0"/>
              </a:srgbClr>
            </a:solidFill>
            <a:prstDash val="solid"/>
          </a:ln>
        </p:spPr>
      </p:sp>
      <p:sp>
        <p:nvSpPr>
          <p:cNvPr id="16" name="Text 13"/>
          <p:cNvSpPr/>
          <p:nvPr/>
        </p:nvSpPr>
        <p:spPr>
          <a:xfrm>
            <a:off x="740664" y="4489704"/>
            <a:ext cx="4105656" cy="420624"/>
          </a:xfrm>
          <a:prstGeom prst="rect">
            <a:avLst/>
          </a:prstGeom>
          <a:noFill/>
          <a:ln/>
        </p:spPr>
        <p:txBody>
          <a:bodyPr wrap="square" lIns="0" tIns="0" rIns="0" bIns="0" rtlCol="0" anchor="ctr">
            <a:normAutofit/>
          </a:bodyPr>
          <a:lstStyle/>
          <a:p>
            <a:pPr indent="0" marL="0">
              <a:buNone/>
            </a:pPr>
            <a:r>
              <a:rPr lang="en-US" sz="1600" dirty="0">
                <a:solidFill>
                  <a:srgbClr val="17343A"/>
                </a:solidFill>
                <a:latin typeface="Aptos" pitchFamily="34" charset="0"/>
                <a:ea typeface="Aptos" pitchFamily="34" charset="-122"/>
                <a:cs typeface="Aptos" pitchFamily="34" charset="-120"/>
              </a:rPr>
              <a:t>Synthesis explains the relationship between findings</a:t>
            </a:r>
            <a:endParaRPr lang="en-US" sz="1600" dirty="0"/>
          </a:p>
        </p:txBody>
      </p:sp>
      <p:sp>
        <p:nvSpPr>
          <p:cNvPr id="17" name="Shape 14"/>
          <p:cNvSpPr/>
          <p:nvPr/>
        </p:nvSpPr>
        <p:spPr>
          <a:xfrm>
            <a:off x="530352" y="5029200"/>
            <a:ext cx="4315968" cy="941832"/>
          </a:xfrm>
          <a:prstGeom prst="roundRect">
            <a:avLst>
              <a:gd name="adj" fmla="val 4854"/>
            </a:avLst>
          </a:prstGeom>
          <a:solidFill>
            <a:srgbClr val="0B4F4A"/>
          </a:solidFill>
          <a:ln w="12700">
            <a:solidFill>
              <a:srgbClr val="0B4F4A">
                <a:alpha val="0"/>
              </a:srgbClr>
            </a:solidFill>
            <a:prstDash val="solid"/>
          </a:ln>
        </p:spPr>
      </p:sp>
      <p:sp>
        <p:nvSpPr>
          <p:cNvPr id="18" name="Text 15"/>
          <p:cNvSpPr/>
          <p:nvPr/>
        </p:nvSpPr>
        <p:spPr>
          <a:xfrm>
            <a:off x="694944" y="5157216"/>
            <a:ext cx="658368" cy="182880"/>
          </a:xfrm>
          <a:prstGeom prst="rect">
            <a:avLst/>
          </a:prstGeom>
          <a:noFill/>
          <a:ln/>
        </p:spPr>
        <p:txBody>
          <a:bodyPr wrap="square" lIns="0" tIns="0" rIns="0" bIns="0" rtlCol="0" anchor="ctr"/>
          <a:lstStyle/>
          <a:p>
            <a:pPr indent="0" marL="0">
              <a:buNone/>
            </a:pPr>
            <a:r>
              <a:rPr lang="en-US" sz="1200" b="1" spc="80" kern="0" dirty="0">
                <a:solidFill>
                  <a:srgbClr val="F3DFB0"/>
                </a:solidFill>
                <a:latin typeface="Aptos" pitchFamily="34" charset="0"/>
                <a:ea typeface="Aptos" pitchFamily="34" charset="-122"/>
                <a:cs typeface="Aptos" pitchFamily="34" charset="-120"/>
              </a:rPr>
              <a:t>CHECK</a:t>
            </a:r>
            <a:endParaRPr lang="en-US" sz="1200" dirty="0"/>
          </a:p>
        </p:txBody>
      </p:sp>
      <p:sp>
        <p:nvSpPr>
          <p:cNvPr id="19" name="Text 16"/>
          <p:cNvSpPr/>
          <p:nvPr/>
        </p:nvSpPr>
        <p:spPr>
          <a:xfrm>
            <a:off x="1362456" y="5102352"/>
            <a:ext cx="3337560" cy="658368"/>
          </a:xfrm>
          <a:prstGeom prst="rect">
            <a:avLst/>
          </a:prstGeom>
          <a:noFill/>
          <a:ln/>
        </p:spPr>
        <p:txBody>
          <a:bodyPr wrap="square" lIns="0" tIns="0" rIns="0" bIns="0" rtlCol="0" anchor="ctr">
            <a:normAutofit/>
          </a:bodyPr>
          <a:lstStyle/>
          <a:p>
            <a:pPr indent="0" marL="0">
              <a:buNone/>
            </a:pPr>
            <a:r>
              <a:rPr lang="en-US" sz="1750" b="1" dirty="0">
                <a:solidFill>
                  <a:srgbClr val="FFFFFF"/>
                </a:solidFill>
                <a:latin typeface="Aptos" pitchFamily="34" charset="0"/>
                <a:ea typeface="Aptos" pitchFamily="34" charset="-122"/>
                <a:cs typeface="Aptos" pitchFamily="34" charset="-120"/>
              </a:rPr>
              <a:t>What makes three sources a useful evidence set?</a:t>
            </a:r>
            <a:endParaRPr lang="en-US" sz="1750" dirty="0"/>
          </a:p>
        </p:txBody>
      </p:sp>
      <p:sp>
        <p:nvSpPr>
          <p:cNvPr id="20" name="Shape 17"/>
          <p:cNvSpPr/>
          <p:nvPr/>
        </p:nvSpPr>
        <p:spPr>
          <a:xfrm>
            <a:off x="530352" y="6473952"/>
            <a:ext cx="11128248" cy="0"/>
          </a:xfrm>
          <a:prstGeom prst="line">
            <a:avLst/>
          </a:prstGeom>
          <a:noFill/>
          <a:ln w="15240">
            <a:solidFill>
              <a:srgbClr val="B8D9D3"/>
            </a:solidFill>
            <a:prstDash val="solid"/>
          </a:ln>
        </p:spPr>
      </p:sp>
      <p:sp>
        <p:nvSpPr>
          <p:cNvPr id="21" name="Text 18"/>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22" name="Text 19"/>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7 / 8</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3E6"/>
        </a:solidFill>
      </p:bgPr>
    </p:bg>
    <p:spTree>
      <p:nvGrpSpPr>
        <p:cNvPr id="1" name=""/>
        <p:cNvGrpSpPr/>
        <p:nvPr/>
      </p:nvGrpSpPr>
      <p:grpSpPr>
        <a:xfrm>
          <a:off x="0" y="0"/>
          <a:ext cx="0" cy="0"/>
          <a:chOff x="0" y="0"/>
          <a:chExt cx="0" cy="0"/>
        </a:xfrm>
      </p:grpSpPr>
      <p:sp>
        <p:nvSpPr>
          <p:cNvPr id="2" name="Shape 0"/>
          <p:cNvSpPr/>
          <p:nvPr/>
        </p:nvSpPr>
        <p:spPr>
          <a:xfrm>
            <a:off x="0" y="0"/>
            <a:ext cx="12191695" cy="1207008"/>
          </a:xfrm>
          <a:prstGeom prst="rect">
            <a:avLst/>
          </a:prstGeom>
          <a:solidFill>
            <a:srgbClr val="0B4F4A"/>
          </a:solidFill>
          <a:ln w="12700">
            <a:solidFill>
              <a:srgbClr val="0B4F4A">
                <a:alpha val="0"/>
              </a:srgbClr>
            </a:solidFill>
            <a:prstDash val="solid"/>
          </a:ln>
        </p:spPr>
      </p:sp>
      <p:sp>
        <p:nvSpPr>
          <p:cNvPr id="3" name="Text 1"/>
          <p:cNvSpPr/>
          <p:nvPr/>
        </p:nvSpPr>
        <p:spPr>
          <a:xfrm>
            <a:off x="658368" y="292608"/>
            <a:ext cx="10927080" cy="585216"/>
          </a:xfrm>
          <a:prstGeom prst="rect">
            <a:avLst/>
          </a:prstGeom>
          <a:noFill/>
          <a:ln/>
        </p:spPr>
        <p:txBody>
          <a:bodyPr wrap="square" lIns="0" tIns="0" rIns="0" bIns="0" rtlCol="0" anchor="ctr"/>
          <a:lstStyle/>
          <a:p>
            <a:pPr algn="ctr" indent="0" marL="0">
              <a:buNone/>
            </a:pPr>
            <a:r>
              <a:rPr lang="en-US" sz="3800" b="1" dirty="0">
                <a:solidFill>
                  <a:srgbClr val="FFFFFF"/>
                </a:solidFill>
                <a:latin typeface="Aptos Display" pitchFamily="34" charset="0"/>
                <a:ea typeface="Aptos Display" pitchFamily="34" charset="-122"/>
                <a:cs typeface="Aptos Display" pitchFamily="34" charset="-120"/>
              </a:rPr>
              <a:t>Finish with evidence, not a guess</a:t>
            </a:r>
            <a:endParaRPr lang="en-US" sz="3800" dirty="0"/>
          </a:p>
        </p:txBody>
      </p:sp>
      <p:sp>
        <p:nvSpPr>
          <p:cNvPr id="4" name="Text 2"/>
          <p:cNvSpPr/>
          <p:nvPr/>
        </p:nvSpPr>
        <p:spPr>
          <a:xfrm>
            <a:off x="694944" y="1682496"/>
            <a:ext cx="640080" cy="384048"/>
          </a:xfrm>
          <a:prstGeom prst="rect">
            <a:avLst/>
          </a:prstGeom>
          <a:noFill/>
          <a:ln/>
        </p:spPr>
        <p:txBody>
          <a:bodyPr wrap="square" lIns="0" tIns="0" rIns="0" bIns="0" rtlCol="0" anchor="ctr"/>
          <a:lstStyle/>
          <a:p>
            <a:pPr indent="0" marL="0">
              <a:buNone/>
            </a:pPr>
            <a:r>
              <a:rPr lang="en-US" sz="2200" b="1" dirty="0">
                <a:solidFill>
                  <a:srgbClr val="5C8E8A"/>
                </a:solidFill>
                <a:latin typeface="Aptos Display" pitchFamily="34" charset="0"/>
                <a:ea typeface="Aptos Display" pitchFamily="34" charset="-122"/>
                <a:cs typeface="Aptos Display" pitchFamily="34" charset="-120"/>
              </a:rPr>
              <a:t>01</a:t>
            </a:r>
            <a:endParaRPr lang="en-US" sz="2200" dirty="0"/>
          </a:p>
        </p:txBody>
      </p:sp>
      <p:sp>
        <p:nvSpPr>
          <p:cNvPr id="5" name="Text 3"/>
          <p:cNvSpPr/>
          <p:nvPr/>
        </p:nvSpPr>
        <p:spPr>
          <a:xfrm>
            <a:off x="694944"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Retrieve</a:t>
            </a:r>
            <a:endParaRPr lang="en-US" sz="2700" dirty="0"/>
          </a:p>
        </p:txBody>
      </p:sp>
      <p:sp>
        <p:nvSpPr>
          <p:cNvPr id="6" name="Text 4"/>
          <p:cNvSpPr/>
          <p:nvPr/>
        </p:nvSpPr>
        <p:spPr>
          <a:xfrm>
            <a:off x="694944"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Explain one lesson idea and the workplace consequence it helps prevent or improve.</a:t>
            </a:r>
            <a:endParaRPr lang="en-US" sz="1900" dirty="0"/>
          </a:p>
        </p:txBody>
      </p:sp>
      <p:sp>
        <p:nvSpPr>
          <p:cNvPr id="7" name="Text 5"/>
          <p:cNvSpPr/>
          <p:nvPr/>
        </p:nvSpPr>
        <p:spPr>
          <a:xfrm>
            <a:off x="4498848" y="1682496"/>
            <a:ext cx="640080" cy="384048"/>
          </a:xfrm>
          <a:prstGeom prst="rect">
            <a:avLst/>
          </a:prstGeom>
          <a:noFill/>
          <a:ln/>
        </p:spPr>
        <p:txBody>
          <a:bodyPr wrap="square" lIns="0" tIns="0" rIns="0" bIns="0" rtlCol="0" anchor="ctr"/>
          <a:lstStyle/>
          <a:p>
            <a:pPr indent="0" marL="0">
              <a:buNone/>
            </a:pPr>
            <a:r>
              <a:rPr lang="en-US" sz="2200" b="1" dirty="0">
                <a:solidFill>
                  <a:srgbClr val="5C8E8A"/>
                </a:solidFill>
                <a:latin typeface="Aptos Display" pitchFamily="34" charset="0"/>
                <a:ea typeface="Aptos Display" pitchFamily="34" charset="-122"/>
                <a:cs typeface="Aptos Display" pitchFamily="34" charset="-120"/>
              </a:rPr>
              <a:t>02</a:t>
            </a:r>
            <a:endParaRPr lang="en-US" sz="2200" dirty="0"/>
          </a:p>
        </p:txBody>
      </p:sp>
      <p:sp>
        <p:nvSpPr>
          <p:cNvPr id="8" name="Text 6"/>
          <p:cNvSpPr/>
          <p:nvPr/>
        </p:nvSpPr>
        <p:spPr>
          <a:xfrm>
            <a:off x="4498848"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Apply</a:t>
            </a:r>
            <a:endParaRPr lang="en-US" sz="2700" dirty="0"/>
          </a:p>
        </p:txBody>
      </p:sp>
      <p:sp>
        <p:nvSpPr>
          <p:cNvPr id="9" name="Text 7"/>
          <p:cNvSpPr/>
          <p:nvPr/>
        </p:nvSpPr>
        <p:spPr>
          <a:xfrm>
            <a:off x="4498848"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Use one module visual to justify the next safe, accurate or service-focused action.</a:t>
            </a:r>
            <a:endParaRPr lang="en-US" sz="1900" dirty="0"/>
          </a:p>
        </p:txBody>
      </p:sp>
      <p:sp>
        <p:nvSpPr>
          <p:cNvPr id="10" name="Text 8"/>
          <p:cNvSpPr/>
          <p:nvPr/>
        </p:nvSpPr>
        <p:spPr>
          <a:xfrm>
            <a:off x="8302752" y="1682496"/>
            <a:ext cx="640080" cy="384048"/>
          </a:xfrm>
          <a:prstGeom prst="rect">
            <a:avLst/>
          </a:prstGeom>
          <a:noFill/>
          <a:ln/>
        </p:spPr>
        <p:txBody>
          <a:bodyPr wrap="square" lIns="0" tIns="0" rIns="0" bIns="0" rtlCol="0" anchor="ctr"/>
          <a:lstStyle/>
          <a:p>
            <a:pPr indent="0" marL="0">
              <a:buNone/>
            </a:pPr>
            <a:r>
              <a:rPr lang="en-US" sz="2200" b="1" dirty="0">
                <a:solidFill>
                  <a:srgbClr val="5C8E8A"/>
                </a:solidFill>
                <a:latin typeface="Aptos Display" pitchFamily="34" charset="0"/>
                <a:ea typeface="Aptos Display" pitchFamily="34" charset="-122"/>
                <a:cs typeface="Aptos Display" pitchFamily="34" charset="-120"/>
              </a:rPr>
              <a:t>03</a:t>
            </a:r>
            <a:endParaRPr lang="en-US" sz="2200" dirty="0"/>
          </a:p>
        </p:txBody>
      </p:sp>
      <p:sp>
        <p:nvSpPr>
          <p:cNvPr id="11" name="Text 9"/>
          <p:cNvSpPr/>
          <p:nvPr/>
        </p:nvSpPr>
        <p:spPr>
          <a:xfrm>
            <a:off x="8302752" y="2212848"/>
            <a:ext cx="3246120" cy="438912"/>
          </a:xfrm>
          <a:prstGeom prst="rect">
            <a:avLst/>
          </a:prstGeom>
          <a:noFill/>
          <a:ln/>
        </p:spPr>
        <p:txBody>
          <a:bodyPr wrap="square" lIns="0" tIns="0" rIns="0" bIns="0" rtlCol="0" anchor="ctr"/>
          <a:lstStyle/>
          <a:p>
            <a:pPr indent="0" marL="0">
              <a:buNone/>
            </a:pPr>
            <a:r>
              <a:rPr lang="en-US" sz="2700" b="1" dirty="0">
                <a:solidFill>
                  <a:srgbClr val="0B4F4A"/>
                </a:solidFill>
                <a:latin typeface="Aptos Display" pitchFamily="34" charset="0"/>
                <a:ea typeface="Aptos Display" pitchFamily="34" charset="-122"/>
                <a:cs typeface="Aptos Display" pitchFamily="34" charset="-120"/>
              </a:rPr>
              <a:t>Check the boundary</a:t>
            </a:r>
            <a:endParaRPr lang="en-US" sz="2700" dirty="0"/>
          </a:p>
        </p:txBody>
      </p:sp>
      <p:sp>
        <p:nvSpPr>
          <p:cNvPr id="12" name="Text 10"/>
          <p:cNvSpPr/>
          <p:nvPr/>
        </p:nvSpPr>
        <p:spPr>
          <a:xfrm>
            <a:off x="8302752" y="2770632"/>
            <a:ext cx="3246120" cy="1298448"/>
          </a:xfrm>
          <a:prstGeom prst="rect">
            <a:avLst/>
          </a:prstGeom>
          <a:noFill/>
          <a:ln/>
        </p:spPr>
        <p:txBody>
          <a:bodyPr wrap="square" lIns="0" tIns="0" rIns="0" bIns="0" rtlCol="0" anchor="t">
            <a:normAutofit/>
          </a:bodyPr>
          <a:lstStyle/>
          <a:p>
            <a:pPr indent="0" marL="0">
              <a:buNone/>
            </a:pPr>
            <a:r>
              <a:rPr lang="en-US" sz="1900" dirty="0">
                <a:solidFill>
                  <a:srgbClr val="17343A"/>
                </a:solidFill>
                <a:latin typeface="Aptos" pitchFamily="34" charset="0"/>
                <a:ea typeface="Aptos" pitchFamily="34" charset="-122"/>
                <a:cs typeface="Aptos" pitchFamily="34" charset="-120"/>
              </a:rPr>
              <a:t>Name what must come from the current teacher, workplace or RTO source before anyone acts.</a:t>
            </a:r>
            <a:endParaRPr lang="en-US" sz="1900" dirty="0"/>
          </a:p>
        </p:txBody>
      </p:sp>
      <p:sp>
        <p:nvSpPr>
          <p:cNvPr id="13" name="Shape 11"/>
          <p:cNvSpPr/>
          <p:nvPr/>
        </p:nvSpPr>
        <p:spPr>
          <a:xfrm>
            <a:off x="694944" y="4782312"/>
            <a:ext cx="10808208" cy="1143000"/>
          </a:xfrm>
          <a:prstGeom prst="roundRect">
            <a:avLst>
              <a:gd name="adj" fmla="val 4000"/>
            </a:avLst>
          </a:prstGeom>
          <a:solidFill>
            <a:srgbClr val="B8D9D3">
              <a:alpha val="80000"/>
            </a:srgbClr>
          </a:solidFill>
          <a:ln w="15240">
            <a:solidFill>
              <a:srgbClr val="19766F"/>
            </a:solidFill>
            <a:prstDash val="solid"/>
          </a:ln>
        </p:spPr>
      </p:sp>
      <p:sp>
        <p:nvSpPr>
          <p:cNvPr id="14" name="Text 12"/>
          <p:cNvSpPr/>
          <p:nvPr/>
        </p:nvSpPr>
        <p:spPr>
          <a:xfrm>
            <a:off x="914400" y="5001768"/>
            <a:ext cx="1097280" cy="219456"/>
          </a:xfrm>
          <a:prstGeom prst="rect">
            <a:avLst/>
          </a:prstGeom>
          <a:noFill/>
          <a:ln/>
        </p:spPr>
        <p:txBody>
          <a:bodyPr wrap="square" lIns="0" tIns="0" rIns="0" bIns="0" rtlCol="0" anchor="ctr"/>
          <a:lstStyle/>
          <a:p>
            <a:pPr indent="0" marL="0">
              <a:buNone/>
            </a:pPr>
            <a:r>
              <a:rPr lang="en-US" sz="1300" b="1" spc="80" kern="0" dirty="0">
                <a:solidFill>
                  <a:srgbClr val="0B4F4A"/>
                </a:solidFill>
                <a:latin typeface="Aptos" pitchFamily="34" charset="0"/>
                <a:ea typeface="Aptos" pitchFamily="34" charset="-122"/>
                <a:cs typeface="Aptos" pitchFamily="34" charset="-120"/>
              </a:rPr>
              <a:t>NEXT STEP</a:t>
            </a:r>
            <a:endParaRPr lang="en-US" sz="1300" dirty="0"/>
          </a:p>
        </p:txBody>
      </p:sp>
      <p:sp>
        <p:nvSpPr>
          <p:cNvPr id="15" name="Text 13"/>
          <p:cNvSpPr/>
          <p:nvPr/>
        </p:nvSpPr>
        <p:spPr>
          <a:xfrm>
            <a:off x="2084832" y="4910328"/>
            <a:ext cx="9107424" cy="585216"/>
          </a:xfrm>
          <a:prstGeom prst="rect">
            <a:avLst/>
          </a:prstGeom>
          <a:noFill/>
          <a:ln/>
        </p:spPr>
        <p:txBody>
          <a:bodyPr wrap="square" lIns="0" tIns="0" rIns="0" bIns="0" rtlCol="0" anchor="ctr">
            <a:normAutofit/>
          </a:bodyPr>
          <a:lstStyle/>
          <a:p>
            <a:pPr indent="0" marL="0">
              <a:buNone/>
            </a:pPr>
            <a:r>
              <a:rPr lang="en-US" sz="1900" b="1" dirty="0">
                <a:solidFill>
                  <a:srgbClr val="17343A"/>
                </a:solidFill>
                <a:latin typeface="Aptos" pitchFamily="34" charset="0"/>
                <a:ea typeface="Aptos" pitchFamily="34" charset="-122"/>
                <a:cs typeface="Aptos" pitchFamily="34" charset="-120"/>
              </a:rPr>
              <a:t>Complete the teacher-nominated response or activity, save only privacy-safe learning evidence, and ask before acting when a procedure or authority limit is unclear.</a:t>
            </a:r>
            <a:endParaRPr lang="en-US" sz="1900" dirty="0"/>
          </a:p>
        </p:txBody>
      </p:sp>
      <p:sp>
        <p:nvSpPr>
          <p:cNvPr id="16" name="Shape 14"/>
          <p:cNvSpPr/>
          <p:nvPr/>
        </p:nvSpPr>
        <p:spPr>
          <a:xfrm>
            <a:off x="530352" y="6473952"/>
            <a:ext cx="11128248" cy="0"/>
          </a:xfrm>
          <a:prstGeom prst="line">
            <a:avLst/>
          </a:prstGeom>
          <a:noFill/>
          <a:ln w="15240">
            <a:solidFill>
              <a:srgbClr val="B8D9D3"/>
            </a:solidFill>
            <a:prstDash val="solid"/>
          </a:ln>
        </p:spPr>
      </p:sp>
      <p:sp>
        <p:nvSpPr>
          <p:cNvPr id="17" name="Text 15"/>
          <p:cNvSpPr/>
          <p:nvPr/>
        </p:nvSpPr>
        <p:spPr>
          <a:xfrm>
            <a:off x="566928" y="6528816"/>
            <a:ext cx="5303520" cy="164592"/>
          </a:xfrm>
          <a:prstGeom prst="rect">
            <a:avLst/>
          </a:prstGeom>
          <a:noFill/>
          <a:ln/>
        </p:spPr>
        <p:txBody>
          <a:bodyPr wrap="square" lIns="0" tIns="0" rIns="0" bIns="0" rtlCol="0" anchor="ctr"/>
          <a:lstStyle/>
          <a:p>
            <a:pPr indent="0" marL="0">
              <a:buNone/>
            </a:pPr>
            <a:r>
              <a:rPr lang="en-US" sz="1050" dirty="0">
                <a:solidFill>
                  <a:srgbClr val="53686C"/>
                </a:solidFill>
                <a:latin typeface="Aptos" pitchFamily="34" charset="0"/>
                <a:ea typeface="Aptos" pitchFamily="34" charset="-122"/>
                <a:cs typeface="Aptos" pitchFamily="34" charset="-120"/>
              </a:rPr>
              <a:t>SIT20322 Hospitality · Task 3</a:t>
            </a:r>
            <a:endParaRPr lang="en-US" sz="1050" dirty="0"/>
          </a:p>
        </p:txBody>
      </p:sp>
      <p:sp>
        <p:nvSpPr>
          <p:cNvPr id="18" name="Text 16"/>
          <p:cNvSpPr/>
          <p:nvPr/>
        </p:nvSpPr>
        <p:spPr>
          <a:xfrm>
            <a:off x="10881360" y="6528816"/>
            <a:ext cx="749808" cy="164592"/>
          </a:xfrm>
          <a:prstGeom prst="rect">
            <a:avLst/>
          </a:prstGeom>
          <a:noFill/>
          <a:ln/>
        </p:spPr>
        <p:txBody>
          <a:bodyPr wrap="square" lIns="0" tIns="0" rIns="0" bIns="0" rtlCol="0" anchor="ctr"/>
          <a:lstStyle/>
          <a:p>
            <a:pPr algn="r" indent="0" marL="0">
              <a:buNone/>
            </a:pPr>
            <a:r>
              <a:rPr lang="en-US" sz="1050" dirty="0">
                <a:solidFill>
                  <a:srgbClr val="53686C"/>
                </a:solidFill>
                <a:latin typeface="Aptos" pitchFamily="34" charset="0"/>
                <a:ea typeface="Aptos" pitchFamily="34" charset="-122"/>
                <a:cs typeface="Aptos" pitchFamily="34" charset="-120"/>
              </a:rPr>
              <a:t>8 / 8</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TAS Faculty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Task 3 — The Hospitality Industry</dc:title>
  <dc:subject>SIT20322 Hospitality Task 3 classroom teaching deck</dc:subject>
  <dc:creator>TAS Faculty</dc:creator>
  <cp:lastModifiedBy>TAS Faculty</cp:lastModifiedBy>
  <cp:revision>1</cp:revision>
  <dcterms:created xsi:type="dcterms:W3CDTF">2026-08-20T14:31:54Z</dcterms:created>
  <dcterms:modified xsi:type="dcterms:W3CDTF">2026-08-20T14:31:54Z</dcterms:modified>
</cp:coreProperties>
</file>