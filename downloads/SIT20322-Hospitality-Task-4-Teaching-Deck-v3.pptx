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purpose: Introduce Task 4 as a connected learning sequence. Ask students what they already know about prepare the service system, produce and check, work as one team.
Keep assessment products, local procedures, recipes, equipment settings and work-placement administration with the current authorised teacher or RTO source.
[Sources]
Module content and source notes: task4-modules.json. Qualification and task identity: signed 2026–2027 Hospitality 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Plan and prepare for a service period by confirming current information, understanding the role, checking the work area and communicating problems before they affect customers or the team.
Teach from this module:
1. A service period is a connected system: Hospitality performance is not a set of isolated product skills. A service period connects preparation, customer interaction, operational work and end-of-service duties. A clean cup, an accurate order and a well-made beverage still depend on the station being ready, the correct information reaching the right people and the final product being checked before handover.
2. Start from current organisational information: Before beginning, locate the information that controls the service: your allocated role, current menu or beverage list, product availability, expected customer needs, running sheet or work schedule, relevant recipe cards, equipment instructions and any verbal update from the supervisor. A document that looks familiar may be an old version, so check the current source rather than relying on memory.
3. Know your role, the shared goal and the reporting line: Your role describes what you are responsible for doing, checking and communicating. The workgroup goal is broader: safe, timely and consistent service for customers. Effective workers complete their own tasks while noticing when information, shortages, delays or faults may affect someone else.
Supplied worked example — A service period is a connected system: A milk option is unavailable before service. Reporting it during preparation allows the menu information, order-taking team and beverage station to use the same message. Discovering it after several orders have been accepted creates rework and avoidable customer disappointment.
Check: The printed beverage list and the supervisor's current briefing appear to disagree. What is the strongest first action?
Listen for: Pause and clarify the current instruction with the responsible person before accepting or preparing affected orders. — Correct. Clarifying the current source protects order accuracy and gives the whole team one consistent instruction.
If students choose “Use whichever source gives the easiest preparation method.”: Not yet. Convenience does not establish which information is current, and acting on it can create inconsistent orders.
Help cue: Review which source controls each part of the service and what to do when sources conflict.
Guided response: Write a pre-service brief for a teacher-issued scenario. Identify your role, the current information you checked, three readiness observations, one issue and the authorised reporting or clarification step. Help: Name observable checks and the information source. Do not invent a repair, recipe, setting or local reporting title.
Apply: Pre-service brief and station scan. Use a teacher-authorised training station or supplied photograph. Complete the readiness scan, then give a 30-second brief-back to a partner who checks whether the next owner and action are clear.
Source boundary: Use only what can be seen in the supplied context or confirmed by the teacher. A plan is supporting learning evidence, not proof of observed practical competence.
[Sources]
Preparation, role clarity, operational information and integrated service are source-supported. Local checklists, reporting titles, service priorities and equipment preparation remain controlled by current teacher and workplace directions. Source IDs: TAS-2026-2027, TEACHER-T4-TOPICS, TGA-SITHIND007, TGA-BSBTWK201, SITE-T4-V2.
Local generated visual: assets/visuals/task-4-01-workplace-readiness.svg; provenance and accuracy boundary are recorded in task4-modules.json.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Use customer questions, verified product knowledge and the authorised recipe to select ingredients and equipment, prepare non-espresso beverages and evaluate them before service.
Teach from this module:
1. Know the beverage family before choosing the method: Non-alcoholic beverage work can include teas, non-espresso coffees, juices, smoothies, milk-based drinks, mixed cold beverages and other products on the authorised menu. Espresso beverages are handled through the separate espresso workflow because they require a commercial espresso machine and grinder.
2. Turn a vague request into usable order information: Customers often begin with broad language such as something refreshing, not too sweet or warm but not coffee. Use an open question to understand the goal, then closed questions to confirm relevant choices available on the current menu. Useful areas may include dietary needs, ingredient concerns, temperature, strength, ice, garnish, mixer, serviceware or an approved brand choice.
3. Select ingredients from evidence, not memory: Read the complete authorised recipe and order before collecting ingredients. Check that each ingredient is the correct product, is stored as directed, is suitable for use and matches the recorded customer request. Labels and approved product information are essential when a customer asks about ingredients or allergens.
Supplied worked example — Know the beverage family before choosing the method: Two drinks may both be served cold but require different methods and equipment. A blended beverage and a shaken beverage cannot be treated as interchangeable just because the finished colour looks similar.
Check: A customer asks for something cold, not too sweet and without espresso. What is the best first response?
Listen for: Ask a broad question about preferred flavour or style, then clarify relevant authorised options and ingredient needs. — Correct. The sequence turns a vague request into information that can be matched to the current menu.
If students choose “Choose the most popular cold drink and begin making it.”: Not yet. Popularity does not establish the customer's flavour, ingredient or dietary preferences.
Help cue: Review the move from an open question to confirmation of relevant choices.
Guided response: Use a teacher-issued menu and customer profile to explain how you would clarify the request, select one suitable non-espresso beverage and verify the preparation information before making it. Help: Show the question-and-confirmation process. Do not invent ingredients, quantities, temperatures or a promise about dietary suitability.
Apply: Beverage match and method card. Use three fictional customer cards and a teacher-issued beverage list. For each customer, ask the missing question, nominate an authorised product, select the preparation method and identify the final quality checks.
Source boundary: Fictional profiles and the current teacher-issued list are used. Students must not guess real allergens or publish a protected recipe.
[Sources]
Customer preference, ingredient and equipment selection, non-espresso methods, quality, presentation and waste are current unit-intent concepts. The actual products, recipes, measures, equipment and local procedures remain teacher-controlled. Source IDs: TAS-2026-2027, TEACHER-T4-TOPICS, TGA-SITHFAB024, SITE-T4-V2.
Local generated visual: assets/visuals/task-4-02-beverages.svg; provenance and accuracy boundary are recorded in task4-modules.json.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Choose and handle serviceware that suits the order, supports safe service and meets the current workplace presentation standard.
Teach from this module:
1. Serviceware is part of the product system: Serviceware includes the cups, glasses, plates, bowls, trays, cutlery and other approved items used to present, carry or consume food and beverages. The correct choice supports the product's portion, temperature, stability, appearance, accompaniments and safe handling.
2. Inspect before the item enters service: Check serviceware in good light before use. Look for soil, residue, lipstick marks, water spots where the local standard requires polishing, chips, cracks, sharp edges, instability or other damage. Check that it is dry or prepared as required and has been handled without contaminating food-contact or drinking surfaces.
3. Prepare the outlet for people and movement: Before service, check furniture, fittings and service areas for cleanliness, stability, condition and safe access. Arrange only within the authorised setup. Keep routes usable for staff and customers, allow the required access, and avoid placing trays, chairs, bags or equipment where they create a trip, collision or reach hazard.
Supplied worked example — Serviceware is part of the product system: Two beverages may have similar volume but different temperature, garnish or handling needs. The current product standard, not visual similarity, determines the serviceware.
Check: A cup has a small chip near the rim but otherwise looks clean. What should happen?
Listen for: Remove it from service through the workplace process and report the damage as required. — Correct. Cleanliness does not make damaged serviceware suitable.
If students choose “Use it for a less expensive drink.”: Not yet. Product price does not change the safety and presentation problem.
Help cue: Review the difference between clean appearance and acceptable condition.
Guided response: For a teacher-issued order, justify the serviceware and setup you would select, the checks you would complete and how you would keep the order identifiable through service and clearing. Help: Link each choice to the supplied order or current standard. Do not invent a local carrying method or claim that serviceware changes dietary suitability.
Apply: Serviceware inspection and match. Use a teacher-supplied clean display set or photographic cards. Inspect each item, decide whether it is suitable for service, then match accepted items to fictional orders and explain the evidence for each decision.
Source boundary: Do not handle damaged items or practise carrying without teacher approval. Photographs may be used for unsafe examples.
[Sources]
Serviceware selection, outlet preparation, customer access, serving, clearing and waste are source-supported. Exact table setup, carrying technique, item range and presentation standard remain local teacher-controlled practice. Source IDs: TEACHER-T4-TOPICS, TGA-SITHFAB024, TGA-SITHFAB027.
Local generated visual: assets/visuals/task-4-03-serviceware.svg; provenance and accuracy boundary are recorded in task4-modules.json.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Gather customer information accurately, record it through the authorised system and close the communication loop from the customer to production and back to service.
Teach from this module:
1. Create a useful opening and listen for the whole request: Welcome the customer according to the current service standard, offer assistance and listen without interrupting. The first statement may not contain enough information to prepare the order. Use an open question to understand the request, targeted closed questions for relevant choices, then confirmation to test that your record matches what the customer meant.
2. Advise from current product information: Use the current menu, beverage list, product card and authorised workplace information when describing products. A useful description focuses on verified features that help the customer decide. If an item is unavailable, explain the approved alternatives or seek assistance rather than promising a substitution.
3. Write an order another person can act on: Use the authorised order format or system. Record the exact product, the relevant customer choice or modification, the location or sequence identifier used by the organisation and any special request that must reach production. Write or enter information clearly enough that another worker does not need to guess.
Supplied worked example — Create a useful opening and listen for the whole request: A customer asks for two coffees, one with different milk. The worker identifies which drink is modified, verifies the current milk option and repeats both complete drinks rather than recording only different milk.
Check: A customer says, 'One regular and one with different milk.' What is the strongest next action?
Listen for: Ask which drink is modified, confirm the current milk option and repeat both complete drinks. — Correct. The clarification produces an order another worker can prepare without guessing.
If students choose “Record different milk beside the order and let production decide which drink it belongs to.”: Not yet. The modification is unusable until the exact affected product and approved option are clear.
Help cue: Review the move from the customer's first statement to a complete confirmed order.
Guided response: Write the complete communication trail for a fictional order that changes after it reaches production. Show the clarification, order record, relay, confirmation, customer update and final verification. Help: Use fictional identifiers and current-menu placeholders. Do not include personal details, invent a completion time or guarantee dietary suitability.
Apply: Order relay under change. In groups of three, use fictional customer, service worker and production roles. Complete an initial order, introduce a teacher-issued change card, update the record and close the loop. Rotate roles.
Source boundary: Use only fictional order and customer details. The exercise is communication practice and does not reproduce a current assessment observation.
[Sources]
Customer advice, order accuracy, special-request relay, service verification and delay follow-up are source-supported. The live ordering system, menu, allergy process, escalation authority and payment procedure remain local. Source IDs: TEACHER-T4-TOPICS, TGA-SITHFAB025, TGA-SITHFAB027, TGA-SITHIND007, SITE-T4-V2.
Local generated visual: assets/visuals/task-4-04-orders.svg; provenance and accuracy boundary are recorded in task4-modules.json.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Build the vocabulary and product knowledge needed to understand espresso orders, recognise workstation components and use the current recipe and equipment instructions responsibly.
Teach from this module:
1. Beans, blends and roasts shape the starting material: The authorised teacher terminology identifies Arabica and Robusta as major commercial coffee species. A blend may combine coffees to create a target balance of aroma, body, flavour and consistency. Roasting applies heat to green beans and develops the characteristics used in the final beverage.
2. Recognise the workstation before learning the operating method: The grinder prepares coffee for the current recipe. The hopper holds beans as permitted by the workplace. The group head is the machine connection for extraction; the group handle or portafilter carries the filter basket; the basket holds the prepared coffee; the tamper supports an even, level coffee bed; the steam wand is used in the authorised milk-texturing process; and the milk jug and serviceware are selected for the order.
3. Use beverage families as a map, not a substitute for recipes: Espresso beverage names help organise product knowledge. Some beverages are served primarily as espresso and water; others combine espresso with textured milk, foam, chocolate or other authorised components. The family helps a worker ask useful questions and locate the correct recipe.
Supplied worked example — Beans, blends and roasts shape the starting material: Two products both described as medium roast may use different beans and blend goals. The current product description, not the shared roast label alone, supports an accurate recommendation.
Check: Two coffee products share the same roast description but have different blend information. What is the strongest advice approach?
Listen for: Use the current verified product descriptions and explain only the characteristics they support. — Correct. The advice is traceable to the current products rather than a broad assumption.
If students choose “Tell the customer they will taste identical because the roast label matches.”: Not yet. Roast description is only one factor and does not erase blend, freshness or preparation differences.
Help cue: Review the factors that influence the cup in addition to a roast label.
Guided response: Create a product-and-equipment briefing for a new trainee. Explain one current coffee product, the equipment components they need to recognise, the customer information to confirm and the limits of what they may operate or promise. Help: Use the teacher-issued product card. Keep exact recipe values and machine controls out of the response.
Apply: Espresso station recognition and product conversation. Use an isolated machine, teacher-approved station or labelled visual. Match component names to functions, then role-play a customer product conversation using a current teacher-issued menu card.
Source boundary: Recognition may use a powered-off or photographic station. No student operates, adjusts or cleans equipment without teacher authorisation.
[Sources]
Coffee terminology, equipment roles, beverage families, customer preferences and mise en place are source-supported. Exact recipes, extraction values, settings, milk specifications and operating permissions remain local. Source IDs: TEACHER-COFFEE-TERMS, SUPPORTING-COFFEE, TGA-SITHFAB025, SITE-T4-V2.
Local generated visual: assets/visuals/task-4-05-espresso-foundations.svg; provenance and accuracy boundary are recorded in task4-modules.json.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Sequence espresso production around the confirmed order, current recipe, authorised machine method, observable quality and safe handover.
Teach from this module:
1. The workflow begins with the confirmed order: Before touching ingredients or equipment, confirm the beverage, current size or serviceware choice, milk, authorised extras and any verified customer request. Read the current recipe card as a complete sequence. Identify which components can be prepared together and which must wait to protect freshness and quality.
2. Prepare equipment and serviceware through the authorised method: Complete mise en place so ingredients, clean serviceware, jugs, tools, cloth controls and waste controls are available without crossing another worker's active area. Prepare the machine and grinder according to the current manufacturer and workplace instructions.
3. Keep preparation consistent and observable: Select the current beans and grind through the authorised setting and method. Use the required basket and ensure it is prepared as directed. Dose, distribute and tamp to create the even, level coffee bed required by the local process. The exact amount, setting and technique are taught from the current recipe and equipment instructions.
Supplied worked example — The workflow begins with the confirmed order: Two similar milk beverages are ordered with different milk choices. The worker keeps the orders identifiable and confirms each recipe path before grinding or pouring milk.
Check: An order changes milk after the worker has read the original docket but before production begins. What should happen first?
Listen for: Update or confirm the authorised record and make sure the changed product remains identifiable before selecting milk. — Correct. The confirmed order controls ingredients and workflow before they are committed.
If students choose “Remember the change and leave the original record unchanged.”: Not yet. Memory and the active record now disagree, creating a predictable handover error.
Help cue: Review why the active order must be correct before ingredients or equipment are used.
Guided response: Write a verbal rehearsal for one teacher-nominated espresso beverage. Include the confirmed order, station preparation, current recipe checkpoints, extraction and milk observations where relevant, presentation, handover and clean-as-you-go actions. Help: Write decision points and observations, not machine settings, ingredient quantities or copied recipe values.
Apply: Espresso workflow rehearsal and sequence cards. Arrange teacher-provided workflow cards, justify the decision points, then deliver the sequence aloud beside a powered-off or supervised station. Complete live actions only when authorised.
Source boundary: The sequence is preparation for supervised practical work. It does not prove machine operation or replace an authorised observation.
[Sources]
The end-to-end workflow, mise en place, customer order, coffee preparation, milk process, presentation, cleaning and fault referral are source-supported. Exact settings, recipe values, extraction targets and operating methods remain current local controls. Source IDs: TEACHER-COFFEE-TERMS, SUPPORTING-COFFEE, TGA-SITHFAB025, TGA-SITHIND007, SITE-T4-V2.
Local generated visual: assets/visuals/task-4-06-espresso-workflow.svg; provenance and accuracy boundary are recorded in task4-modules.json.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Evaluate food and beverage work against the current order and product standard, distinguish observations from assumptions and take only authorised corrective or referral action.
Teach from this module:
1. Quality begins with the order and current standard: A quality judgement needs a reference. Start with the confirmed order, authorised recipe, presentation standard and workplace procedure. Relevant evidence may include product identity, modification, appearance, aroma, body, taste, strength, texture, volume, temperature, serviceware, timing and clean handover.
2. Describe before diagnosing: An observation states what can be seen, heard, smelled, tasted or measured through the authorised process. The flow appeared faster than the current reference and the crema colour changed is an observation. The grinder is broken is a cause claim that requires more evidence.
3. Variables interact, so change deliberately: Espresso quality can be influenced by bean condition, freshness, storage, grind, dose, distribution, tamp, water and steam performance, milk characteristics, technique, equipment cleanliness and changing environmental conditions. Non-espresso beverages have their own ingredient, measurement, method, equipment and presentation variables.
Supplied worked example — Quality begins with the order and current standard: A beverage looks attractive but is in the wrong serviceware for the current product card. Appearance alone does not make the complete order correct.
Check: Which statement is an observation rather than an unsupported cause?
Listen for: The flow appeared faster than the current reference and the crema colour changed during this extraction. — Correct. It names observable features and the standard used for comparison without claiming a cause.
If students choose “The machine is faulty.”: Not yet. This names a cause without showing the evidence needed to establish it.
Help cue: Review how an observation differs from a diagnosis.
Guided response: Analyse a teacher-issued quality scenario. Record the observation, identify the standard used for comparison, list possible variables without declaring a cause, and justify the authorised accept, adjust, remake or report decision. Help: Begin with a neutral observation. Do not add extraction values, settings, tolerances or repair steps that are not in the supplied source.
Apply: Coffee quality observation log. During an authorised demonstration or from a supplied quality-comparison set, record two observations and follow each through standard, authorised action and result. Compare the two records for specificity.
Source boundary: Complete live observations only during authorised practical work. A supplied photograph, video or teacher demonstration must be labelled as such and not described as personal performance.
[Sources]
Observable product quality, single-variable reasoning, presentation checks, waste, equipment care and fault referral are source-supported. Exact target values, tolerances, correction settings and maintenance procedures remain local. Source IDs: TEACHER-COFFEE-TERMS, SUPPORTING-COFFEE, TGA-SITHFAB024, TGA-SITHFAB025, TGA-SITHFAB027, SITE-T4-V2.
Local generated visual: assets/visuals/task-4-07-quality.svg; provenance and accuracy boundary are recorded in task4-modules.json.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Work cooperatively through preparation, service and end-of-shift duties by clarifying responsibilities, sharing timely information, using feedback and escalating issues respectfully.
Teach from this module:
1. Clear roles support one shared service goal: A workgroup combines different responsibilities to achieve an outcome none of the roles can deliver alone. Front of house, beverage preparation, food production, clearing and supervision may each control different actions and information. Know your own responsibility, who depends on your output and who must be told when conditions change.
2. Choose the approved communication channel: Hospitality teams may use briefings, dockets, ordering technology, verbal calls, one-to-one updates, meetings or supervisor directions. The best channel depends on urgency, the information required, who must act and the workplace procedure. A safety issue may require immediate verbal escalation as well as a formal record; a routine stock update may use the normal handover process.
3. A handover finishes with ownership and confirmation: A complete handover states what changed, which order or task is affected, what has already been done, who owns the next action and when or how the result will be checked. The receiver confirms the message. The sender remains responsible for any customer or record update that belongs to their role.
Supplied worked example — Clear roles support one shared service goal: Front of house changes a fictional drink order. The beverage worker owns the product change, the service worker owns the customer update, and both rely on the authorised order record.
Check: Which handover is most useful after a customer changes one drink?
Listen for: Table four changed the second latte to the authorised alternative milk. The docket is updated; please confirm receipt while I update the customer. — Correct. The affected item, source of truth, next roles and confirmation are all clear.
If students choose “Something changed at table four.”: Not yet. The message does not identify the item, change, active record, owner or required action.
Help cue: Review the five pieces of information that complete a handover.
Guided response: Reflect on a teacher-issued team-service scenario. Explain your role, the shared goal, the information you communicated, the support or feedback used, the result and the next improvement. Help: Use exact observable communication and fictional or teacher-issued details. Do not claim another person's action as your own or identify a real customer or workplace.
Apply: Closed-loop team handover. Use a teacher-issued service change such as an altered order, shortage, delay, equipment fault or customer request. Work in sender, receiver and observer roles, then rotate.
Source boundary: Use fictional or teacher-issued information only. Do not enter real customer, staff, health or workplace details.
[Sources]
Role clarity, information sharing, team support, feedback, communication differences, issue escalation and end-of-shift handover are source-supported. Local channels, role titles, conflict procedure and escalation authority remain teacher-controlled. Source IDs: TEACHER-T4-TOPICS, TGA-BSBTWK201, TGA-SITHIND007, TGA-SITHFAB027, SITE-T4-V2.
Local generated visual: assets/visuals/task-4-08-teamwork.svg; provenance and accuracy boundary are recorded in task4-modules.json.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check: return to one purpose, one visual decision and one retrieval question rather than adding a generic recap.
Before formal assessment or practical work, confirm the current student package, local procedures, recipes, equipment instructions, adjustments and evidence destination.
Use the site module response and applied action as formative learning only unless the authorised package says otherwise.
[Sources]
Task source notes and evidence prompts: task4-modules.json. Local administration and assessment requirements remain controlled by the current teacher or RTO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F4A"/>
        </a:solidFill>
      </p:bgPr>
    </p:bg>
    <p:spTree>
      <p:nvGrpSpPr>
        <p:cNvPr id="1" name=""/>
        <p:cNvGrpSpPr/>
        <p:nvPr/>
      </p:nvGrpSpPr>
      <p:grpSpPr>
        <a:xfrm>
          <a:off x="0" y="0"/>
          <a:ext cx="0" cy="0"/>
          <a:chOff x="0" y="0"/>
          <a:chExt cx="0" cy="0"/>
        </a:xfrm>
      </p:grpSpPr>
      <p:sp>
        <p:nvSpPr>
          <p:cNvPr id="2" name="Shape 0"/>
          <p:cNvSpPr/>
          <p:nvPr/>
        </p:nvSpPr>
        <p:spPr>
          <a:xfrm>
            <a:off x="8412480" y="-1097280"/>
            <a:ext cx="4846320" cy="4846320"/>
          </a:xfrm>
          <a:prstGeom prst="ellipse">
            <a:avLst/>
          </a:prstGeom>
          <a:solidFill>
            <a:srgbClr val="8A9F62">
              <a:alpha val="85000"/>
            </a:srgbClr>
          </a:solidFill>
          <a:ln w="12700">
            <a:solidFill>
              <a:srgbClr val="8A9F62">
                <a:alpha val="0"/>
              </a:srgbClr>
            </a:solidFill>
            <a:prstDash val="solid"/>
          </a:ln>
        </p:spPr>
      </p:sp>
      <p:sp>
        <p:nvSpPr>
          <p:cNvPr id="3" name="Shape 1"/>
          <p:cNvSpPr/>
          <p:nvPr/>
        </p:nvSpPr>
        <p:spPr>
          <a:xfrm>
            <a:off x="9464040" y="73152"/>
            <a:ext cx="2057400" cy="2057400"/>
          </a:xfrm>
          <a:prstGeom prst="ellipse">
            <a:avLst/>
          </a:prstGeom>
          <a:solidFill>
            <a:srgbClr val="FBF3E6"/>
          </a:solidFill>
          <a:ln w="12700">
            <a:solidFill>
              <a:srgbClr val="FBF3E6">
                <a:alpha val="0"/>
              </a:srgbClr>
            </a:solidFill>
            <a:prstDash val="solid"/>
          </a:ln>
        </p:spPr>
      </p:sp>
      <p:sp>
        <p:nvSpPr>
          <p:cNvPr id="4" name="Text 2"/>
          <p:cNvSpPr/>
          <p:nvPr/>
        </p:nvSpPr>
        <p:spPr>
          <a:xfrm>
            <a:off x="9464040" y="283464"/>
            <a:ext cx="2057400" cy="1572768"/>
          </a:xfrm>
          <a:prstGeom prst="rect">
            <a:avLst/>
          </a:prstGeom>
          <a:noFill/>
          <a:ln/>
        </p:spPr>
        <p:txBody>
          <a:bodyPr wrap="square" lIns="0" tIns="0" rIns="0" bIns="0" rtlCol="0" anchor="ctr"/>
          <a:lstStyle/>
          <a:p>
            <a:pPr algn="ctr" indent="0" marL="0">
              <a:buNone/>
            </a:pPr>
            <a:r>
              <a:rPr lang="en-US" sz="8000" b="1" dirty="0">
                <a:solidFill>
                  <a:srgbClr val="0B4F4A"/>
                </a:solidFill>
                <a:latin typeface="Aptos Display" pitchFamily="34" charset="0"/>
                <a:ea typeface="Aptos Display" pitchFamily="34" charset="-122"/>
                <a:cs typeface="Aptos Display" pitchFamily="34" charset="-120"/>
              </a:rPr>
              <a:t>4</a:t>
            </a:r>
            <a:endParaRPr lang="en-US" sz="8000" dirty="0"/>
          </a:p>
        </p:txBody>
      </p:sp>
      <p:sp>
        <p:nvSpPr>
          <p:cNvPr id="5" name="Text 3"/>
          <p:cNvSpPr/>
          <p:nvPr/>
        </p:nvSpPr>
        <p:spPr>
          <a:xfrm>
            <a:off x="676656" y="658368"/>
            <a:ext cx="7040880" cy="256032"/>
          </a:xfrm>
          <a:prstGeom prst="rect">
            <a:avLst/>
          </a:prstGeom>
          <a:noFill/>
          <a:ln/>
        </p:spPr>
        <p:txBody>
          <a:bodyPr wrap="square" lIns="0" tIns="0" rIns="0" bIns="0" rtlCol="0" anchor="ctr"/>
          <a:lstStyle/>
          <a:p>
            <a:pPr indent="0" marL="0">
              <a:buNone/>
            </a:pPr>
            <a:r>
              <a:rPr lang="en-US" sz="1500" b="1" spc="120" kern="0" dirty="0">
                <a:solidFill>
                  <a:srgbClr val="F3DFB0"/>
                </a:solidFill>
                <a:latin typeface="Aptos" pitchFamily="34" charset="0"/>
                <a:ea typeface="Aptos" pitchFamily="34" charset="-122"/>
                <a:cs typeface="Aptos" pitchFamily="34" charset="-120"/>
              </a:rPr>
              <a:t>SIT20322 CERTIFICATE II IN HOSPITALITY</a:t>
            </a:r>
            <a:endParaRPr lang="en-US" sz="1500" dirty="0"/>
          </a:p>
        </p:txBody>
      </p:sp>
      <p:sp>
        <p:nvSpPr>
          <p:cNvPr id="6" name="Text 4"/>
          <p:cNvSpPr/>
          <p:nvPr/>
        </p:nvSpPr>
        <p:spPr>
          <a:xfrm>
            <a:off x="658368" y="1170432"/>
            <a:ext cx="7909560" cy="1353312"/>
          </a:xfrm>
          <a:prstGeom prst="rect">
            <a:avLst/>
          </a:prstGeom>
          <a:noFill/>
          <a:ln/>
        </p:spPr>
        <p:txBody>
          <a:bodyPr wrap="square" lIns="254" tIns="254" rIns="254" bIns="254" rtlCol="0" anchor="ctr">
            <a:normAutofit/>
          </a:bodyPr>
          <a:lstStyle/>
          <a:p>
            <a:pPr indent="0" marL="0">
              <a:buNone/>
            </a:pPr>
            <a:r>
              <a:rPr lang="en-US" sz="5000" b="1" dirty="0">
                <a:solidFill>
                  <a:srgbClr val="FFFFFF"/>
                </a:solidFill>
                <a:latin typeface="Aptos Display" pitchFamily="34" charset="0"/>
                <a:ea typeface="Aptos Display" pitchFamily="34" charset="-122"/>
                <a:cs typeface="Aptos Display" pitchFamily="34" charset="-120"/>
              </a:rPr>
              <a:t>Task 4 · Working in Hospitality</a:t>
            </a:r>
            <a:endParaRPr lang="en-US" sz="5000" dirty="0"/>
          </a:p>
        </p:txBody>
      </p:sp>
      <p:sp>
        <p:nvSpPr>
          <p:cNvPr id="7" name="Text 5"/>
          <p:cNvSpPr/>
          <p:nvPr/>
        </p:nvSpPr>
        <p:spPr>
          <a:xfrm>
            <a:off x="685800" y="2743200"/>
            <a:ext cx="7818120" cy="950976"/>
          </a:xfrm>
          <a:prstGeom prst="rect">
            <a:avLst/>
          </a:prstGeom>
          <a:noFill/>
          <a:ln/>
        </p:spPr>
        <p:txBody>
          <a:bodyPr wrap="square" lIns="0" tIns="0" rIns="0" bIns="0" rtlCol="0" anchor="ctr"/>
          <a:lstStyle/>
          <a:p>
            <a:pPr indent="0" marL="0">
              <a:buNone/>
            </a:pPr>
            <a:r>
              <a:rPr lang="en-US" sz="2300" dirty="0">
                <a:solidFill>
                  <a:srgbClr val="FBF3E6"/>
                </a:solidFill>
                <a:latin typeface="Aptos" pitchFamily="34" charset="0"/>
                <a:ea typeface="Aptos" pitchFamily="34" charset="-122"/>
                <a:cs typeface="Aptos" pitchFamily="34" charset="-120"/>
              </a:rPr>
              <a:t>Prepare for service, interpret beverage orders, use authorised espresso workflows, judge quality and work as a team.</a:t>
            </a:r>
            <a:endParaRPr lang="en-US" sz="2300" dirty="0"/>
          </a:p>
        </p:txBody>
      </p:sp>
      <p:sp>
        <p:nvSpPr>
          <p:cNvPr id="8" name="Shape 6"/>
          <p:cNvSpPr/>
          <p:nvPr/>
        </p:nvSpPr>
        <p:spPr>
          <a:xfrm>
            <a:off x="685800" y="4096512"/>
            <a:ext cx="10835640" cy="0"/>
          </a:xfrm>
          <a:prstGeom prst="line">
            <a:avLst/>
          </a:prstGeom>
          <a:noFill/>
          <a:ln w="16510">
            <a:solidFill>
              <a:srgbClr val="B8D9D3">
                <a:alpha val="65000"/>
              </a:srgbClr>
            </a:solidFill>
            <a:prstDash val="solid"/>
          </a:ln>
        </p:spPr>
      </p:sp>
      <p:sp>
        <p:nvSpPr>
          <p:cNvPr id="9" name="Text 7"/>
          <p:cNvSpPr/>
          <p:nvPr/>
        </p:nvSpPr>
        <p:spPr>
          <a:xfrm>
            <a:off x="685800" y="4407408"/>
            <a:ext cx="493776" cy="347472"/>
          </a:xfrm>
          <a:prstGeom prst="rect">
            <a:avLst/>
          </a:prstGeom>
          <a:noFill/>
          <a:ln/>
        </p:spPr>
        <p:txBody>
          <a:bodyPr wrap="square" lIns="0" tIns="0" rIns="0" bIns="0" rtlCol="0" anchor="ctr"/>
          <a:lstStyle/>
          <a:p>
            <a:pPr indent="0" marL="0">
              <a:buNone/>
            </a:pPr>
            <a:r>
              <a:rPr lang="en-US" sz="1800" b="1" dirty="0">
                <a:solidFill>
                  <a:srgbClr val="8A9F62"/>
                </a:solidFill>
                <a:latin typeface="Aptos Display" pitchFamily="34" charset="0"/>
                <a:ea typeface="Aptos Display" pitchFamily="34" charset="-122"/>
                <a:cs typeface="Aptos Display" pitchFamily="34" charset="-120"/>
              </a:rPr>
              <a:t>01</a:t>
            </a:r>
            <a:endParaRPr lang="en-US" sz="1800" dirty="0"/>
          </a:p>
        </p:txBody>
      </p:sp>
      <p:sp>
        <p:nvSpPr>
          <p:cNvPr id="10" name="Text 8"/>
          <p:cNvSpPr/>
          <p:nvPr/>
        </p:nvSpPr>
        <p:spPr>
          <a:xfrm>
            <a:off x="1234440" y="4361688"/>
            <a:ext cx="2697480" cy="676656"/>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Aptos" pitchFamily="34" charset="-122"/>
                <a:cs typeface="Aptos" pitchFamily="34" charset="-120"/>
              </a:rPr>
              <a:t>Prepare the service system</a:t>
            </a:r>
            <a:endParaRPr lang="en-US" sz="2000" dirty="0"/>
          </a:p>
        </p:txBody>
      </p:sp>
      <p:sp>
        <p:nvSpPr>
          <p:cNvPr id="11" name="Text 9"/>
          <p:cNvSpPr/>
          <p:nvPr/>
        </p:nvSpPr>
        <p:spPr>
          <a:xfrm>
            <a:off x="4279392" y="4407408"/>
            <a:ext cx="493776" cy="347472"/>
          </a:xfrm>
          <a:prstGeom prst="rect">
            <a:avLst/>
          </a:prstGeom>
          <a:noFill/>
          <a:ln/>
        </p:spPr>
        <p:txBody>
          <a:bodyPr wrap="square" lIns="0" tIns="0" rIns="0" bIns="0" rtlCol="0" anchor="ctr"/>
          <a:lstStyle/>
          <a:p>
            <a:pPr indent="0" marL="0">
              <a:buNone/>
            </a:pPr>
            <a:r>
              <a:rPr lang="en-US" sz="1800" b="1" dirty="0">
                <a:solidFill>
                  <a:srgbClr val="8A9F62"/>
                </a:solidFill>
                <a:latin typeface="Aptos Display" pitchFamily="34" charset="0"/>
                <a:ea typeface="Aptos Display" pitchFamily="34" charset="-122"/>
                <a:cs typeface="Aptos Display" pitchFamily="34" charset="-120"/>
              </a:rPr>
              <a:t>02</a:t>
            </a:r>
            <a:endParaRPr lang="en-US" sz="1800" dirty="0"/>
          </a:p>
        </p:txBody>
      </p:sp>
      <p:sp>
        <p:nvSpPr>
          <p:cNvPr id="12" name="Text 10"/>
          <p:cNvSpPr/>
          <p:nvPr/>
        </p:nvSpPr>
        <p:spPr>
          <a:xfrm>
            <a:off x="4828032" y="4361688"/>
            <a:ext cx="2697480" cy="676656"/>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Aptos" pitchFamily="34" charset="-122"/>
                <a:cs typeface="Aptos" pitchFamily="34" charset="-120"/>
              </a:rPr>
              <a:t>Produce and check</a:t>
            </a:r>
            <a:endParaRPr lang="en-US" sz="2000" dirty="0"/>
          </a:p>
        </p:txBody>
      </p:sp>
      <p:sp>
        <p:nvSpPr>
          <p:cNvPr id="13" name="Text 11"/>
          <p:cNvSpPr/>
          <p:nvPr/>
        </p:nvSpPr>
        <p:spPr>
          <a:xfrm>
            <a:off x="7872984" y="4407408"/>
            <a:ext cx="493776" cy="347472"/>
          </a:xfrm>
          <a:prstGeom prst="rect">
            <a:avLst/>
          </a:prstGeom>
          <a:noFill/>
          <a:ln/>
        </p:spPr>
        <p:txBody>
          <a:bodyPr wrap="square" lIns="0" tIns="0" rIns="0" bIns="0" rtlCol="0" anchor="ctr"/>
          <a:lstStyle/>
          <a:p>
            <a:pPr indent="0" marL="0">
              <a:buNone/>
            </a:pPr>
            <a:r>
              <a:rPr lang="en-US" sz="1800" b="1" dirty="0">
                <a:solidFill>
                  <a:srgbClr val="8A9F62"/>
                </a:solidFill>
                <a:latin typeface="Aptos Display" pitchFamily="34" charset="0"/>
                <a:ea typeface="Aptos Display" pitchFamily="34" charset="-122"/>
                <a:cs typeface="Aptos Display" pitchFamily="34" charset="-120"/>
              </a:rPr>
              <a:t>03</a:t>
            </a:r>
            <a:endParaRPr lang="en-US" sz="1800" dirty="0"/>
          </a:p>
        </p:txBody>
      </p:sp>
      <p:sp>
        <p:nvSpPr>
          <p:cNvPr id="14" name="Text 12"/>
          <p:cNvSpPr/>
          <p:nvPr/>
        </p:nvSpPr>
        <p:spPr>
          <a:xfrm>
            <a:off x="8421624" y="4361688"/>
            <a:ext cx="2697480" cy="676656"/>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Aptos" pitchFamily="34" charset="-122"/>
                <a:cs typeface="Aptos" pitchFamily="34" charset="-120"/>
              </a:rPr>
              <a:t>Work as one team</a:t>
            </a:r>
            <a:endParaRPr lang="en-US" sz="2000" dirty="0"/>
          </a:p>
        </p:txBody>
      </p:sp>
      <p:sp>
        <p:nvSpPr>
          <p:cNvPr id="15" name="Text 13"/>
          <p:cNvSpPr/>
          <p:nvPr/>
        </p:nvSpPr>
        <p:spPr>
          <a:xfrm>
            <a:off x="685800" y="6062472"/>
            <a:ext cx="7040880" cy="274320"/>
          </a:xfrm>
          <a:prstGeom prst="rect">
            <a:avLst/>
          </a:prstGeom>
          <a:noFill/>
          <a:ln/>
        </p:spPr>
        <p:txBody>
          <a:bodyPr wrap="square" lIns="0" tIns="0" rIns="0" bIns="0" rtlCol="0" anchor="ctr"/>
          <a:lstStyle/>
          <a:p>
            <a:pPr indent="0" marL="0">
              <a:buNone/>
            </a:pPr>
            <a:r>
              <a:rPr lang="en-US" sz="1450" dirty="0">
                <a:solidFill>
                  <a:srgbClr val="B8D9D3"/>
                </a:solidFill>
                <a:latin typeface="Aptos" pitchFamily="34" charset="0"/>
                <a:ea typeface="Aptos" pitchFamily="34" charset="-122"/>
                <a:cs typeface="Aptos" pitchFamily="34" charset="-120"/>
              </a:rPr>
              <a:t>8 lesson visuals · retrieval · applied checking</a:t>
            </a:r>
            <a:endParaRPr lang="en-US" sz="1450" dirty="0"/>
          </a:p>
        </p:txBody>
      </p:sp>
      <p:sp>
        <p:nvSpPr>
          <p:cNvPr id="16" name="Text 14"/>
          <p:cNvSpPr/>
          <p:nvPr/>
        </p:nvSpPr>
        <p:spPr>
          <a:xfrm>
            <a:off x="10899648" y="6062472"/>
            <a:ext cx="640080" cy="274320"/>
          </a:xfrm>
          <a:prstGeom prst="rect">
            <a:avLst/>
          </a:prstGeom>
          <a:noFill/>
          <a:ln/>
        </p:spPr>
        <p:txBody>
          <a:bodyPr wrap="square" lIns="0" tIns="0" rIns="0" bIns="0" rtlCol="0" anchor="ctr"/>
          <a:lstStyle/>
          <a:p>
            <a:pPr algn="r" indent="0" marL="0">
              <a:buNone/>
            </a:pPr>
            <a:r>
              <a:rPr lang="en-US" sz="1200" dirty="0">
                <a:solidFill>
                  <a:srgbClr val="B8D9D3"/>
                </a:solidFill>
                <a:latin typeface="Aptos" pitchFamily="34" charset="0"/>
                <a:ea typeface="Aptos" pitchFamily="34" charset="-122"/>
                <a:cs typeface="Aptos" pitchFamily="34" charset="-120"/>
              </a:rPr>
              <a:t>1 / 10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8A9F62"/>
          </a:solidFill>
          <a:ln w="12700">
            <a:solidFill>
              <a:srgbClr val="8A9F6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4 · LESSON 01</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Workplace readiness: prepare the whole service system</a:t>
            </a:r>
            <a:endParaRPr lang="en-US" sz="28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workplace-readiness-instructional-visual" descr="Annotated beverage station showing current service information, clear access, protected ingredients, clean serviceware, an equipment check and a shortage that must be reported before servic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600" dirty="0">
                <a:solidFill>
                  <a:srgbClr val="17343A"/>
                </a:solidFill>
                <a:latin typeface="Aptos" pitchFamily="34" charset="0"/>
                <a:ea typeface="Aptos" pitchFamily="34" charset="-122"/>
                <a:cs typeface="Aptos" pitchFamily="34" charset="-120"/>
              </a:rPr>
              <a:t>Plan and prepare for a service period by confirming current information, understanding the role, checking the work area and communicating problems before they affect customers or the team.</a:t>
            </a:r>
            <a:endParaRPr lang="en-US" sz="16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8A9F62"/>
          </a:solidFill>
          <a:ln w="12700">
            <a:solidFill>
              <a:srgbClr val="8A9F62">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A service period is a connected system</a:t>
            </a:r>
            <a:endParaRPr lang="en-US" sz="1600" dirty="0"/>
          </a:p>
        </p:txBody>
      </p:sp>
      <p:sp>
        <p:nvSpPr>
          <p:cNvPr id="13" name="Shape 10"/>
          <p:cNvSpPr/>
          <p:nvPr/>
        </p:nvSpPr>
        <p:spPr>
          <a:xfrm>
            <a:off x="7342632" y="4105656"/>
            <a:ext cx="118872" cy="118872"/>
          </a:xfrm>
          <a:prstGeom prst="ellipse">
            <a:avLst/>
          </a:prstGeom>
          <a:solidFill>
            <a:srgbClr val="8A9F62"/>
          </a:solidFill>
          <a:ln w="12700">
            <a:solidFill>
              <a:srgbClr val="8A9F62">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Start from current organisational information</a:t>
            </a:r>
            <a:endParaRPr lang="en-US" sz="1600" dirty="0"/>
          </a:p>
        </p:txBody>
      </p:sp>
      <p:sp>
        <p:nvSpPr>
          <p:cNvPr id="15" name="Shape 12"/>
          <p:cNvSpPr/>
          <p:nvPr/>
        </p:nvSpPr>
        <p:spPr>
          <a:xfrm>
            <a:off x="7342632" y="4562856"/>
            <a:ext cx="118872" cy="118872"/>
          </a:xfrm>
          <a:prstGeom prst="ellipse">
            <a:avLst/>
          </a:prstGeom>
          <a:solidFill>
            <a:srgbClr val="8A9F62"/>
          </a:solidFill>
          <a:ln w="12700">
            <a:solidFill>
              <a:srgbClr val="8A9F62">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Know your role, the shared goal and the reporting line</a:t>
            </a:r>
            <a:endParaRPr lang="en-US" sz="1600" dirty="0"/>
          </a:p>
        </p:txBody>
      </p:sp>
      <p:sp>
        <p:nvSpPr>
          <p:cNvPr id="17" name="Shape 14"/>
          <p:cNvSpPr/>
          <p:nvPr/>
        </p:nvSpPr>
        <p:spPr>
          <a:xfrm>
            <a:off x="7342632" y="5029200"/>
            <a:ext cx="4315968" cy="1234440"/>
          </a:xfrm>
          <a:prstGeom prst="roundRect">
            <a:avLst>
              <a:gd name="adj" fmla="val 3704"/>
            </a:avLst>
          </a:prstGeom>
          <a:solidFill>
            <a:srgbClr val="0B4F4A"/>
          </a:solidFill>
          <a:ln w="12700">
            <a:solidFill>
              <a:srgbClr val="0B4F4A">
                <a:alpha val="0"/>
              </a:srgbClr>
            </a:solidFill>
            <a:prstDash val="solid"/>
          </a:ln>
        </p:spPr>
      </p:sp>
      <p:sp>
        <p:nvSpPr>
          <p:cNvPr id="18" name="Text 15"/>
          <p:cNvSpPr/>
          <p:nvPr/>
        </p:nvSpPr>
        <p:spPr>
          <a:xfrm>
            <a:off x="7507224" y="5129784"/>
            <a:ext cx="3986784"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7507224" y="5358384"/>
            <a:ext cx="3986784" cy="850392"/>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The printed beverage list and the supervisor's current briefing appear to disagree. What is the strongest first action?</a:t>
            </a:r>
            <a:endParaRPr lang="en-US" sz="15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4</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2 / 10</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8A9F62"/>
          </a:solidFill>
          <a:ln w="12700">
            <a:solidFill>
              <a:srgbClr val="8A9F6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4 · LESSON 02</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Non-alcoholic beverages: match, prepare and present</a:t>
            </a:r>
            <a:endParaRPr lang="en-US" sz="28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beverages-instructional-visual" descr="Six beverage preparation panels match brewing, plunging, juicing, mixing, shaking and blending with representative clean equipment and observable product feature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600" dirty="0">
                <a:solidFill>
                  <a:srgbClr val="17343A"/>
                </a:solidFill>
                <a:latin typeface="Aptos" pitchFamily="34" charset="0"/>
                <a:ea typeface="Aptos" pitchFamily="34" charset="-122"/>
                <a:cs typeface="Aptos" pitchFamily="34" charset="-120"/>
              </a:rPr>
              <a:t>Use customer questions, verified product knowledge and the authorised recipe to select ingredients and equipment, prepare non-espresso beverages and evaluate them before service.</a:t>
            </a:r>
            <a:endParaRPr lang="en-US" sz="160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8A9F62"/>
          </a:solidFill>
          <a:ln w="12700">
            <a:solidFill>
              <a:srgbClr val="8A9F62">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Know the beverage family before choosing the method</a:t>
            </a:r>
            <a:endParaRPr lang="en-US" sz="1600" dirty="0"/>
          </a:p>
        </p:txBody>
      </p:sp>
      <p:sp>
        <p:nvSpPr>
          <p:cNvPr id="13" name="Shape 10"/>
          <p:cNvSpPr/>
          <p:nvPr/>
        </p:nvSpPr>
        <p:spPr>
          <a:xfrm>
            <a:off x="530352" y="4105656"/>
            <a:ext cx="118872" cy="118872"/>
          </a:xfrm>
          <a:prstGeom prst="ellipse">
            <a:avLst/>
          </a:prstGeom>
          <a:solidFill>
            <a:srgbClr val="8A9F62"/>
          </a:solidFill>
          <a:ln w="12700">
            <a:solidFill>
              <a:srgbClr val="8A9F62">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Turn a vague request into usable order information</a:t>
            </a:r>
            <a:endParaRPr lang="en-US" sz="1600" dirty="0"/>
          </a:p>
        </p:txBody>
      </p:sp>
      <p:sp>
        <p:nvSpPr>
          <p:cNvPr id="15" name="Shape 12"/>
          <p:cNvSpPr/>
          <p:nvPr/>
        </p:nvSpPr>
        <p:spPr>
          <a:xfrm>
            <a:off x="530352" y="4562856"/>
            <a:ext cx="118872" cy="118872"/>
          </a:xfrm>
          <a:prstGeom prst="ellipse">
            <a:avLst/>
          </a:prstGeom>
          <a:solidFill>
            <a:srgbClr val="8A9F62"/>
          </a:solidFill>
          <a:ln w="12700">
            <a:solidFill>
              <a:srgbClr val="8A9F62">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Select ingredients from evidence, not memory</a:t>
            </a:r>
            <a:endParaRPr lang="en-US" sz="1600" dirty="0"/>
          </a:p>
        </p:txBody>
      </p:sp>
      <p:sp>
        <p:nvSpPr>
          <p:cNvPr id="17" name="Shape 14"/>
          <p:cNvSpPr/>
          <p:nvPr/>
        </p:nvSpPr>
        <p:spPr>
          <a:xfrm>
            <a:off x="530352" y="5029200"/>
            <a:ext cx="4315968" cy="1234440"/>
          </a:xfrm>
          <a:prstGeom prst="roundRect">
            <a:avLst>
              <a:gd name="adj" fmla="val 3704"/>
            </a:avLst>
          </a:prstGeom>
          <a:solidFill>
            <a:srgbClr val="0B4F4A"/>
          </a:solidFill>
          <a:ln w="12700">
            <a:solidFill>
              <a:srgbClr val="0B4F4A">
                <a:alpha val="0"/>
              </a:srgbClr>
            </a:solidFill>
            <a:prstDash val="solid"/>
          </a:ln>
        </p:spPr>
      </p:sp>
      <p:sp>
        <p:nvSpPr>
          <p:cNvPr id="18" name="Text 15"/>
          <p:cNvSpPr/>
          <p:nvPr/>
        </p:nvSpPr>
        <p:spPr>
          <a:xfrm>
            <a:off x="694944" y="5129784"/>
            <a:ext cx="3986784"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694944" y="5358384"/>
            <a:ext cx="3986784" cy="850392"/>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A customer asks for something cold, not too sweet and without espresso. What is the best first response?</a:t>
            </a:r>
            <a:endParaRPr lang="en-US" sz="15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4</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3 / 10</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8A9F62"/>
          </a:solidFill>
          <a:ln w="12700">
            <a:solidFill>
              <a:srgbClr val="8A9F6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4 · LESSON 03</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Serviceware: select, inspect, present and clear</a:t>
            </a:r>
            <a:endParaRPr lang="en-US" sz="28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serviceware-instructional-visual" descr="Serviceware inspection grid compares clean suitable items with soil, a chipped rim, a crack and an item that does not match the supplied product card.">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850" dirty="0">
                <a:solidFill>
                  <a:srgbClr val="17343A"/>
                </a:solidFill>
                <a:latin typeface="Aptos" pitchFamily="34" charset="0"/>
                <a:ea typeface="Aptos" pitchFamily="34" charset="-122"/>
                <a:cs typeface="Aptos" pitchFamily="34" charset="-120"/>
              </a:rPr>
              <a:t>Choose and handle serviceware that suits the order, supports safe service and meets the current workplace presentation standard.</a:t>
            </a:r>
            <a:endParaRPr lang="en-US" sz="185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8A9F62"/>
          </a:solidFill>
          <a:ln w="12700">
            <a:solidFill>
              <a:srgbClr val="8A9F62">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Serviceware is part of the product system</a:t>
            </a:r>
            <a:endParaRPr lang="en-US" sz="1600" dirty="0"/>
          </a:p>
        </p:txBody>
      </p:sp>
      <p:sp>
        <p:nvSpPr>
          <p:cNvPr id="13" name="Shape 10"/>
          <p:cNvSpPr/>
          <p:nvPr/>
        </p:nvSpPr>
        <p:spPr>
          <a:xfrm>
            <a:off x="7342632" y="4105656"/>
            <a:ext cx="118872" cy="118872"/>
          </a:xfrm>
          <a:prstGeom prst="ellipse">
            <a:avLst/>
          </a:prstGeom>
          <a:solidFill>
            <a:srgbClr val="8A9F62"/>
          </a:solidFill>
          <a:ln w="12700">
            <a:solidFill>
              <a:srgbClr val="8A9F62">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Inspect before the item enters service</a:t>
            </a:r>
            <a:endParaRPr lang="en-US" sz="1600" dirty="0"/>
          </a:p>
        </p:txBody>
      </p:sp>
      <p:sp>
        <p:nvSpPr>
          <p:cNvPr id="15" name="Shape 12"/>
          <p:cNvSpPr/>
          <p:nvPr/>
        </p:nvSpPr>
        <p:spPr>
          <a:xfrm>
            <a:off x="7342632" y="4562856"/>
            <a:ext cx="118872" cy="118872"/>
          </a:xfrm>
          <a:prstGeom prst="ellipse">
            <a:avLst/>
          </a:prstGeom>
          <a:solidFill>
            <a:srgbClr val="8A9F62"/>
          </a:solidFill>
          <a:ln w="12700">
            <a:solidFill>
              <a:srgbClr val="8A9F62">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Prepare the outlet for people and movement</a:t>
            </a:r>
            <a:endParaRPr lang="en-US" sz="1600" dirty="0"/>
          </a:p>
        </p:txBody>
      </p:sp>
      <p:sp>
        <p:nvSpPr>
          <p:cNvPr id="17" name="Shape 14"/>
          <p:cNvSpPr/>
          <p:nvPr/>
        </p:nvSpPr>
        <p:spPr>
          <a:xfrm>
            <a:off x="7342632" y="5029200"/>
            <a:ext cx="4315968" cy="1024128"/>
          </a:xfrm>
          <a:prstGeom prst="roundRect">
            <a:avLst>
              <a:gd name="adj" fmla="val 446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740664"/>
          </a:xfrm>
          <a:prstGeom prst="rect">
            <a:avLst/>
          </a:prstGeom>
          <a:noFill/>
          <a:ln/>
        </p:spPr>
        <p:txBody>
          <a:bodyPr wrap="square" lIns="0" tIns="0" rIns="0" bIns="0" rtlCol="0" anchor="ctr">
            <a:normAutofit/>
          </a:bodyPr>
          <a:lstStyle/>
          <a:p>
            <a:pPr indent="0" marL="0">
              <a:buNone/>
            </a:pPr>
            <a:r>
              <a:rPr lang="en-US" sz="1650" b="1" dirty="0">
                <a:solidFill>
                  <a:srgbClr val="FFFFFF"/>
                </a:solidFill>
                <a:latin typeface="Aptos" pitchFamily="34" charset="0"/>
                <a:ea typeface="Aptos" pitchFamily="34" charset="-122"/>
                <a:cs typeface="Aptos" pitchFamily="34" charset="-120"/>
              </a:rPr>
              <a:t>A cup has a small chip near the rim but otherwise looks clean. What should happen?</a:t>
            </a:r>
            <a:endParaRPr lang="en-US" sz="16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4</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4 / 10</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8A9F62"/>
          </a:solidFill>
          <a:ln w="12700">
            <a:solidFill>
              <a:srgbClr val="8A9F6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4 · LESSON 04</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Orders: listen, record, relay and verify</a:t>
            </a:r>
            <a:endParaRPr lang="en-US" sz="35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orders-instructional-visual" descr="Order communication trail shows a fictional request recorded, relayed to production, changed in the authorised record, confirmed by the receiver and verified before customer handover.">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Gather customer information accurately, record it through the authorised system and close the communication loop from the customer to production and back to service.</a:t>
            </a:r>
            <a:endParaRPr lang="en-US" sz="170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8A9F62"/>
          </a:solidFill>
          <a:ln w="12700">
            <a:solidFill>
              <a:srgbClr val="8A9F62">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Create a useful opening and listen for the whole request</a:t>
            </a:r>
            <a:endParaRPr lang="en-US" sz="1600" dirty="0"/>
          </a:p>
        </p:txBody>
      </p:sp>
      <p:sp>
        <p:nvSpPr>
          <p:cNvPr id="13" name="Shape 10"/>
          <p:cNvSpPr/>
          <p:nvPr/>
        </p:nvSpPr>
        <p:spPr>
          <a:xfrm>
            <a:off x="530352" y="4105656"/>
            <a:ext cx="118872" cy="118872"/>
          </a:xfrm>
          <a:prstGeom prst="ellipse">
            <a:avLst/>
          </a:prstGeom>
          <a:solidFill>
            <a:srgbClr val="8A9F62"/>
          </a:solidFill>
          <a:ln w="12700">
            <a:solidFill>
              <a:srgbClr val="8A9F62">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Advise from current product information</a:t>
            </a:r>
            <a:endParaRPr lang="en-US" sz="1600" dirty="0"/>
          </a:p>
        </p:txBody>
      </p:sp>
      <p:sp>
        <p:nvSpPr>
          <p:cNvPr id="15" name="Shape 12"/>
          <p:cNvSpPr/>
          <p:nvPr/>
        </p:nvSpPr>
        <p:spPr>
          <a:xfrm>
            <a:off x="530352" y="4562856"/>
            <a:ext cx="118872" cy="118872"/>
          </a:xfrm>
          <a:prstGeom prst="ellipse">
            <a:avLst/>
          </a:prstGeom>
          <a:solidFill>
            <a:srgbClr val="8A9F62"/>
          </a:solidFill>
          <a:ln w="12700">
            <a:solidFill>
              <a:srgbClr val="8A9F62">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Write an order another person can act on</a:t>
            </a:r>
            <a:endParaRPr lang="en-US" sz="1600" dirty="0"/>
          </a:p>
        </p:txBody>
      </p:sp>
      <p:sp>
        <p:nvSpPr>
          <p:cNvPr id="17" name="Shape 14"/>
          <p:cNvSpPr/>
          <p:nvPr/>
        </p:nvSpPr>
        <p:spPr>
          <a:xfrm>
            <a:off x="530352" y="5029200"/>
            <a:ext cx="4315968" cy="1024128"/>
          </a:xfrm>
          <a:prstGeom prst="roundRect">
            <a:avLst>
              <a:gd name="adj" fmla="val 4464"/>
            </a:avLst>
          </a:prstGeom>
          <a:solidFill>
            <a:srgbClr val="0B4F4A"/>
          </a:solidFill>
          <a:ln w="12700">
            <a:solidFill>
              <a:srgbClr val="0B4F4A">
                <a:alpha val="0"/>
              </a:srgbClr>
            </a:solidFill>
            <a:prstDash val="solid"/>
          </a:ln>
        </p:spPr>
      </p:sp>
      <p:sp>
        <p:nvSpPr>
          <p:cNvPr id="18" name="Text 15"/>
          <p:cNvSpPr/>
          <p:nvPr/>
        </p:nvSpPr>
        <p:spPr>
          <a:xfrm>
            <a:off x="69494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1362456" y="5102352"/>
            <a:ext cx="3337560" cy="740664"/>
          </a:xfrm>
          <a:prstGeom prst="rect">
            <a:avLst/>
          </a:prstGeom>
          <a:noFill/>
          <a:ln/>
        </p:spPr>
        <p:txBody>
          <a:bodyPr wrap="square" lIns="0" tIns="0" rIns="0" bIns="0" rtlCol="0" anchor="ctr">
            <a:normAutofit/>
          </a:bodyPr>
          <a:lstStyle/>
          <a:p>
            <a:pPr indent="0" marL="0">
              <a:buNone/>
            </a:pPr>
            <a:r>
              <a:rPr lang="en-US" sz="1650" b="1" dirty="0">
                <a:solidFill>
                  <a:srgbClr val="FFFFFF"/>
                </a:solidFill>
                <a:latin typeface="Aptos" pitchFamily="34" charset="0"/>
                <a:ea typeface="Aptos" pitchFamily="34" charset="-122"/>
                <a:cs typeface="Aptos" pitchFamily="34" charset="-120"/>
              </a:rPr>
              <a:t>A customer says, 'One regular and one with different milk.' What is the strongest next action?</a:t>
            </a:r>
            <a:endParaRPr lang="en-US" sz="16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4</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5 / 10</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8A9F62"/>
          </a:solidFill>
          <a:ln w="12700">
            <a:solidFill>
              <a:srgbClr val="8A9F6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4 · LESSON 05</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Espresso foundations: product, equipment and customer language</a:t>
            </a:r>
            <a:endParaRPr lang="en-US" sz="24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espresso-foundations-instructional-visual" descr="Labelled commercial espresso station identifies the grinder, hopper, group head, portafilter, basket, tamper, steam wand, milk jug and serviceware while directing operating details to teacher and manufacturer instruction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600" dirty="0">
                <a:solidFill>
                  <a:srgbClr val="17343A"/>
                </a:solidFill>
                <a:latin typeface="Aptos" pitchFamily="34" charset="0"/>
                <a:ea typeface="Aptos" pitchFamily="34" charset="-122"/>
                <a:cs typeface="Aptos" pitchFamily="34" charset="-120"/>
              </a:rPr>
              <a:t>Build the vocabulary and product knowledge needed to understand espresso orders, recognise workstation components and use the current recipe and equipment instructions responsibly.</a:t>
            </a:r>
            <a:endParaRPr lang="en-US" sz="16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8A9F62"/>
          </a:solidFill>
          <a:ln w="12700">
            <a:solidFill>
              <a:srgbClr val="8A9F62">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Beans, blends and roasts shape the starting material</a:t>
            </a:r>
            <a:endParaRPr lang="en-US" sz="1600" dirty="0"/>
          </a:p>
        </p:txBody>
      </p:sp>
      <p:sp>
        <p:nvSpPr>
          <p:cNvPr id="13" name="Shape 10"/>
          <p:cNvSpPr/>
          <p:nvPr/>
        </p:nvSpPr>
        <p:spPr>
          <a:xfrm>
            <a:off x="7342632" y="4105656"/>
            <a:ext cx="118872" cy="118872"/>
          </a:xfrm>
          <a:prstGeom prst="ellipse">
            <a:avLst/>
          </a:prstGeom>
          <a:solidFill>
            <a:srgbClr val="8A9F62"/>
          </a:solidFill>
          <a:ln w="12700">
            <a:solidFill>
              <a:srgbClr val="8A9F62">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Recognise the workstation before learning the operating method</a:t>
            </a:r>
            <a:endParaRPr lang="en-US" sz="1600" dirty="0"/>
          </a:p>
        </p:txBody>
      </p:sp>
      <p:sp>
        <p:nvSpPr>
          <p:cNvPr id="15" name="Shape 12"/>
          <p:cNvSpPr/>
          <p:nvPr/>
        </p:nvSpPr>
        <p:spPr>
          <a:xfrm>
            <a:off x="7342632" y="4562856"/>
            <a:ext cx="118872" cy="118872"/>
          </a:xfrm>
          <a:prstGeom prst="ellipse">
            <a:avLst/>
          </a:prstGeom>
          <a:solidFill>
            <a:srgbClr val="8A9F62"/>
          </a:solidFill>
          <a:ln w="12700">
            <a:solidFill>
              <a:srgbClr val="8A9F62">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Use beverage families as a map, not a substitute for recipes</a:t>
            </a:r>
            <a:endParaRPr lang="en-US" sz="1600" dirty="0"/>
          </a:p>
        </p:txBody>
      </p:sp>
      <p:sp>
        <p:nvSpPr>
          <p:cNvPr id="17" name="Shape 14"/>
          <p:cNvSpPr/>
          <p:nvPr/>
        </p:nvSpPr>
        <p:spPr>
          <a:xfrm>
            <a:off x="7342632" y="5029200"/>
            <a:ext cx="4315968" cy="1344168"/>
          </a:xfrm>
          <a:prstGeom prst="roundRect">
            <a:avLst>
              <a:gd name="adj" fmla="val 3401"/>
            </a:avLst>
          </a:prstGeom>
          <a:solidFill>
            <a:srgbClr val="0B4F4A"/>
          </a:solidFill>
          <a:ln w="12700">
            <a:solidFill>
              <a:srgbClr val="0B4F4A">
                <a:alpha val="0"/>
              </a:srgbClr>
            </a:solidFill>
            <a:prstDash val="solid"/>
          </a:ln>
        </p:spPr>
      </p:sp>
      <p:sp>
        <p:nvSpPr>
          <p:cNvPr id="18" name="Text 15"/>
          <p:cNvSpPr/>
          <p:nvPr/>
        </p:nvSpPr>
        <p:spPr>
          <a:xfrm>
            <a:off x="7507224" y="5129784"/>
            <a:ext cx="3986784"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7507224" y="5358384"/>
            <a:ext cx="3986784" cy="960120"/>
          </a:xfrm>
          <a:prstGeom prst="rect">
            <a:avLst/>
          </a:prstGeom>
          <a:noFill/>
          <a:ln/>
        </p:spPr>
        <p:txBody>
          <a:bodyPr wrap="square" lIns="0" tIns="0" rIns="0" bIns="0" rtlCol="0" anchor="ctr">
            <a:normAutofit/>
          </a:bodyPr>
          <a:lstStyle/>
          <a:p>
            <a:pPr indent="0" marL="0">
              <a:buNone/>
            </a:pPr>
            <a:r>
              <a:rPr lang="en-US" sz="1450" b="1" dirty="0">
                <a:solidFill>
                  <a:srgbClr val="FFFFFF"/>
                </a:solidFill>
                <a:latin typeface="Aptos" pitchFamily="34" charset="0"/>
                <a:ea typeface="Aptos" pitchFamily="34" charset="-122"/>
                <a:cs typeface="Aptos" pitchFamily="34" charset="-120"/>
              </a:rPr>
              <a:t>Two coffee products share the same roast description but have different blend information. What is the strongest advice approach?</a:t>
            </a:r>
            <a:endParaRPr lang="en-US" sz="14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4</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6 / 10</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8A9F62"/>
          </a:solidFill>
          <a:ln w="12700">
            <a:solidFill>
              <a:srgbClr val="8A9F6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4 · LESSON 06</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Espresso workflow: confirm, prepare, extract, texture and serve</a:t>
            </a:r>
            <a:endParaRPr lang="en-US" sz="24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espresso-workflow-instructional-visual" descr="Eight-frame espresso workflow follows a confirmed order through station preparation, coffee preparation, extraction observation, milk texturing, presentation, handover and cleaning, with recipe and stop-or-report decision point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850" dirty="0">
                <a:solidFill>
                  <a:srgbClr val="17343A"/>
                </a:solidFill>
                <a:latin typeface="Aptos" pitchFamily="34" charset="0"/>
                <a:ea typeface="Aptos" pitchFamily="34" charset="-122"/>
                <a:cs typeface="Aptos" pitchFamily="34" charset="-120"/>
              </a:rPr>
              <a:t>Sequence espresso production around the confirmed order, current recipe, authorised machine method, observable quality and safe handover.</a:t>
            </a:r>
            <a:endParaRPr lang="en-US" sz="185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8A9F62"/>
          </a:solidFill>
          <a:ln w="12700">
            <a:solidFill>
              <a:srgbClr val="8A9F62">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The workflow begins with the confirmed order</a:t>
            </a:r>
            <a:endParaRPr lang="en-US" sz="1600" dirty="0"/>
          </a:p>
        </p:txBody>
      </p:sp>
      <p:sp>
        <p:nvSpPr>
          <p:cNvPr id="13" name="Shape 10"/>
          <p:cNvSpPr/>
          <p:nvPr/>
        </p:nvSpPr>
        <p:spPr>
          <a:xfrm>
            <a:off x="530352" y="4105656"/>
            <a:ext cx="118872" cy="118872"/>
          </a:xfrm>
          <a:prstGeom prst="ellipse">
            <a:avLst/>
          </a:prstGeom>
          <a:solidFill>
            <a:srgbClr val="8A9F62"/>
          </a:solidFill>
          <a:ln w="12700">
            <a:solidFill>
              <a:srgbClr val="8A9F62">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Prepare equipment and serviceware through the authorised method</a:t>
            </a:r>
            <a:endParaRPr lang="en-US" sz="1600" dirty="0"/>
          </a:p>
        </p:txBody>
      </p:sp>
      <p:sp>
        <p:nvSpPr>
          <p:cNvPr id="15" name="Shape 12"/>
          <p:cNvSpPr/>
          <p:nvPr/>
        </p:nvSpPr>
        <p:spPr>
          <a:xfrm>
            <a:off x="530352" y="4562856"/>
            <a:ext cx="118872" cy="118872"/>
          </a:xfrm>
          <a:prstGeom prst="ellipse">
            <a:avLst/>
          </a:prstGeom>
          <a:solidFill>
            <a:srgbClr val="8A9F62"/>
          </a:solidFill>
          <a:ln w="12700">
            <a:solidFill>
              <a:srgbClr val="8A9F62">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Keep preparation consistent and observable</a:t>
            </a:r>
            <a:endParaRPr lang="en-US" sz="1600" dirty="0"/>
          </a:p>
        </p:txBody>
      </p:sp>
      <p:sp>
        <p:nvSpPr>
          <p:cNvPr id="17" name="Shape 14"/>
          <p:cNvSpPr/>
          <p:nvPr/>
        </p:nvSpPr>
        <p:spPr>
          <a:xfrm>
            <a:off x="530352" y="5029200"/>
            <a:ext cx="4315968" cy="1344168"/>
          </a:xfrm>
          <a:prstGeom prst="roundRect">
            <a:avLst>
              <a:gd name="adj" fmla="val 3401"/>
            </a:avLst>
          </a:prstGeom>
          <a:solidFill>
            <a:srgbClr val="0B4F4A"/>
          </a:solidFill>
          <a:ln w="12700">
            <a:solidFill>
              <a:srgbClr val="0B4F4A">
                <a:alpha val="0"/>
              </a:srgbClr>
            </a:solidFill>
            <a:prstDash val="solid"/>
          </a:ln>
        </p:spPr>
      </p:sp>
      <p:sp>
        <p:nvSpPr>
          <p:cNvPr id="18" name="Text 15"/>
          <p:cNvSpPr/>
          <p:nvPr/>
        </p:nvSpPr>
        <p:spPr>
          <a:xfrm>
            <a:off x="694944" y="5129784"/>
            <a:ext cx="3986784"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694944" y="5358384"/>
            <a:ext cx="3986784" cy="960120"/>
          </a:xfrm>
          <a:prstGeom prst="rect">
            <a:avLst/>
          </a:prstGeom>
          <a:noFill/>
          <a:ln/>
        </p:spPr>
        <p:txBody>
          <a:bodyPr wrap="square" lIns="0" tIns="0" rIns="0" bIns="0" rtlCol="0" anchor="ctr">
            <a:normAutofit/>
          </a:bodyPr>
          <a:lstStyle/>
          <a:p>
            <a:pPr indent="0" marL="0">
              <a:buNone/>
            </a:pPr>
            <a:r>
              <a:rPr lang="en-US" sz="1450" b="1" dirty="0">
                <a:solidFill>
                  <a:srgbClr val="FFFFFF"/>
                </a:solidFill>
                <a:latin typeface="Aptos" pitchFamily="34" charset="0"/>
                <a:ea typeface="Aptos" pitchFamily="34" charset="-122"/>
                <a:cs typeface="Aptos" pitchFamily="34" charset="-120"/>
              </a:rPr>
              <a:t>An order changes milk after the worker has read the original docket but before production begins. What should happen first?</a:t>
            </a:r>
            <a:endParaRPr lang="en-US" sz="14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4</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7 / 10</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8A9F62"/>
          </a:solidFill>
          <a:ln w="12700">
            <a:solidFill>
              <a:srgbClr val="8A9F6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4 · LESSON 07</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Quality: observe, diagnose, act and record</a:t>
            </a:r>
            <a:endParaRPr lang="en-US" sz="35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quality-instructional-visual" descr="Quality decision map compares observable beverage and serviceware features, directs the learner to the current standard, and branches to accept, authorised adjustment, remake or repor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600" dirty="0">
                <a:solidFill>
                  <a:srgbClr val="17343A"/>
                </a:solidFill>
                <a:latin typeface="Aptos" pitchFamily="34" charset="0"/>
                <a:ea typeface="Aptos" pitchFamily="34" charset="-122"/>
                <a:cs typeface="Aptos" pitchFamily="34" charset="-120"/>
              </a:rPr>
              <a:t>Evaluate food and beverage work against the current order and product standard, distinguish observations from assumptions and take only authorised corrective or referral action.</a:t>
            </a:r>
            <a:endParaRPr lang="en-US" sz="16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8A9F62"/>
          </a:solidFill>
          <a:ln w="12700">
            <a:solidFill>
              <a:srgbClr val="8A9F62">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Quality begins with the order and current standard</a:t>
            </a:r>
            <a:endParaRPr lang="en-US" sz="1600" dirty="0"/>
          </a:p>
        </p:txBody>
      </p:sp>
      <p:sp>
        <p:nvSpPr>
          <p:cNvPr id="13" name="Shape 10"/>
          <p:cNvSpPr/>
          <p:nvPr/>
        </p:nvSpPr>
        <p:spPr>
          <a:xfrm>
            <a:off x="7342632" y="4105656"/>
            <a:ext cx="118872" cy="118872"/>
          </a:xfrm>
          <a:prstGeom prst="ellipse">
            <a:avLst/>
          </a:prstGeom>
          <a:solidFill>
            <a:srgbClr val="8A9F62"/>
          </a:solidFill>
          <a:ln w="12700">
            <a:solidFill>
              <a:srgbClr val="8A9F62">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Describe before diagnosing</a:t>
            </a:r>
            <a:endParaRPr lang="en-US" sz="1600" dirty="0"/>
          </a:p>
        </p:txBody>
      </p:sp>
      <p:sp>
        <p:nvSpPr>
          <p:cNvPr id="15" name="Shape 12"/>
          <p:cNvSpPr/>
          <p:nvPr/>
        </p:nvSpPr>
        <p:spPr>
          <a:xfrm>
            <a:off x="7342632" y="4562856"/>
            <a:ext cx="118872" cy="118872"/>
          </a:xfrm>
          <a:prstGeom prst="ellipse">
            <a:avLst/>
          </a:prstGeom>
          <a:solidFill>
            <a:srgbClr val="8A9F62"/>
          </a:solidFill>
          <a:ln w="12700">
            <a:solidFill>
              <a:srgbClr val="8A9F62">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Variables interact, so change deliberately</a:t>
            </a:r>
            <a:endParaRPr lang="en-US" sz="1600" dirty="0"/>
          </a:p>
        </p:txBody>
      </p:sp>
      <p:sp>
        <p:nvSpPr>
          <p:cNvPr id="17" name="Shape 14"/>
          <p:cNvSpPr/>
          <p:nvPr/>
        </p:nvSpPr>
        <p:spPr>
          <a:xfrm>
            <a:off x="734263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Which statement is an observation rather than an unsupported cause?</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4</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8 / 10</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8A9F62"/>
          </a:solidFill>
          <a:ln w="12700">
            <a:solidFill>
              <a:srgbClr val="8A9F62">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4 · LESSON 08</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Teamwork: share information, support service and close the loop</a:t>
            </a:r>
            <a:endParaRPr lang="en-US" sz="24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teamwork-instructional-visual" descr="Service-team map shows a fictional order change travelling from front of house to beverage production, being confirmed, updated for the customer and escalated to a supervisor when outside the team's authority.">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600" dirty="0">
                <a:solidFill>
                  <a:srgbClr val="17343A"/>
                </a:solidFill>
                <a:latin typeface="Aptos" pitchFamily="34" charset="0"/>
                <a:ea typeface="Aptos" pitchFamily="34" charset="-122"/>
                <a:cs typeface="Aptos" pitchFamily="34" charset="-120"/>
              </a:rPr>
              <a:t>Work cooperatively through preparation, service and end-of-shift duties by clarifying responsibilities, sharing timely information, using feedback and escalating issues respectfully.</a:t>
            </a:r>
            <a:endParaRPr lang="en-US" sz="160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8A9F62"/>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8A9F62"/>
          </a:solidFill>
          <a:ln w="12700">
            <a:solidFill>
              <a:srgbClr val="8A9F62">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Clear roles support one shared service goal</a:t>
            </a:r>
            <a:endParaRPr lang="en-US" sz="1600" dirty="0"/>
          </a:p>
        </p:txBody>
      </p:sp>
      <p:sp>
        <p:nvSpPr>
          <p:cNvPr id="13" name="Shape 10"/>
          <p:cNvSpPr/>
          <p:nvPr/>
        </p:nvSpPr>
        <p:spPr>
          <a:xfrm>
            <a:off x="530352" y="4105656"/>
            <a:ext cx="118872" cy="118872"/>
          </a:xfrm>
          <a:prstGeom prst="ellipse">
            <a:avLst/>
          </a:prstGeom>
          <a:solidFill>
            <a:srgbClr val="8A9F62"/>
          </a:solidFill>
          <a:ln w="12700">
            <a:solidFill>
              <a:srgbClr val="8A9F62">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Choose the approved communication channel</a:t>
            </a:r>
            <a:endParaRPr lang="en-US" sz="1600" dirty="0"/>
          </a:p>
        </p:txBody>
      </p:sp>
      <p:sp>
        <p:nvSpPr>
          <p:cNvPr id="15" name="Shape 12"/>
          <p:cNvSpPr/>
          <p:nvPr/>
        </p:nvSpPr>
        <p:spPr>
          <a:xfrm>
            <a:off x="530352" y="4562856"/>
            <a:ext cx="118872" cy="118872"/>
          </a:xfrm>
          <a:prstGeom prst="ellipse">
            <a:avLst/>
          </a:prstGeom>
          <a:solidFill>
            <a:srgbClr val="8A9F62"/>
          </a:solidFill>
          <a:ln w="12700">
            <a:solidFill>
              <a:srgbClr val="8A9F62">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A handover finishes with ownership and confirmation</a:t>
            </a:r>
            <a:endParaRPr lang="en-US" sz="1600" dirty="0"/>
          </a:p>
        </p:txBody>
      </p:sp>
      <p:sp>
        <p:nvSpPr>
          <p:cNvPr id="17" name="Shape 14"/>
          <p:cNvSpPr/>
          <p:nvPr/>
        </p:nvSpPr>
        <p:spPr>
          <a:xfrm>
            <a:off x="53035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69494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136245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Which handover is most useful after a customer changes one drink?</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4</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9 / 10</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207008"/>
          </a:xfrm>
          <a:prstGeom prst="rect">
            <a:avLst/>
          </a:prstGeom>
          <a:solidFill>
            <a:srgbClr val="0B4F4A"/>
          </a:solidFill>
          <a:ln w="12700">
            <a:solidFill>
              <a:srgbClr val="0B4F4A">
                <a:alpha val="0"/>
              </a:srgbClr>
            </a:solidFill>
            <a:prstDash val="solid"/>
          </a:ln>
        </p:spPr>
      </p:sp>
      <p:sp>
        <p:nvSpPr>
          <p:cNvPr id="3" name="Text 1"/>
          <p:cNvSpPr/>
          <p:nvPr/>
        </p:nvSpPr>
        <p:spPr>
          <a:xfrm>
            <a:off x="658368" y="292608"/>
            <a:ext cx="10927080" cy="585216"/>
          </a:xfrm>
          <a:prstGeom prst="rect">
            <a:avLst/>
          </a:prstGeom>
          <a:noFill/>
          <a:ln/>
        </p:spPr>
        <p:txBody>
          <a:bodyPr wrap="square" lIns="0" tIns="0" rIns="0" bIns="0" rtlCol="0" anchor="ctr"/>
          <a:lstStyle/>
          <a:p>
            <a:pPr algn="ctr" indent="0" marL="0">
              <a:buNone/>
            </a:pPr>
            <a:r>
              <a:rPr lang="en-US" sz="3800" b="1" dirty="0">
                <a:solidFill>
                  <a:srgbClr val="FFFFFF"/>
                </a:solidFill>
                <a:latin typeface="Aptos Display" pitchFamily="34" charset="0"/>
                <a:ea typeface="Aptos Display" pitchFamily="34" charset="-122"/>
                <a:cs typeface="Aptos Display" pitchFamily="34" charset="-120"/>
              </a:rPr>
              <a:t>Finish with evidence, not a guess</a:t>
            </a:r>
            <a:endParaRPr lang="en-US" sz="3800" dirty="0"/>
          </a:p>
        </p:txBody>
      </p:sp>
      <p:sp>
        <p:nvSpPr>
          <p:cNvPr id="4" name="Text 2"/>
          <p:cNvSpPr/>
          <p:nvPr/>
        </p:nvSpPr>
        <p:spPr>
          <a:xfrm>
            <a:off x="694944" y="1682496"/>
            <a:ext cx="640080" cy="384048"/>
          </a:xfrm>
          <a:prstGeom prst="rect">
            <a:avLst/>
          </a:prstGeom>
          <a:noFill/>
          <a:ln/>
        </p:spPr>
        <p:txBody>
          <a:bodyPr wrap="square" lIns="0" tIns="0" rIns="0" bIns="0" rtlCol="0" anchor="ctr"/>
          <a:lstStyle/>
          <a:p>
            <a:pPr indent="0" marL="0">
              <a:buNone/>
            </a:pPr>
            <a:r>
              <a:rPr lang="en-US" sz="2200" b="1" dirty="0">
                <a:solidFill>
                  <a:srgbClr val="8A9F62"/>
                </a:solidFill>
                <a:latin typeface="Aptos Display" pitchFamily="34" charset="0"/>
                <a:ea typeface="Aptos Display" pitchFamily="34" charset="-122"/>
                <a:cs typeface="Aptos Display" pitchFamily="34" charset="-120"/>
              </a:rPr>
              <a:t>01</a:t>
            </a:r>
            <a:endParaRPr lang="en-US" sz="2200" dirty="0"/>
          </a:p>
        </p:txBody>
      </p:sp>
      <p:sp>
        <p:nvSpPr>
          <p:cNvPr id="5" name="Text 3"/>
          <p:cNvSpPr/>
          <p:nvPr/>
        </p:nvSpPr>
        <p:spPr>
          <a:xfrm>
            <a:off x="694944" y="2212848"/>
            <a:ext cx="3246120" cy="438912"/>
          </a:xfrm>
          <a:prstGeom prst="rect">
            <a:avLst/>
          </a:prstGeom>
          <a:noFill/>
          <a:ln/>
        </p:spPr>
        <p:txBody>
          <a:bodyPr wrap="square" lIns="0" tIns="0" rIns="0" bIns="0" rtlCol="0" anchor="ctr"/>
          <a:lstStyle/>
          <a:p>
            <a:pPr indent="0" marL="0">
              <a:buNone/>
            </a:pPr>
            <a:r>
              <a:rPr lang="en-US" sz="2700" b="1" dirty="0">
                <a:solidFill>
                  <a:srgbClr val="0B4F4A"/>
                </a:solidFill>
                <a:latin typeface="Aptos Display" pitchFamily="34" charset="0"/>
                <a:ea typeface="Aptos Display" pitchFamily="34" charset="-122"/>
                <a:cs typeface="Aptos Display" pitchFamily="34" charset="-120"/>
              </a:rPr>
              <a:t>Retrieve</a:t>
            </a:r>
            <a:endParaRPr lang="en-US" sz="2700" dirty="0"/>
          </a:p>
        </p:txBody>
      </p:sp>
      <p:sp>
        <p:nvSpPr>
          <p:cNvPr id="6" name="Text 4"/>
          <p:cNvSpPr/>
          <p:nvPr/>
        </p:nvSpPr>
        <p:spPr>
          <a:xfrm>
            <a:off x="694944" y="2770632"/>
            <a:ext cx="3246120" cy="1298448"/>
          </a:xfrm>
          <a:prstGeom prst="rect">
            <a:avLst/>
          </a:prstGeom>
          <a:noFill/>
          <a:ln/>
        </p:spPr>
        <p:txBody>
          <a:bodyPr wrap="square" lIns="0" tIns="0" rIns="0" bIns="0" rtlCol="0" anchor="t">
            <a:normAutofit/>
          </a:bodyPr>
          <a:lstStyle/>
          <a:p>
            <a:pPr indent="0" marL="0">
              <a:buNone/>
            </a:pPr>
            <a:r>
              <a:rPr lang="en-US" sz="1900" dirty="0">
                <a:solidFill>
                  <a:srgbClr val="17343A"/>
                </a:solidFill>
                <a:latin typeface="Aptos" pitchFamily="34" charset="0"/>
                <a:ea typeface="Aptos" pitchFamily="34" charset="-122"/>
                <a:cs typeface="Aptos" pitchFamily="34" charset="-120"/>
              </a:rPr>
              <a:t>Explain one lesson idea and the workplace consequence it helps prevent or improve.</a:t>
            </a:r>
            <a:endParaRPr lang="en-US" sz="1900" dirty="0"/>
          </a:p>
        </p:txBody>
      </p:sp>
      <p:sp>
        <p:nvSpPr>
          <p:cNvPr id="7" name="Text 5"/>
          <p:cNvSpPr/>
          <p:nvPr/>
        </p:nvSpPr>
        <p:spPr>
          <a:xfrm>
            <a:off x="4498848" y="1682496"/>
            <a:ext cx="640080" cy="384048"/>
          </a:xfrm>
          <a:prstGeom prst="rect">
            <a:avLst/>
          </a:prstGeom>
          <a:noFill/>
          <a:ln/>
        </p:spPr>
        <p:txBody>
          <a:bodyPr wrap="square" lIns="0" tIns="0" rIns="0" bIns="0" rtlCol="0" anchor="ctr"/>
          <a:lstStyle/>
          <a:p>
            <a:pPr indent="0" marL="0">
              <a:buNone/>
            </a:pPr>
            <a:r>
              <a:rPr lang="en-US" sz="2200" b="1" dirty="0">
                <a:solidFill>
                  <a:srgbClr val="8A9F62"/>
                </a:solidFill>
                <a:latin typeface="Aptos Display" pitchFamily="34" charset="0"/>
                <a:ea typeface="Aptos Display" pitchFamily="34" charset="-122"/>
                <a:cs typeface="Aptos Display" pitchFamily="34" charset="-120"/>
              </a:rPr>
              <a:t>02</a:t>
            </a:r>
            <a:endParaRPr lang="en-US" sz="2200" dirty="0"/>
          </a:p>
        </p:txBody>
      </p:sp>
      <p:sp>
        <p:nvSpPr>
          <p:cNvPr id="8" name="Text 6"/>
          <p:cNvSpPr/>
          <p:nvPr/>
        </p:nvSpPr>
        <p:spPr>
          <a:xfrm>
            <a:off x="4498848" y="2212848"/>
            <a:ext cx="3246120" cy="438912"/>
          </a:xfrm>
          <a:prstGeom prst="rect">
            <a:avLst/>
          </a:prstGeom>
          <a:noFill/>
          <a:ln/>
        </p:spPr>
        <p:txBody>
          <a:bodyPr wrap="square" lIns="0" tIns="0" rIns="0" bIns="0" rtlCol="0" anchor="ctr"/>
          <a:lstStyle/>
          <a:p>
            <a:pPr indent="0" marL="0">
              <a:buNone/>
            </a:pPr>
            <a:r>
              <a:rPr lang="en-US" sz="2700" b="1" dirty="0">
                <a:solidFill>
                  <a:srgbClr val="0B4F4A"/>
                </a:solidFill>
                <a:latin typeface="Aptos Display" pitchFamily="34" charset="0"/>
                <a:ea typeface="Aptos Display" pitchFamily="34" charset="-122"/>
                <a:cs typeface="Aptos Display" pitchFamily="34" charset="-120"/>
              </a:rPr>
              <a:t>Apply</a:t>
            </a:r>
            <a:endParaRPr lang="en-US" sz="2700" dirty="0"/>
          </a:p>
        </p:txBody>
      </p:sp>
      <p:sp>
        <p:nvSpPr>
          <p:cNvPr id="9" name="Text 7"/>
          <p:cNvSpPr/>
          <p:nvPr/>
        </p:nvSpPr>
        <p:spPr>
          <a:xfrm>
            <a:off x="4498848" y="2770632"/>
            <a:ext cx="3246120" cy="1298448"/>
          </a:xfrm>
          <a:prstGeom prst="rect">
            <a:avLst/>
          </a:prstGeom>
          <a:noFill/>
          <a:ln/>
        </p:spPr>
        <p:txBody>
          <a:bodyPr wrap="square" lIns="0" tIns="0" rIns="0" bIns="0" rtlCol="0" anchor="t">
            <a:normAutofit/>
          </a:bodyPr>
          <a:lstStyle/>
          <a:p>
            <a:pPr indent="0" marL="0">
              <a:buNone/>
            </a:pPr>
            <a:r>
              <a:rPr lang="en-US" sz="1900" dirty="0">
                <a:solidFill>
                  <a:srgbClr val="17343A"/>
                </a:solidFill>
                <a:latin typeface="Aptos" pitchFamily="34" charset="0"/>
                <a:ea typeface="Aptos" pitchFamily="34" charset="-122"/>
                <a:cs typeface="Aptos" pitchFamily="34" charset="-120"/>
              </a:rPr>
              <a:t>Use one module visual to justify the next safe, accurate or service-focused action.</a:t>
            </a:r>
            <a:endParaRPr lang="en-US" sz="1900" dirty="0"/>
          </a:p>
        </p:txBody>
      </p:sp>
      <p:sp>
        <p:nvSpPr>
          <p:cNvPr id="10" name="Text 8"/>
          <p:cNvSpPr/>
          <p:nvPr/>
        </p:nvSpPr>
        <p:spPr>
          <a:xfrm>
            <a:off x="8302752" y="1682496"/>
            <a:ext cx="640080" cy="384048"/>
          </a:xfrm>
          <a:prstGeom prst="rect">
            <a:avLst/>
          </a:prstGeom>
          <a:noFill/>
          <a:ln/>
        </p:spPr>
        <p:txBody>
          <a:bodyPr wrap="square" lIns="0" tIns="0" rIns="0" bIns="0" rtlCol="0" anchor="ctr"/>
          <a:lstStyle/>
          <a:p>
            <a:pPr indent="0" marL="0">
              <a:buNone/>
            </a:pPr>
            <a:r>
              <a:rPr lang="en-US" sz="2200" b="1" dirty="0">
                <a:solidFill>
                  <a:srgbClr val="8A9F62"/>
                </a:solidFill>
                <a:latin typeface="Aptos Display" pitchFamily="34" charset="0"/>
                <a:ea typeface="Aptos Display" pitchFamily="34" charset="-122"/>
                <a:cs typeface="Aptos Display" pitchFamily="34" charset="-120"/>
              </a:rPr>
              <a:t>03</a:t>
            </a:r>
            <a:endParaRPr lang="en-US" sz="2200" dirty="0"/>
          </a:p>
        </p:txBody>
      </p:sp>
      <p:sp>
        <p:nvSpPr>
          <p:cNvPr id="11" name="Text 9"/>
          <p:cNvSpPr/>
          <p:nvPr/>
        </p:nvSpPr>
        <p:spPr>
          <a:xfrm>
            <a:off x="8302752" y="2212848"/>
            <a:ext cx="3246120" cy="438912"/>
          </a:xfrm>
          <a:prstGeom prst="rect">
            <a:avLst/>
          </a:prstGeom>
          <a:noFill/>
          <a:ln/>
        </p:spPr>
        <p:txBody>
          <a:bodyPr wrap="square" lIns="0" tIns="0" rIns="0" bIns="0" rtlCol="0" anchor="ctr"/>
          <a:lstStyle/>
          <a:p>
            <a:pPr indent="0" marL="0">
              <a:buNone/>
            </a:pPr>
            <a:r>
              <a:rPr lang="en-US" sz="2700" b="1" dirty="0">
                <a:solidFill>
                  <a:srgbClr val="0B4F4A"/>
                </a:solidFill>
                <a:latin typeface="Aptos Display" pitchFamily="34" charset="0"/>
                <a:ea typeface="Aptos Display" pitchFamily="34" charset="-122"/>
                <a:cs typeface="Aptos Display" pitchFamily="34" charset="-120"/>
              </a:rPr>
              <a:t>Check the boundary</a:t>
            </a:r>
            <a:endParaRPr lang="en-US" sz="2700" dirty="0"/>
          </a:p>
        </p:txBody>
      </p:sp>
      <p:sp>
        <p:nvSpPr>
          <p:cNvPr id="12" name="Text 10"/>
          <p:cNvSpPr/>
          <p:nvPr/>
        </p:nvSpPr>
        <p:spPr>
          <a:xfrm>
            <a:off x="8302752" y="2770632"/>
            <a:ext cx="3246120" cy="1298448"/>
          </a:xfrm>
          <a:prstGeom prst="rect">
            <a:avLst/>
          </a:prstGeom>
          <a:noFill/>
          <a:ln/>
        </p:spPr>
        <p:txBody>
          <a:bodyPr wrap="square" lIns="0" tIns="0" rIns="0" bIns="0" rtlCol="0" anchor="t">
            <a:normAutofit/>
          </a:bodyPr>
          <a:lstStyle/>
          <a:p>
            <a:pPr indent="0" marL="0">
              <a:buNone/>
            </a:pPr>
            <a:r>
              <a:rPr lang="en-US" sz="1900" dirty="0">
                <a:solidFill>
                  <a:srgbClr val="17343A"/>
                </a:solidFill>
                <a:latin typeface="Aptos" pitchFamily="34" charset="0"/>
                <a:ea typeface="Aptos" pitchFamily="34" charset="-122"/>
                <a:cs typeface="Aptos" pitchFamily="34" charset="-120"/>
              </a:rPr>
              <a:t>Name what must come from the current teacher, workplace or RTO source before anyone acts.</a:t>
            </a:r>
            <a:endParaRPr lang="en-US" sz="1900" dirty="0"/>
          </a:p>
        </p:txBody>
      </p:sp>
      <p:sp>
        <p:nvSpPr>
          <p:cNvPr id="13" name="Shape 11"/>
          <p:cNvSpPr/>
          <p:nvPr/>
        </p:nvSpPr>
        <p:spPr>
          <a:xfrm>
            <a:off x="694944" y="4782312"/>
            <a:ext cx="10808208" cy="1143000"/>
          </a:xfrm>
          <a:prstGeom prst="roundRect">
            <a:avLst>
              <a:gd name="adj" fmla="val 4000"/>
            </a:avLst>
          </a:prstGeom>
          <a:solidFill>
            <a:srgbClr val="B8D9D3">
              <a:alpha val="80000"/>
            </a:srgbClr>
          </a:solidFill>
          <a:ln w="15240">
            <a:solidFill>
              <a:srgbClr val="19766F"/>
            </a:solidFill>
            <a:prstDash val="solid"/>
          </a:ln>
        </p:spPr>
      </p:sp>
      <p:sp>
        <p:nvSpPr>
          <p:cNvPr id="14" name="Text 12"/>
          <p:cNvSpPr/>
          <p:nvPr/>
        </p:nvSpPr>
        <p:spPr>
          <a:xfrm>
            <a:off x="914400" y="5001768"/>
            <a:ext cx="1097280" cy="219456"/>
          </a:xfrm>
          <a:prstGeom prst="rect">
            <a:avLst/>
          </a:prstGeom>
          <a:noFill/>
          <a:ln/>
        </p:spPr>
        <p:txBody>
          <a:bodyPr wrap="square" lIns="0" tIns="0" rIns="0" bIns="0" rtlCol="0" anchor="ctr"/>
          <a:lstStyle/>
          <a:p>
            <a:pPr indent="0" marL="0">
              <a:buNone/>
            </a:pPr>
            <a:r>
              <a:rPr lang="en-US" sz="1300" b="1" spc="80" kern="0" dirty="0">
                <a:solidFill>
                  <a:srgbClr val="0B4F4A"/>
                </a:solidFill>
                <a:latin typeface="Aptos" pitchFamily="34" charset="0"/>
                <a:ea typeface="Aptos" pitchFamily="34" charset="-122"/>
                <a:cs typeface="Aptos" pitchFamily="34" charset="-120"/>
              </a:rPr>
              <a:t>NEXT STEP</a:t>
            </a:r>
            <a:endParaRPr lang="en-US" sz="1300" dirty="0"/>
          </a:p>
        </p:txBody>
      </p:sp>
      <p:sp>
        <p:nvSpPr>
          <p:cNvPr id="15" name="Text 13"/>
          <p:cNvSpPr/>
          <p:nvPr/>
        </p:nvSpPr>
        <p:spPr>
          <a:xfrm>
            <a:off x="2084832" y="4910328"/>
            <a:ext cx="9107424" cy="585216"/>
          </a:xfrm>
          <a:prstGeom prst="rect">
            <a:avLst/>
          </a:prstGeom>
          <a:noFill/>
          <a:ln/>
        </p:spPr>
        <p:txBody>
          <a:bodyPr wrap="square" lIns="0" tIns="0" rIns="0" bIns="0" rtlCol="0" anchor="ctr">
            <a:normAutofit/>
          </a:bodyPr>
          <a:lstStyle/>
          <a:p>
            <a:pPr indent="0" marL="0">
              <a:buNone/>
            </a:pPr>
            <a:r>
              <a:rPr lang="en-US" sz="1900" b="1" dirty="0">
                <a:solidFill>
                  <a:srgbClr val="17343A"/>
                </a:solidFill>
                <a:latin typeface="Aptos" pitchFamily="34" charset="0"/>
                <a:ea typeface="Aptos" pitchFamily="34" charset="-122"/>
                <a:cs typeface="Aptos" pitchFamily="34" charset="-120"/>
              </a:rPr>
              <a:t>Complete the teacher-nominated response or activity, save only privacy-safe learning evidence, and ask before acting when a procedure or authority limit is unclear.</a:t>
            </a:r>
            <a:endParaRPr lang="en-US" sz="1900" dirty="0"/>
          </a:p>
        </p:txBody>
      </p:sp>
      <p:sp>
        <p:nvSpPr>
          <p:cNvPr id="16" name="Shape 14"/>
          <p:cNvSpPr/>
          <p:nvPr/>
        </p:nvSpPr>
        <p:spPr>
          <a:xfrm>
            <a:off x="530352" y="6473952"/>
            <a:ext cx="11128248" cy="0"/>
          </a:xfrm>
          <a:prstGeom prst="line">
            <a:avLst/>
          </a:prstGeom>
          <a:noFill/>
          <a:ln w="15240">
            <a:solidFill>
              <a:srgbClr val="B8D9D3"/>
            </a:solidFill>
            <a:prstDash val="solid"/>
          </a:ln>
        </p:spPr>
      </p:sp>
      <p:sp>
        <p:nvSpPr>
          <p:cNvPr id="17" name="Text 15"/>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4</a:t>
            </a:r>
            <a:endParaRPr lang="en-US" sz="1050" dirty="0"/>
          </a:p>
        </p:txBody>
      </p:sp>
      <p:sp>
        <p:nvSpPr>
          <p:cNvPr id="18" name="Text 16"/>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10 / 10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TAS Faculty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4 — Working in Hospitality</dc:title>
  <dc:subject>SIT20322 Hospitality Task 4 classroom teaching deck</dc:subject>
  <dc:creator>TAS Faculty</dc:creator>
  <cp:lastModifiedBy>TAS Faculty</cp:lastModifiedBy>
  <cp:revision>1</cp:revision>
  <dcterms:created xsi:type="dcterms:W3CDTF">2026-08-20T14:31:54Z</dcterms:created>
  <dcterms:modified xsi:type="dcterms:W3CDTF">2026-08-20T14:31:54Z</dcterms:modified>
</cp:coreProperties>
</file>