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purpose: Introduce Task 2 as a connected learning sequence. Ask students what they already know about understand the customer, close the communication loop, recover and improve.
Keep assessment products, local procedures, recipes, equipment settings and work-placement administration with the current authorised teacher or RTO source.
[Sources]
Module content and source notes: task2-modules.json. Qualification and task identity: signed 2026–2027 Hospitality 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focus: Build a service mindset by tracing what customers and colleagues experience before, during and after a hospitality transaction.
Teach from this module:
1. More than being friendly: Customer service is the interaction and support a business provides before, during and after a customer receives a product or service. In hospitality, the experience begins before the first order: the venue is presented, information is available and the customer is acknowledged. It continues through questions, ordering, production, delivery, checking satisfaction and responding if something changes.
2. A practical service cycle: Use a cycle so that service does not stop at taking the order. The exact local procedure may differ, but a useful learning sequence is prepare, welcome, identify, deliver, check and improve. Each stage gives the next worker reliable information and gives the customer a clear next step.
3. Moments that shape the experience: Customers notice what staff do and what the environment communicates. Presentation of the venue, staff, menus or promotional material and food or beverages all contribute. So do prompt acknowledgement, product knowledge, accuracy, attention to detail, personalisation and problem resolution.
Supplied worked example — More than being friendly: A customer phones to ask whether a table is available, arrives, orders, receives a delay update, eats and later gives feedback. Every contact is part of the same service experience.
Check: Which example treats customer service as a complete experience?
Listen for: Prepare, welcome, clarify, record, deliver, check satisfaction and use feedback. — Correct. This follows the experience from preparation through delivery and improvement.
If students choose “Smile when the customer arrives, then avoid checking whether the order is accurate.”: A greeting is only one moment. Without accurate delivery and follow-up, the service cycle is incomplete.
Help cue: Review 'A practical service cycle'. Look for the option that includes actions before, during and after delivery.
Guided response: Analyse one fictional hospitality service journey. Identify where the cycle worked, where it broke, the effect on the customer or team, and one practical improvement. Help: Use the six service-cycle stages as headings. Describe observable actions rather than guessing what a person felt.
Apply: Map a complete service journey. Place each event under prepare, welcome, identify, deliver, check or improve.
Source boundary: This six-stage cycle is a teaching synthesis from the authorised service-cycle, needs, order and feedback materials. It is not a local assessment procedure.
[Sources]
Grounded in T2-S01, T2-S02 and the v2 service-cycle language in T2-S10. Examples are fictional practice, not current assessment conditions.
Local generated visual: assets/visuals/task-2-01-service-mindset.svg; provenance and accuracy boundary are recorded in task2-modules.json.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focus: Translate broad expectations such as professional, prompt and accurate into behaviours that students can practise, observe and improve.
Teach from this module:
1. A standard must be visible in action: Words such as professional, courteous and prompt are useful only when workers know what they look and sound like. An observable standard can be described, demonstrated and checked. Courtesy may be heard in respectful language and a calm tone. Accuracy may be seen in a complete booking record and repeated order.
2. Presentation communicates before staff speak: The authorised source asks students to examine venue, staff, promotional material and food or beverage presentation. These elements create expectations. A clean, organised service point supports confidence. A menu or sign must be readable and match what staff can explain. Staff presentation should meet the current workplace requirement. Products should be presented consistently with the approved standard.
3. Courtesy and personalisation without assumptions: Courtesy includes an appropriate greeting, respectful language, attentive body language, listening and a professional close. Personalisation means responding to information the customer has provided, such as using their stated name correctly, remembering a confirmed repeat preference or adapting how options are explained.
Supplied worked example — A standard must be visible in action: Vague Standard: Provide prompt service. Observable Version: Acknowledge the customer, communicate the next step, use confirmed timing information and provide an update if conditions change.
Check: Which statement turns 'prompt service' into an observable standard?
Listen for: Acknowledge the customer, communicate the next step and update them when confirmed information changes. — Correct. These are visible and repeatable actions without inventing a fixed local time.
If students choose “Work faster than everyone else.”: Speed alone is not a complete service standard and may reduce accuracy.
Help cue: Review 'Promptness includes updates'. Select the option that can be observed and repeated.
Guided response: Choose one service standard and turn it into three observable worker behaviours, one likely failure and one improvement action. Help: Avoid words such as good, nice or professional unless you explain the exact action that proves them.
Apply: Service standards evidence audit. Match each observation to courtesy, promptness, knowledge, accuracy, presentation or resolution.
Source boundary: Keep local procedures, equipment values and assessment conditions with the current authorised source.
[Sources]
Grounded in T2-S01, T2-S02, T2-S05 and the v2 standards section in T2-S10. Exact local standards and authority levels remain Teacher to confirm.
Local generated visual: assets/visuals/task-2-02-standards.svg; provenance and accuracy boundary are recorded in task2-modules.json.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focus: Use customer categories and profiles as planning tools while still treating each individual customer as the authority on their own needs and preferences.
Teach from this module:
1. Customer categories describe context, not personality: Hospitality businesses may describe customer contexts such as leisure, business, group, local, international and repeat customers. These categories can help plan staffing, information, space and product ranges. They do not tell a worker exactly what an individual will want.
2. Six useful planning contexts: Leisure customers may be visiting for enjoyment, relaxation or an event. Business customers may connect the service to work, travel or meetings. Group customers may need coordinated seating, ordering, timing or payment information. Local customers may know the area or return regularly. International customers may benefit from clear explanations of unfamiliar products or processes. Repeat customers may bring known history, but current details still need confirmation.
3. What a customer profile can and cannot do: A customer profile is a description of a typical or intended customer group. It may combine patterns such as visit purpose, commonly requested price range, preferred service channel or products that sell well. It helps a business plan options, information and promotion.
Supplied worked example — Customer categories describe context, not personality: Instead of saying 'Business customers always want fast service', ask 'Do you have a time you need to leave by?'
Check: What is the most appropriate use of a customer profile?
Listen for: Use patterns to plan likely options and questions, then confirm the individual customer's needs. — Correct. The profile supports planning but does not replace direct clarification.
If students choose “Decide what every person in the group will prefer.”: A profile cannot determine an individual's preference. This turns a pattern into a stereotype.
Help cue: Review 'What a customer profile can and cannot do'.
Guided response: Explain how a customer profile can help a hospitality business plan service while also creating a risk of stereotyping. Include one neutral question that checks an assumption. Help: Use one category from the source, but describe a planning decision rather than assigning a personality to the customer.
Apply: Build a question-first service brief. Identify the context information that is actually known.
Source boundary: Keep local procedures, equipment values and assessment conditions with the current authorised source.
[Sources]
Grounded in T2-S03 and the internal-customer language already used in T2-S10. Category descriptions are deliberately neutral and must not become assumptions about an individual.
Local generated visual: assets/visuals/task-2-03-customers.svg; provenance and accuracy boundary are recorded in task2-modules.json.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focus: Distinguish requirements from preferences and use a six-step, source-safe conversation to match an authorised product or service.
Teach from this module:
1. Need, want and constraint: A need is a requirement the service must meet for the option to be suitable. A want is a preference that shapes the customer's choice. A constraint is a limit such as time, stated budget, availability, accessibility or an instruction controlled by policy.
2. A six-step matching conversation: The matching worksheet asks students to explain six steps but leaves the answer unfinished. The following sequence is a teaching synthesis from the authorised needs, standards, order and product material. It is designed for practice and must sit beside any local procedure.
3. Open, focused and confirming questions: An open question gathers the customer's goal: 'What would suit you today?' A focused question fills a gap: 'How much time do you have?' A confirming question closes the loop: 'So you need a quick option, would prefer something warm and have asked us to check the ingredient information—is that correct?'
Supplied worked example — Open, focused and confirming questions: Weak Question: Do you want the special? Stronger Sequence: What are you looking for today? Are there any timing, price or product-information requirements? Would you like me to explain the options that fit those details?
Check: A customer says, 'I must leave in fifteen minutes, but I would prefer something warm.' Which statement is accurate?
Listen for: The time is a constraint and warm is a preference that should be matched using confirmed options. — Correct. The worker must confirm what can meet the time limit, then consider the warmth preference.
If students choose “Warm is the only need, so timing can be ignored.”: The stated departure time controls whether an option is suitable.
Help cue: Review 'Need, want and constraint'. Identify what must be met and what shapes the preference.
Guided response: Use the six-step matching conversation for a fictional customer who needs a confirmed quick option and prefers a warm non-coffee drink. Explain what you would ask, check, offer and confirm. Help: Do not name a local product unless the current menu is provided. You can describe the features the matched option would need.
Apply: Customer requirement matching lab. The customer reads only their card.
Source boundary: This is an instructional synthesis, not quoted workplace policy or an assessment answer supplied by the source.
[Sources]
Grounded in T2-S01, T2-S05 and T2-S04. The six-step sequence is an explicit teaching synthesis because the source worksheet leaves that answer unfinished.
Local generated visual: assets/visuals/task-2-04-needs.svg; provenance and accuracy boundary are recorded in task2-modules.json.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focus: Develop the product knowledge, value language and verification habits needed to recommend hospitality products without pressure or unsupported claims.
Teach from this module:
1. Product knowledge begins with an authorised source: Product knowledge may include the current name, description, price, portion or service format, availability, quality features, preparation or delivery time where confirmed, and the process for checking ingredients or other safety-sensitive information. The source of that information matters.
2. Price, quality and value are connected but different: Price is what the customer is charged. Quality is how well the product or service meets the expected standard. Value is the customer's judgement about what they receive compared with the price, need and experience. A higher price does not automatically prove higher quality, and a low price does not excuse inaccurate information or poor presentation.
3. Connect a feature to the customer's request: A feature is a factual characteristic of the product or service. A benefit explains why that feature may suit the customer's stated request. The connection must be relevant and honest.
Supplied worked example — Product knowledge begins with an authorised source: A menu description says 'seasonal soup'. To answer what today's soup is, the worker checks the current service information rather than assuming yesterday's product is unchanged.
Check: Which source is strongest for explaining what is available right now?
Listen for: The current authorised menu or service information, checked against today's availability. — Correct. Product knowledge must be current as well as authorised.
If students choose “A worker's memory of last week's service.”: Memory may be outdated and should be checked against current information.
Help cue: Review 'Product knowledge begins with an authorised source'.
Guided response: Compare two fictional hospitality options for a customer with a stated price limit and preference for a light meal. Explain the relevant feature, possible benefit, limitation and verification needed before recommendation. Help: Use neutral Option A and Option B labels unless a current teacher-provided menu is attached. Do not create ingredient or allergy claims.
Apply: Product explanation and match station. Choose one customer request card.
Source boundary: Keep local procedures, equipment values and assessment conditions with the current authorised source.
[Sources]
Grounded in T2-S01, T2-S04 and T2-S05. All product cards must be visibly labelled as neutral practice unless replaced by a current authorised local menu or service list.
Local generated visual: assets/visuals/task-2-05-products.svg; provenance and accuracy boundary are recorded in task2-modules.json.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focus: Collect, record, repeat and hand over the details needed for accurate bookings and food or beverage orders while protecting personal information.
Teach from this module:
1. Prepare before the customer speaks: Accurate order taking begins with readiness. Have the approved notebook, docket or POS process available. Understand the current menu or service information, the table or seat system and who can answer questions outside your role. Check that you can record clearly without exposing another customer's information.
2. A booking record needs complete fields: The authorised booking worksheet includes guest name, phone number, email address, reservation date, reservation time, number of guests, special requests, occasion, payment method, confirmation number, additional notes and the person who took the booking. A workplace may use only some fields or apply specific rules; use the current authorised form.
3. Booking workflow: collect, repeat and close: A strong booking conversation has a clear opening, purposeful questions, an accurate record and a final repeat-back. Use the workplace wording and policy for cancellations, fees, deposits or confirmation. If that information is not provided, do not make it up.
Supplied worked example — Modifications and safety-sensitive requests: Unclear Record: Table 4 — no sauce Clearer Practice Record: Table 4, Seat 2, identified item — customer requests sauce omitted; repeat-back completed; authorised process followed for any safety-sensitive information. Limit: The actual docket wording and process are Teacher to confirm.
Check: Which booking details should be repeated before the interaction closes?
Listen for: The important recorded details, including date, time, guest number and relevant requests. — Correct. Repeat-back gives the customer a chance to correct the booking record.
If students choose “Only the guest's first name.”: A name alone does not confirm when the booking occurs or how many guests are expected.
Help cue: Review 'Booking workflow: collect, repeat and close'.
Guided response: Write the spoken close for a fictional booking and the repeat-back for a fictional two-person order. Include the key details, one clarification and the next authorised step. Help: Use the supplied fictional record. Do not add a cancellation fee, service time, confirmation process or ingredient claim that is not in the stimulus.
Apply: Booking and order control desk. Complete the supplied booking sheet using only fictional data.
Source boundary: Keep local procedures, equipment values and assessment conditions with the current authorised source.
[Sources]
Grounded in T2-S04, T2-S01 and the validated booking-video package retained from T2-S10. Local booking, POS, abbreviation, timing and allergy procedures remain Teacher to confirm.
Local generated visual: assets/visuals/task-2-06-orders.svg; provenance and accuracy boundary are recorded in task2-modules.json.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focus: Adapt communication and access respectfully without turning cultural information, disability or customer profiles into assumptions.
Teach from this module:
1. Diversity is normal in Australian hospitality: Customers and colleagues may differ in culture, language, religion, age, disability, family background, communication style and life experience. Cultural awareness helps workers notice that one familiar way of greeting, explaining or organising service may not work for everyone.
2. Protocols guide awareness, not predictions: The authorised diversity worksheet provides examples of cultural protocols involving respect for Elders, personal space, names and titles, physical contact, direct confrontation and permission around significant images or events. These examples show why workers should not assume their own communication habits are universal.
3. Make information easier to use: Plain language, short steps, visual references and extra processing time can make information more usable. Speak clearly rather than loudly. Avoid jargon unless you explain it. Check understanding by asking the customer to confirm the choice, not by asking a vague 'Do you understand?'
Supplied worked example — Protocols guide awareness, not predictions: Unsafe Assumption: Avoid eye contact because the customer appears to belong to a particular culture. Safer Action: Use attentive body language, follow the customer's communication cues and ask a relevant question if clarification is needed.
Check: How should cultural-protocol information be used in customer service?
Listen for: As background awareness that encourages respectful cues, relevant questions and confirmation. — Correct. Awareness supports better questions but the individual customer remains the authority.
If students choose “As a fixed rule for every person who appears to belong to that group.”: Appearance does not establish identity or individual preference. This would turn awareness into stereotyping.
Help cue: Review 'Protocols guide awareness, not predictions'.
Guided response: Respond to a fictional customer who asks for a different communication or access arrangement. Show how you would acknowledge, clarify, check authority, provide or escalate the option and confirm suitability. Help: Keep the customer's reason private. Focus on the service arrangement and let the customer describe what works for them.
Apply: Adapt the service, not the person's identity. The worker addresses the customer and asks one relevant clarifying question.
Source boundary: Keep local procedures, equipment values and assessment conditions with the current authorised source.
[Sources]
Grounded in T2-S06, T2-S07 and the source-safe inclusive-service language in T2-S10. The module deliberately corrects the risk of treating broad protocol examples as facts about individuals.
Local generated visual: assets/visuals/task-2-07-inclusive.svg; provenance and accuracy boundary are recorded in task2-modules.json.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focus: Use a calm recovery process for routine problems, recognise escalation limits and turn useful feedback into a documented improvement action.
Teach from this module:
1. A six-part routine recovery sequence: The authorised common-problems worksheet supplies a six-part sequence: active listening, clarify the request, repeat the request, offer a solution, apologise if appropriate and follow up. The solution must be one the worker is authorised to provide; otherwise the correct action is escalation.
2. Constructive and destructive conflict: Conflict may arise around expectations, delays, product quality, communication, price, behaviour or a misunderstanding. Destructive handling can include interruption, blame, sarcasm, threats, raised voices or refusing to listen. It often increases pressure and reduces the chance of an accurate solution.
3. Know when routine recovery must stop: Routine service recovery is not suitable for every situation. Threats, harassment, violence, an immediate safety concern, a serious food-safety issue, a discrimination allegation, an unauthorised remedy or a problem the worker cannot safely resolve require the current escalation procedure.
Supplied worked example — Worked case: delay, cold food and an undercooked burger: The authorised feedback worksheet includes a customer reporting an hour-long wait, cold food and a burger that is raw in the middle. This combines service quality and a potential food-safety concern. The immediate priority is not to debate the exact wait or offer compensation outside authority. Listen and acknowledge the reported problems. Clarify which product is affected and ensure the food-safety concern is passed through the authorised procedure. Involve the authorised person, explain the confirmed next step, record what occurred and follow up. Any replacement, refund, discount or compensation depends on current authority.
Check: A customer says their meal is wrong and they are visibly upset. What should happen first?
Listen for: Listen without interrupting, clarify the problem and acknowledge the concern. — Correct. Recovery starts by understanding the service gap before choosing an action.
If students choose “Explain that the venue is busy.”: Explaining pressure before listening can sound defensive and does not clarify the problem.
Help cue: Review 'A six-part routine recovery sequence'.
Guided response: Respond to the fictional complaint: 'We waited a long time, the food arrived cold and this burger appears undercooked.' Explain the immediate response, safety escalation, authority limit, follow-up question and improvement record. Help: Separate the customer-service problem from the potential food-safety concern. Do not name a refund, discount, replacement or disposal procedure unless the current authorised instruction supplies it.
Apply: Service recovery decision path. For each case, identify the reported facts and missing information.
Source boundary: Keep local procedures, equipment values and assessment conditions with the current authorised source.
[Sources]
Grounded in T2-S07, T2-S08, T2-S09, the complaint-policy content in T2-S01 and the v2 recovery and feedback sections in T2-S10. Local emergency, refund, replacement and compensation procedures remain Teacher to confirm.
Local generated visual: assets/visuals/task-2-08-recovery.svg; provenance and accuracy boundary are recorded in task2-modules.json.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check: return to one purpose, one visual decision and one retrieval question rather than adding a generic recap.
Before formal assessment or practical work, confirm the current student package, local procedures, recipes, equipment instructions, adjustments and evidence destination.
Use the site module response and applied action as formative learning only unless the authorised package says otherwise.
[Sources]
Task source notes and evidence prompts: task2-modules.json. Local administration and assessment requirements remain controlled by the current teacher or RTO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4F4A"/>
        </a:solidFill>
      </p:bgPr>
    </p:bg>
    <p:spTree>
      <p:nvGrpSpPr>
        <p:cNvPr id="1" name=""/>
        <p:cNvGrpSpPr/>
        <p:nvPr/>
      </p:nvGrpSpPr>
      <p:grpSpPr>
        <a:xfrm>
          <a:off x="0" y="0"/>
          <a:ext cx="0" cy="0"/>
          <a:chOff x="0" y="0"/>
          <a:chExt cx="0" cy="0"/>
        </a:xfrm>
      </p:grpSpPr>
      <p:sp>
        <p:nvSpPr>
          <p:cNvPr id="2" name="Shape 0"/>
          <p:cNvSpPr/>
          <p:nvPr/>
        </p:nvSpPr>
        <p:spPr>
          <a:xfrm>
            <a:off x="8412480" y="-1097280"/>
            <a:ext cx="4846320" cy="4846320"/>
          </a:xfrm>
          <a:prstGeom prst="ellipse">
            <a:avLst/>
          </a:prstGeom>
          <a:solidFill>
            <a:srgbClr val="D7A84B">
              <a:alpha val="85000"/>
            </a:srgbClr>
          </a:solidFill>
          <a:ln w="12700">
            <a:solidFill>
              <a:srgbClr val="D7A84B">
                <a:alpha val="0"/>
              </a:srgbClr>
            </a:solidFill>
            <a:prstDash val="solid"/>
          </a:ln>
        </p:spPr>
      </p:sp>
      <p:sp>
        <p:nvSpPr>
          <p:cNvPr id="3" name="Shape 1"/>
          <p:cNvSpPr/>
          <p:nvPr/>
        </p:nvSpPr>
        <p:spPr>
          <a:xfrm>
            <a:off x="9464040" y="73152"/>
            <a:ext cx="2057400" cy="2057400"/>
          </a:xfrm>
          <a:prstGeom prst="ellipse">
            <a:avLst/>
          </a:prstGeom>
          <a:solidFill>
            <a:srgbClr val="FBF3E6"/>
          </a:solidFill>
          <a:ln w="12700">
            <a:solidFill>
              <a:srgbClr val="FBF3E6">
                <a:alpha val="0"/>
              </a:srgbClr>
            </a:solidFill>
            <a:prstDash val="solid"/>
          </a:ln>
        </p:spPr>
      </p:sp>
      <p:sp>
        <p:nvSpPr>
          <p:cNvPr id="4" name="Text 2"/>
          <p:cNvSpPr/>
          <p:nvPr/>
        </p:nvSpPr>
        <p:spPr>
          <a:xfrm>
            <a:off x="9464040" y="283464"/>
            <a:ext cx="2057400" cy="1572768"/>
          </a:xfrm>
          <a:prstGeom prst="rect">
            <a:avLst/>
          </a:prstGeom>
          <a:noFill/>
          <a:ln/>
        </p:spPr>
        <p:txBody>
          <a:bodyPr wrap="square" lIns="0" tIns="0" rIns="0" bIns="0" rtlCol="0" anchor="ctr"/>
          <a:lstStyle/>
          <a:p>
            <a:pPr algn="ctr" indent="0" marL="0">
              <a:buNone/>
            </a:pPr>
            <a:r>
              <a:rPr lang="en-US" sz="8000" b="1" dirty="0">
                <a:solidFill>
                  <a:srgbClr val="0B4F4A"/>
                </a:solidFill>
                <a:latin typeface="Aptos Display" pitchFamily="34" charset="0"/>
                <a:ea typeface="Aptos Display" pitchFamily="34" charset="-122"/>
                <a:cs typeface="Aptos Display" pitchFamily="34" charset="-120"/>
              </a:rPr>
              <a:t>2</a:t>
            </a:r>
            <a:endParaRPr lang="en-US" sz="8000" dirty="0"/>
          </a:p>
        </p:txBody>
      </p:sp>
      <p:sp>
        <p:nvSpPr>
          <p:cNvPr id="5" name="Text 3"/>
          <p:cNvSpPr/>
          <p:nvPr/>
        </p:nvSpPr>
        <p:spPr>
          <a:xfrm>
            <a:off x="676656" y="658368"/>
            <a:ext cx="7040880" cy="256032"/>
          </a:xfrm>
          <a:prstGeom prst="rect">
            <a:avLst/>
          </a:prstGeom>
          <a:noFill/>
          <a:ln/>
        </p:spPr>
        <p:txBody>
          <a:bodyPr wrap="square" lIns="0" tIns="0" rIns="0" bIns="0" rtlCol="0" anchor="ctr"/>
          <a:lstStyle/>
          <a:p>
            <a:pPr indent="0" marL="0">
              <a:buNone/>
            </a:pPr>
            <a:r>
              <a:rPr lang="en-US" sz="1500" b="1" spc="120" kern="0" dirty="0">
                <a:solidFill>
                  <a:srgbClr val="F3DFB0"/>
                </a:solidFill>
                <a:latin typeface="Aptos" pitchFamily="34" charset="0"/>
                <a:ea typeface="Aptos" pitchFamily="34" charset="-122"/>
                <a:cs typeface="Aptos" pitchFamily="34" charset="-120"/>
              </a:rPr>
              <a:t>SIT20322 CERTIFICATE II IN HOSPITALITY</a:t>
            </a:r>
            <a:endParaRPr lang="en-US" sz="1500" dirty="0"/>
          </a:p>
        </p:txBody>
      </p:sp>
      <p:sp>
        <p:nvSpPr>
          <p:cNvPr id="6" name="Text 4"/>
          <p:cNvSpPr/>
          <p:nvPr/>
        </p:nvSpPr>
        <p:spPr>
          <a:xfrm>
            <a:off x="658368" y="1170432"/>
            <a:ext cx="7909560" cy="1353312"/>
          </a:xfrm>
          <a:prstGeom prst="rect">
            <a:avLst/>
          </a:prstGeom>
          <a:noFill/>
          <a:ln/>
        </p:spPr>
        <p:txBody>
          <a:bodyPr wrap="square" lIns="254" tIns="254" rIns="254" bIns="254" rtlCol="0" anchor="ctr">
            <a:normAutofit/>
          </a:bodyPr>
          <a:lstStyle/>
          <a:p>
            <a:pPr indent="0" marL="0">
              <a:buNone/>
            </a:pPr>
            <a:r>
              <a:rPr lang="en-US" sz="5000" b="1" dirty="0">
                <a:solidFill>
                  <a:srgbClr val="FFFFFF"/>
                </a:solidFill>
                <a:latin typeface="Aptos Display" pitchFamily="34" charset="0"/>
                <a:ea typeface="Aptos Display" pitchFamily="34" charset="-122"/>
                <a:cs typeface="Aptos Display" pitchFamily="34" charset="-120"/>
              </a:rPr>
              <a:t>Task 2 · Service Please</a:t>
            </a:r>
            <a:endParaRPr lang="en-US" sz="5000" dirty="0"/>
          </a:p>
        </p:txBody>
      </p:sp>
      <p:sp>
        <p:nvSpPr>
          <p:cNvPr id="7" name="Text 5"/>
          <p:cNvSpPr/>
          <p:nvPr/>
        </p:nvSpPr>
        <p:spPr>
          <a:xfrm>
            <a:off x="685800" y="2743200"/>
            <a:ext cx="7818120" cy="950976"/>
          </a:xfrm>
          <a:prstGeom prst="rect">
            <a:avLst/>
          </a:prstGeom>
          <a:noFill/>
          <a:ln/>
        </p:spPr>
        <p:txBody>
          <a:bodyPr wrap="square" lIns="0" tIns="0" rIns="0" bIns="0" rtlCol="0" anchor="ctr"/>
          <a:lstStyle/>
          <a:p>
            <a:pPr indent="0" marL="0">
              <a:buNone/>
            </a:pPr>
            <a:r>
              <a:rPr lang="en-US" sz="2300" dirty="0">
                <a:solidFill>
                  <a:srgbClr val="FBF3E6"/>
                </a:solidFill>
                <a:latin typeface="Aptos" pitchFamily="34" charset="0"/>
                <a:ea typeface="Aptos" pitchFamily="34" charset="-122"/>
                <a:cs typeface="Aptos" pitchFamily="34" charset="-120"/>
              </a:rPr>
              <a:t>Understand customer needs, communicate accurately, provide inclusive service and recover problems within authority.</a:t>
            </a:r>
            <a:endParaRPr lang="en-US" sz="2300" dirty="0"/>
          </a:p>
        </p:txBody>
      </p:sp>
      <p:sp>
        <p:nvSpPr>
          <p:cNvPr id="8" name="Shape 6"/>
          <p:cNvSpPr/>
          <p:nvPr/>
        </p:nvSpPr>
        <p:spPr>
          <a:xfrm>
            <a:off x="685800" y="4096512"/>
            <a:ext cx="10835640" cy="0"/>
          </a:xfrm>
          <a:prstGeom prst="line">
            <a:avLst/>
          </a:prstGeom>
          <a:noFill/>
          <a:ln w="16510">
            <a:solidFill>
              <a:srgbClr val="B8D9D3">
                <a:alpha val="65000"/>
              </a:srgbClr>
            </a:solidFill>
            <a:prstDash val="solid"/>
          </a:ln>
        </p:spPr>
      </p:sp>
      <p:sp>
        <p:nvSpPr>
          <p:cNvPr id="9" name="Text 7"/>
          <p:cNvSpPr/>
          <p:nvPr/>
        </p:nvSpPr>
        <p:spPr>
          <a:xfrm>
            <a:off x="685800" y="4407408"/>
            <a:ext cx="493776" cy="347472"/>
          </a:xfrm>
          <a:prstGeom prst="rect">
            <a:avLst/>
          </a:prstGeom>
          <a:noFill/>
          <a:ln/>
        </p:spPr>
        <p:txBody>
          <a:bodyPr wrap="square" lIns="0" tIns="0" rIns="0" bIns="0" rtlCol="0" anchor="ctr"/>
          <a:lstStyle/>
          <a:p>
            <a:pPr indent="0" marL="0">
              <a:buNone/>
            </a:pPr>
            <a:r>
              <a:rPr lang="en-US" sz="1800" b="1" dirty="0">
                <a:solidFill>
                  <a:srgbClr val="D7A84B"/>
                </a:solidFill>
                <a:latin typeface="Aptos Display" pitchFamily="34" charset="0"/>
                <a:ea typeface="Aptos Display" pitchFamily="34" charset="-122"/>
                <a:cs typeface="Aptos Display" pitchFamily="34" charset="-120"/>
              </a:rPr>
              <a:t>01</a:t>
            </a:r>
            <a:endParaRPr lang="en-US" sz="1800" dirty="0"/>
          </a:p>
        </p:txBody>
      </p:sp>
      <p:sp>
        <p:nvSpPr>
          <p:cNvPr id="10" name="Text 8"/>
          <p:cNvSpPr/>
          <p:nvPr/>
        </p:nvSpPr>
        <p:spPr>
          <a:xfrm>
            <a:off x="1234440" y="4361688"/>
            <a:ext cx="2697480" cy="676656"/>
          </a:xfrm>
          <a:prstGeom prst="rect">
            <a:avLst/>
          </a:prstGeom>
          <a:noFill/>
          <a:ln/>
        </p:spPr>
        <p:txBody>
          <a:bodyPr wrap="square" lIns="0" tIns="0" rIns="0" bIns="0" rtlCol="0" anchor="ctr"/>
          <a:lstStyle/>
          <a:p>
            <a:pPr indent="0" marL="0">
              <a:buNone/>
            </a:pPr>
            <a:r>
              <a:rPr lang="en-US" sz="2000" b="1" dirty="0">
                <a:solidFill>
                  <a:srgbClr val="FFFFFF"/>
                </a:solidFill>
                <a:latin typeface="Aptos" pitchFamily="34" charset="0"/>
                <a:ea typeface="Aptos" pitchFamily="34" charset="-122"/>
                <a:cs typeface="Aptos" pitchFamily="34" charset="-120"/>
              </a:rPr>
              <a:t>Understand the customer</a:t>
            </a:r>
            <a:endParaRPr lang="en-US" sz="2000" dirty="0"/>
          </a:p>
        </p:txBody>
      </p:sp>
      <p:sp>
        <p:nvSpPr>
          <p:cNvPr id="11" name="Text 9"/>
          <p:cNvSpPr/>
          <p:nvPr/>
        </p:nvSpPr>
        <p:spPr>
          <a:xfrm>
            <a:off x="4279392" y="4407408"/>
            <a:ext cx="493776" cy="347472"/>
          </a:xfrm>
          <a:prstGeom prst="rect">
            <a:avLst/>
          </a:prstGeom>
          <a:noFill/>
          <a:ln/>
        </p:spPr>
        <p:txBody>
          <a:bodyPr wrap="square" lIns="0" tIns="0" rIns="0" bIns="0" rtlCol="0" anchor="ctr"/>
          <a:lstStyle/>
          <a:p>
            <a:pPr indent="0" marL="0">
              <a:buNone/>
            </a:pPr>
            <a:r>
              <a:rPr lang="en-US" sz="1800" b="1" dirty="0">
                <a:solidFill>
                  <a:srgbClr val="D7A84B"/>
                </a:solidFill>
                <a:latin typeface="Aptos Display" pitchFamily="34" charset="0"/>
                <a:ea typeface="Aptos Display" pitchFamily="34" charset="-122"/>
                <a:cs typeface="Aptos Display" pitchFamily="34" charset="-120"/>
              </a:rPr>
              <a:t>02</a:t>
            </a:r>
            <a:endParaRPr lang="en-US" sz="1800" dirty="0"/>
          </a:p>
        </p:txBody>
      </p:sp>
      <p:sp>
        <p:nvSpPr>
          <p:cNvPr id="12" name="Text 10"/>
          <p:cNvSpPr/>
          <p:nvPr/>
        </p:nvSpPr>
        <p:spPr>
          <a:xfrm>
            <a:off x="4828032" y="4361688"/>
            <a:ext cx="2697480" cy="676656"/>
          </a:xfrm>
          <a:prstGeom prst="rect">
            <a:avLst/>
          </a:prstGeom>
          <a:noFill/>
          <a:ln/>
        </p:spPr>
        <p:txBody>
          <a:bodyPr wrap="square" lIns="0" tIns="0" rIns="0" bIns="0" rtlCol="0" anchor="ctr"/>
          <a:lstStyle/>
          <a:p>
            <a:pPr indent="0" marL="0">
              <a:buNone/>
            </a:pPr>
            <a:r>
              <a:rPr lang="en-US" sz="2000" b="1" dirty="0">
                <a:solidFill>
                  <a:srgbClr val="FFFFFF"/>
                </a:solidFill>
                <a:latin typeface="Aptos" pitchFamily="34" charset="0"/>
                <a:ea typeface="Aptos" pitchFamily="34" charset="-122"/>
                <a:cs typeface="Aptos" pitchFamily="34" charset="-120"/>
              </a:rPr>
              <a:t>Close the communication loop</a:t>
            </a:r>
            <a:endParaRPr lang="en-US" sz="2000" dirty="0"/>
          </a:p>
        </p:txBody>
      </p:sp>
      <p:sp>
        <p:nvSpPr>
          <p:cNvPr id="13" name="Text 11"/>
          <p:cNvSpPr/>
          <p:nvPr/>
        </p:nvSpPr>
        <p:spPr>
          <a:xfrm>
            <a:off x="7872984" y="4407408"/>
            <a:ext cx="493776" cy="347472"/>
          </a:xfrm>
          <a:prstGeom prst="rect">
            <a:avLst/>
          </a:prstGeom>
          <a:noFill/>
          <a:ln/>
        </p:spPr>
        <p:txBody>
          <a:bodyPr wrap="square" lIns="0" tIns="0" rIns="0" bIns="0" rtlCol="0" anchor="ctr"/>
          <a:lstStyle/>
          <a:p>
            <a:pPr indent="0" marL="0">
              <a:buNone/>
            </a:pPr>
            <a:r>
              <a:rPr lang="en-US" sz="1800" b="1" dirty="0">
                <a:solidFill>
                  <a:srgbClr val="D7A84B"/>
                </a:solidFill>
                <a:latin typeface="Aptos Display" pitchFamily="34" charset="0"/>
                <a:ea typeface="Aptos Display" pitchFamily="34" charset="-122"/>
                <a:cs typeface="Aptos Display" pitchFamily="34" charset="-120"/>
              </a:rPr>
              <a:t>03</a:t>
            </a:r>
            <a:endParaRPr lang="en-US" sz="1800" dirty="0"/>
          </a:p>
        </p:txBody>
      </p:sp>
      <p:sp>
        <p:nvSpPr>
          <p:cNvPr id="14" name="Text 12"/>
          <p:cNvSpPr/>
          <p:nvPr/>
        </p:nvSpPr>
        <p:spPr>
          <a:xfrm>
            <a:off x="8421624" y="4361688"/>
            <a:ext cx="2697480" cy="676656"/>
          </a:xfrm>
          <a:prstGeom prst="rect">
            <a:avLst/>
          </a:prstGeom>
          <a:noFill/>
          <a:ln/>
        </p:spPr>
        <p:txBody>
          <a:bodyPr wrap="square" lIns="0" tIns="0" rIns="0" bIns="0" rtlCol="0" anchor="ctr"/>
          <a:lstStyle/>
          <a:p>
            <a:pPr indent="0" marL="0">
              <a:buNone/>
            </a:pPr>
            <a:r>
              <a:rPr lang="en-US" sz="2000" b="1" dirty="0">
                <a:solidFill>
                  <a:srgbClr val="FFFFFF"/>
                </a:solidFill>
                <a:latin typeface="Aptos" pitchFamily="34" charset="0"/>
                <a:ea typeface="Aptos" pitchFamily="34" charset="-122"/>
                <a:cs typeface="Aptos" pitchFamily="34" charset="-120"/>
              </a:rPr>
              <a:t>Recover and improve</a:t>
            </a:r>
            <a:endParaRPr lang="en-US" sz="2000" dirty="0"/>
          </a:p>
        </p:txBody>
      </p:sp>
      <p:sp>
        <p:nvSpPr>
          <p:cNvPr id="15" name="Text 13"/>
          <p:cNvSpPr/>
          <p:nvPr/>
        </p:nvSpPr>
        <p:spPr>
          <a:xfrm>
            <a:off x="685800" y="6062472"/>
            <a:ext cx="7040880" cy="274320"/>
          </a:xfrm>
          <a:prstGeom prst="rect">
            <a:avLst/>
          </a:prstGeom>
          <a:noFill/>
          <a:ln/>
        </p:spPr>
        <p:txBody>
          <a:bodyPr wrap="square" lIns="0" tIns="0" rIns="0" bIns="0" rtlCol="0" anchor="ctr"/>
          <a:lstStyle/>
          <a:p>
            <a:pPr indent="0" marL="0">
              <a:buNone/>
            </a:pPr>
            <a:r>
              <a:rPr lang="en-US" sz="1450" dirty="0">
                <a:solidFill>
                  <a:srgbClr val="B8D9D3"/>
                </a:solidFill>
                <a:latin typeface="Aptos" pitchFamily="34" charset="0"/>
                <a:ea typeface="Aptos" pitchFamily="34" charset="-122"/>
                <a:cs typeface="Aptos" pitchFamily="34" charset="-120"/>
              </a:rPr>
              <a:t>8 lesson visuals · retrieval · applied checking</a:t>
            </a:r>
            <a:endParaRPr lang="en-US" sz="1450" dirty="0"/>
          </a:p>
        </p:txBody>
      </p:sp>
      <p:sp>
        <p:nvSpPr>
          <p:cNvPr id="16" name="Text 14"/>
          <p:cNvSpPr/>
          <p:nvPr/>
        </p:nvSpPr>
        <p:spPr>
          <a:xfrm>
            <a:off x="10899648" y="6062472"/>
            <a:ext cx="640080" cy="274320"/>
          </a:xfrm>
          <a:prstGeom prst="rect">
            <a:avLst/>
          </a:prstGeom>
          <a:noFill/>
          <a:ln/>
        </p:spPr>
        <p:txBody>
          <a:bodyPr wrap="square" lIns="0" tIns="0" rIns="0" bIns="0" rtlCol="0" anchor="ctr"/>
          <a:lstStyle/>
          <a:p>
            <a:pPr algn="r" indent="0" marL="0">
              <a:buNone/>
            </a:pPr>
            <a:r>
              <a:rPr lang="en-US" sz="1200" dirty="0">
                <a:solidFill>
                  <a:srgbClr val="B8D9D3"/>
                </a:solidFill>
                <a:latin typeface="Aptos" pitchFamily="34" charset="0"/>
                <a:ea typeface="Aptos" pitchFamily="34" charset="-122"/>
                <a:cs typeface="Aptos" pitchFamily="34" charset="-120"/>
              </a:rPr>
              <a:t>1 / 10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3E6"/>
        </a:solidFill>
      </p:bgPr>
    </p:bg>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0B4F4A"/>
          </a:solidFill>
          <a:ln w="12700">
            <a:solidFill>
              <a:srgbClr val="0B4F4A">
                <a:alpha val="0"/>
              </a:srgbClr>
            </a:solidFill>
            <a:prstDash val="solid"/>
          </a:ln>
        </p:spPr>
      </p:sp>
      <p:sp>
        <p:nvSpPr>
          <p:cNvPr id="3" name="Shape 1"/>
          <p:cNvSpPr/>
          <p:nvPr/>
        </p:nvSpPr>
        <p:spPr>
          <a:xfrm>
            <a:off x="0" y="0"/>
            <a:ext cx="164592" cy="1143000"/>
          </a:xfrm>
          <a:prstGeom prst="rect">
            <a:avLst/>
          </a:prstGeom>
          <a:solidFill>
            <a:srgbClr val="D7A84B"/>
          </a:solidFill>
          <a:ln w="12700">
            <a:solidFill>
              <a:srgbClr val="D7A84B">
                <a:alpha val="0"/>
              </a:srgbClr>
            </a:solidFill>
            <a:prstDash val="solid"/>
          </a:ln>
        </p:spPr>
      </p:sp>
      <p:sp>
        <p:nvSpPr>
          <p:cNvPr id="4" name="Text 2"/>
          <p:cNvSpPr/>
          <p:nvPr/>
        </p:nvSpPr>
        <p:spPr>
          <a:xfrm>
            <a:off x="438912" y="109728"/>
            <a:ext cx="2084832" cy="182880"/>
          </a:xfrm>
          <a:prstGeom prst="rect">
            <a:avLst/>
          </a:prstGeom>
          <a:noFill/>
          <a:ln/>
        </p:spPr>
        <p:txBody>
          <a:bodyPr wrap="square" lIns="0" tIns="0" rIns="0" bIns="0" rtlCol="0" anchor="ctr"/>
          <a:lstStyle/>
          <a:p>
            <a:pPr indent="0" marL="0">
              <a:buNone/>
            </a:pPr>
            <a:r>
              <a:rPr lang="en-US" sz="1150" b="1" spc="80" kern="0" dirty="0">
                <a:solidFill>
                  <a:srgbClr val="F3DFB0"/>
                </a:solidFill>
                <a:latin typeface="Aptos" pitchFamily="34" charset="0"/>
                <a:ea typeface="Aptos" pitchFamily="34" charset="-122"/>
                <a:cs typeface="Aptos" pitchFamily="34" charset="-120"/>
              </a:rPr>
              <a:t>TASK 2 · LESSON 01</a:t>
            </a:r>
            <a:endParaRPr lang="en-US" sz="1150" dirty="0"/>
          </a:p>
        </p:txBody>
      </p:sp>
      <p:sp>
        <p:nvSpPr>
          <p:cNvPr id="5" name="Text 3"/>
          <p:cNvSpPr/>
          <p:nvPr/>
        </p:nvSpPr>
        <p:spPr>
          <a:xfrm>
            <a:off x="429768" y="310896"/>
            <a:ext cx="11155680" cy="731520"/>
          </a:xfrm>
          <a:prstGeom prst="rect">
            <a:avLst/>
          </a:prstGeom>
          <a:noFill/>
          <a:ln/>
        </p:spPr>
        <p:txBody>
          <a:bodyPr wrap="square" lIns="0" tIns="0" rIns="0" bIns="0" rtlCol="0" anchor="ctr">
            <a:normAutofit/>
          </a:bodyPr>
          <a:lstStyle/>
          <a:p>
            <a:pPr indent="0" marL="0">
              <a:buNone/>
            </a:pPr>
            <a:r>
              <a:rPr lang="en-US" sz="3500" b="1" dirty="0">
                <a:solidFill>
                  <a:srgbClr val="FFFFFF"/>
                </a:solidFill>
                <a:latin typeface="Aptos Display" pitchFamily="34" charset="0"/>
                <a:ea typeface="Aptos Display" pitchFamily="34" charset="-122"/>
                <a:cs typeface="Aptos Display" pitchFamily="34" charset="-120"/>
              </a:rPr>
              <a:t>Customer service is the whole experience</a:t>
            </a:r>
            <a:endParaRPr lang="en-US" sz="3500" dirty="0"/>
          </a:p>
        </p:txBody>
      </p:sp>
      <p:sp>
        <p:nvSpPr>
          <p:cNvPr id="6" name="Shape 4"/>
          <p:cNvSpPr/>
          <p:nvPr/>
        </p:nvSpPr>
        <p:spPr>
          <a:xfrm>
            <a:off x="502920" y="1298448"/>
            <a:ext cx="6510528" cy="4901184"/>
          </a:xfrm>
          <a:prstGeom prst="roundRect">
            <a:avLst>
              <a:gd name="adj" fmla="val 1306"/>
            </a:avLst>
          </a:prstGeom>
          <a:solidFill>
            <a:srgbClr val="FFFDF8"/>
          </a:solidFill>
          <a:ln w="17780">
            <a:solidFill>
              <a:srgbClr val="B8D9D3"/>
            </a:solidFill>
            <a:prstDash val="solid"/>
          </a:ln>
        </p:spPr>
      </p:sp>
      <p:pic>
        <p:nvPicPr>
          <p:cNvPr id="7" name="service-mindset-instructional-visual" descr="Six-panel hospitality service journey showing preparation, welcome, clarification, accurate handover, delivery check and feedback-driven improvement.">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12648" y="1914144"/>
            <a:ext cx="6291072" cy="3669792"/>
          </a:xfrm>
          <a:prstGeom prst="rect">
            <a:avLst/>
          </a:prstGeom>
        </p:spPr>
      </p:pic>
      <p:sp>
        <p:nvSpPr>
          <p:cNvPr id="8" name="Text 5"/>
          <p:cNvSpPr/>
          <p:nvPr/>
        </p:nvSpPr>
        <p:spPr>
          <a:xfrm>
            <a:off x="7342632" y="1353312"/>
            <a:ext cx="4315968" cy="219456"/>
          </a:xfrm>
          <a:prstGeom prst="rect">
            <a:avLst/>
          </a:prstGeom>
          <a:noFill/>
          <a:ln/>
        </p:spPr>
        <p:txBody>
          <a:bodyPr wrap="square" lIns="0" tIns="0" rIns="0" bIns="0" rtlCol="0" anchor="ctr"/>
          <a:lstStyle/>
          <a:p>
            <a:pPr indent="0" marL="0">
              <a:buNone/>
            </a:pPr>
            <a:r>
              <a:rPr lang="en-US" sz="1300" b="1" spc="110" kern="0" dirty="0">
                <a:solidFill>
                  <a:srgbClr val="D7A84B"/>
                </a:solidFill>
                <a:latin typeface="Aptos" pitchFamily="34" charset="0"/>
                <a:ea typeface="Aptos" pitchFamily="34" charset="-122"/>
                <a:cs typeface="Aptos" pitchFamily="34" charset="-120"/>
              </a:rPr>
              <a:t>PURPOSE</a:t>
            </a:r>
            <a:endParaRPr lang="en-US" sz="1300" dirty="0"/>
          </a:p>
        </p:txBody>
      </p:sp>
      <p:sp>
        <p:nvSpPr>
          <p:cNvPr id="9" name="Text 6"/>
          <p:cNvSpPr/>
          <p:nvPr/>
        </p:nvSpPr>
        <p:spPr>
          <a:xfrm>
            <a:off x="7342632" y="1627632"/>
            <a:ext cx="4315968" cy="1536192"/>
          </a:xfrm>
          <a:prstGeom prst="rect">
            <a:avLst/>
          </a:prstGeom>
          <a:noFill/>
          <a:ln/>
        </p:spPr>
        <p:txBody>
          <a:bodyPr wrap="square" lIns="0" tIns="0" rIns="0" bIns="0" rtlCol="0" anchor="t">
            <a:normAutofit/>
          </a:bodyPr>
          <a:lstStyle/>
          <a:p>
            <a:pPr indent="0" marL="0">
              <a:buNone/>
            </a:pPr>
            <a:r>
              <a:rPr lang="en-US" sz="1850" dirty="0">
                <a:solidFill>
                  <a:srgbClr val="17343A"/>
                </a:solidFill>
                <a:latin typeface="Aptos" pitchFamily="34" charset="0"/>
                <a:ea typeface="Aptos" pitchFamily="34" charset="-122"/>
                <a:cs typeface="Aptos" pitchFamily="34" charset="-120"/>
              </a:rPr>
              <a:t>Build a service mindset by tracing what customers and colleagues experience before, during and after a hospitality transaction.</a:t>
            </a:r>
            <a:endParaRPr lang="en-US" sz="1850" dirty="0"/>
          </a:p>
        </p:txBody>
      </p:sp>
      <p:sp>
        <p:nvSpPr>
          <p:cNvPr id="10" name="Text 7"/>
          <p:cNvSpPr/>
          <p:nvPr/>
        </p:nvSpPr>
        <p:spPr>
          <a:xfrm>
            <a:off x="7342632" y="3291840"/>
            <a:ext cx="4315968" cy="219456"/>
          </a:xfrm>
          <a:prstGeom prst="rect">
            <a:avLst/>
          </a:prstGeom>
          <a:noFill/>
          <a:ln/>
        </p:spPr>
        <p:txBody>
          <a:bodyPr wrap="square" lIns="0" tIns="0" rIns="0" bIns="0" rtlCol="0" anchor="ctr"/>
          <a:lstStyle/>
          <a:p>
            <a:pPr indent="0" marL="0">
              <a:buNone/>
            </a:pPr>
            <a:r>
              <a:rPr lang="en-US" sz="1300" b="1" spc="110" kern="0" dirty="0">
                <a:solidFill>
                  <a:srgbClr val="D7A84B"/>
                </a:solidFill>
                <a:latin typeface="Aptos" pitchFamily="34" charset="0"/>
                <a:ea typeface="Aptos" pitchFamily="34" charset="-122"/>
                <a:cs typeface="Aptos" pitchFamily="34" charset="-120"/>
              </a:rPr>
              <a:t>NOTICE</a:t>
            </a:r>
            <a:endParaRPr lang="en-US" sz="1300" dirty="0"/>
          </a:p>
        </p:txBody>
      </p:sp>
      <p:sp>
        <p:nvSpPr>
          <p:cNvPr id="11" name="Shape 8"/>
          <p:cNvSpPr/>
          <p:nvPr/>
        </p:nvSpPr>
        <p:spPr>
          <a:xfrm>
            <a:off x="7342632" y="3648456"/>
            <a:ext cx="118872" cy="118872"/>
          </a:xfrm>
          <a:prstGeom prst="ellipse">
            <a:avLst/>
          </a:prstGeom>
          <a:solidFill>
            <a:srgbClr val="D7A84B"/>
          </a:solidFill>
          <a:ln w="12700">
            <a:solidFill>
              <a:srgbClr val="D7A84B">
                <a:alpha val="0"/>
              </a:srgbClr>
            </a:solidFill>
            <a:prstDash val="solid"/>
          </a:ln>
        </p:spPr>
      </p:sp>
      <p:sp>
        <p:nvSpPr>
          <p:cNvPr id="12" name="Text 9"/>
          <p:cNvSpPr/>
          <p:nvPr/>
        </p:nvSpPr>
        <p:spPr>
          <a:xfrm>
            <a:off x="7552944" y="35753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More than being friendly</a:t>
            </a:r>
            <a:endParaRPr lang="en-US" sz="1600" dirty="0"/>
          </a:p>
        </p:txBody>
      </p:sp>
      <p:sp>
        <p:nvSpPr>
          <p:cNvPr id="13" name="Shape 10"/>
          <p:cNvSpPr/>
          <p:nvPr/>
        </p:nvSpPr>
        <p:spPr>
          <a:xfrm>
            <a:off x="7342632" y="4105656"/>
            <a:ext cx="118872" cy="118872"/>
          </a:xfrm>
          <a:prstGeom prst="ellipse">
            <a:avLst/>
          </a:prstGeom>
          <a:solidFill>
            <a:srgbClr val="D7A84B"/>
          </a:solidFill>
          <a:ln w="12700">
            <a:solidFill>
              <a:srgbClr val="D7A84B">
                <a:alpha val="0"/>
              </a:srgbClr>
            </a:solidFill>
            <a:prstDash val="solid"/>
          </a:ln>
        </p:spPr>
      </p:sp>
      <p:sp>
        <p:nvSpPr>
          <p:cNvPr id="14" name="Text 11"/>
          <p:cNvSpPr/>
          <p:nvPr/>
        </p:nvSpPr>
        <p:spPr>
          <a:xfrm>
            <a:off x="7552944" y="40325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A practical service cycle</a:t>
            </a:r>
            <a:endParaRPr lang="en-US" sz="1600" dirty="0"/>
          </a:p>
        </p:txBody>
      </p:sp>
      <p:sp>
        <p:nvSpPr>
          <p:cNvPr id="15" name="Shape 12"/>
          <p:cNvSpPr/>
          <p:nvPr/>
        </p:nvSpPr>
        <p:spPr>
          <a:xfrm>
            <a:off x="7342632" y="4562856"/>
            <a:ext cx="118872" cy="118872"/>
          </a:xfrm>
          <a:prstGeom prst="ellipse">
            <a:avLst/>
          </a:prstGeom>
          <a:solidFill>
            <a:srgbClr val="D7A84B"/>
          </a:solidFill>
          <a:ln w="12700">
            <a:solidFill>
              <a:srgbClr val="D7A84B">
                <a:alpha val="0"/>
              </a:srgbClr>
            </a:solidFill>
            <a:prstDash val="solid"/>
          </a:ln>
        </p:spPr>
      </p:sp>
      <p:sp>
        <p:nvSpPr>
          <p:cNvPr id="16" name="Text 13"/>
          <p:cNvSpPr/>
          <p:nvPr/>
        </p:nvSpPr>
        <p:spPr>
          <a:xfrm>
            <a:off x="7552944" y="44897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Moments that shape the experience</a:t>
            </a:r>
            <a:endParaRPr lang="en-US" sz="1600" dirty="0"/>
          </a:p>
        </p:txBody>
      </p:sp>
      <p:sp>
        <p:nvSpPr>
          <p:cNvPr id="17" name="Shape 14"/>
          <p:cNvSpPr/>
          <p:nvPr/>
        </p:nvSpPr>
        <p:spPr>
          <a:xfrm>
            <a:off x="7342632" y="5029200"/>
            <a:ext cx="4315968" cy="941832"/>
          </a:xfrm>
          <a:prstGeom prst="roundRect">
            <a:avLst>
              <a:gd name="adj" fmla="val 4854"/>
            </a:avLst>
          </a:prstGeom>
          <a:solidFill>
            <a:srgbClr val="0B4F4A"/>
          </a:solidFill>
          <a:ln w="12700">
            <a:solidFill>
              <a:srgbClr val="0B4F4A">
                <a:alpha val="0"/>
              </a:srgbClr>
            </a:solidFill>
            <a:prstDash val="solid"/>
          </a:ln>
        </p:spPr>
      </p:sp>
      <p:sp>
        <p:nvSpPr>
          <p:cNvPr id="18" name="Text 15"/>
          <p:cNvSpPr/>
          <p:nvPr/>
        </p:nvSpPr>
        <p:spPr>
          <a:xfrm>
            <a:off x="7507224" y="5157216"/>
            <a:ext cx="658368" cy="182880"/>
          </a:xfrm>
          <a:prstGeom prst="rect">
            <a:avLst/>
          </a:prstGeom>
          <a:noFill/>
          <a:ln/>
        </p:spPr>
        <p:txBody>
          <a:bodyPr wrap="square" lIns="0" tIns="0" rIns="0" bIns="0" rtlCol="0" anchor="ctr"/>
          <a:lstStyle/>
          <a:p>
            <a:pPr indent="0" marL="0">
              <a:buNone/>
            </a:pPr>
            <a:r>
              <a:rPr lang="en-US" sz="1200" b="1" spc="80" kern="0" dirty="0">
                <a:solidFill>
                  <a:srgbClr val="F3DFB0"/>
                </a:solidFill>
                <a:latin typeface="Aptos" pitchFamily="34" charset="0"/>
                <a:ea typeface="Aptos" pitchFamily="34" charset="-122"/>
                <a:cs typeface="Aptos" pitchFamily="34" charset="-120"/>
              </a:rPr>
              <a:t>CHECK</a:t>
            </a:r>
            <a:endParaRPr lang="en-US" sz="1200" dirty="0"/>
          </a:p>
        </p:txBody>
      </p:sp>
      <p:sp>
        <p:nvSpPr>
          <p:cNvPr id="19" name="Text 16"/>
          <p:cNvSpPr/>
          <p:nvPr/>
        </p:nvSpPr>
        <p:spPr>
          <a:xfrm>
            <a:off x="8174736" y="5102352"/>
            <a:ext cx="3337560" cy="658368"/>
          </a:xfrm>
          <a:prstGeom prst="rect">
            <a:avLst/>
          </a:prstGeom>
          <a:noFill/>
          <a:ln/>
        </p:spPr>
        <p:txBody>
          <a:bodyPr wrap="square" lIns="0" tIns="0" rIns="0" bIns="0" rtlCol="0" anchor="ctr">
            <a:normAutofit/>
          </a:bodyPr>
          <a:lstStyle/>
          <a:p>
            <a:pPr indent="0" marL="0">
              <a:buNone/>
            </a:pPr>
            <a:r>
              <a:rPr lang="en-US" sz="1750" b="1" dirty="0">
                <a:solidFill>
                  <a:srgbClr val="FFFFFF"/>
                </a:solidFill>
                <a:latin typeface="Aptos" pitchFamily="34" charset="0"/>
                <a:ea typeface="Aptos" pitchFamily="34" charset="-122"/>
                <a:cs typeface="Aptos" pitchFamily="34" charset="-120"/>
              </a:rPr>
              <a:t>Which example treats customer service as a complete experience?</a:t>
            </a:r>
            <a:endParaRPr lang="en-US" sz="1750" dirty="0"/>
          </a:p>
        </p:txBody>
      </p:sp>
      <p:sp>
        <p:nvSpPr>
          <p:cNvPr id="20" name="Shape 17"/>
          <p:cNvSpPr/>
          <p:nvPr/>
        </p:nvSpPr>
        <p:spPr>
          <a:xfrm>
            <a:off x="530352" y="6473952"/>
            <a:ext cx="11128248" cy="0"/>
          </a:xfrm>
          <a:prstGeom prst="line">
            <a:avLst/>
          </a:prstGeom>
          <a:noFill/>
          <a:ln w="15240">
            <a:solidFill>
              <a:srgbClr val="B8D9D3"/>
            </a:solidFill>
            <a:prstDash val="solid"/>
          </a:ln>
        </p:spPr>
      </p:sp>
      <p:sp>
        <p:nvSpPr>
          <p:cNvPr id="21" name="Text 18"/>
          <p:cNvSpPr/>
          <p:nvPr/>
        </p:nvSpPr>
        <p:spPr>
          <a:xfrm>
            <a:off x="566928" y="6528816"/>
            <a:ext cx="5303520" cy="164592"/>
          </a:xfrm>
          <a:prstGeom prst="rect">
            <a:avLst/>
          </a:prstGeom>
          <a:noFill/>
          <a:ln/>
        </p:spPr>
        <p:txBody>
          <a:bodyPr wrap="square" lIns="0" tIns="0" rIns="0" bIns="0" rtlCol="0" anchor="ctr"/>
          <a:lstStyle/>
          <a:p>
            <a:pPr indent="0" marL="0">
              <a:buNone/>
            </a:pPr>
            <a:r>
              <a:rPr lang="en-US" sz="1050" dirty="0">
                <a:solidFill>
                  <a:srgbClr val="53686C"/>
                </a:solidFill>
                <a:latin typeface="Aptos" pitchFamily="34" charset="0"/>
                <a:ea typeface="Aptos" pitchFamily="34" charset="-122"/>
                <a:cs typeface="Aptos" pitchFamily="34" charset="-120"/>
              </a:rPr>
              <a:t>SIT20322 Hospitality · Task 2</a:t>
            </a:r>
            <a:endParaRPr lang="en-US" sz="1050" dirty="0"/>
          </a:p>
        </p:txBody>
      </p:sp>
      <p:sp>
        <p:nvSpPr>
          <p:cNvPr id="22" name="Text 19"/>
          <p:cNvSpPr/>
          <p:nvPr/>
        </p:nvSpPr>
        <p:spPr>
          <a:xfrm>
            <a:off x="10881360" y="6528816"/>
            <a:ext cx="749808" cy="164592"/>
          </a:xfrm>
          <a:prstGeom prst="rect">
            <a:avLst/>
          </a:prstGeom>
          <a:noFill/>
          <a:ln/>
        </p:spPr>
        <p:txBody>
          <a:bodyPr wrap="square" lIns="0" tIns="0" rIns="0" bIns="0" rtlCol="0" anchor="ctr"/>
          <a:lstStyle/>
          <a:p>
            <a:pPr algn="r" indent="0" marL="0">
              <a:buNone/>
            </a:pPr>
            <a:r>
              <a:rPr lang="en-US" sz="1050" dirty="0">
                <a:solidFill>
                  <a:srgbClr val="53686C"/>
                </a:solidFill>
                <a:latin typeface="Aptos" pitchFamily="34" charset="0"/>
                <a:ea typeface="Aptos" pitchFamily="34" charset="-122"/>
                <a:cs typeface="Aptos" pitchFamily="34" charset="-120"/>
              </a:rPr>
              <a:t>2 / 10</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3E6"/>
        </a:solidFill>
      </p:bgPr>
    </p:bg>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0B4F4A"/>
          </a:solidFill>
          <a:ln w="12700">
            <a:solidFill>
              <a:srgbClr val="0B4F4A">
                <a:alpha val="0"/>
              </a:srgbClr>
            </a:solidFill>
            <a:prstDash val="solid"/>
          </a:ln>
        </p:spPr>
      </p:sp>
      <p:sp>
        <p:nvSpPr>
          <p:cNvPr id="3" name="Shape 1"/>
          <p:cNvSpPr/>
          <p:nvPr/>
        </p:nvSpPr>
        <p:spPr>
          <a:xfrm>
            <a:off x="0" y="0"/>
            <a:ext cx="164592" cy="1143000"/>
          </a:xfrm>
          <a:prstGeom prst="rect">
            <a:avLst/>
          </a:prstGeom>
          <a:solidFill>
            <a:srgbClr val="D7A84B"/>
          </a:solidFill>
          <a:ln w="12700">
            <a:solidFill>
              <a:srgbClr val="D7A84B">
                <a:alpha val="0"/>
              </a:srgbClr>
            </a:solidFill>
            <a:prstDash val="solid"/>
          </a:ln>
        </p:spPr>
      </p:sp>
      <p:sp>
        <p:nvSpPr>
          <p:cNvPr id="4" name="Text 2"/>
          <p:cNvSpPr/>
          <p:nvPr/>
        </p:nvSpPr>
        <p:spPr>
          <a:xfrm>
            <a:off x="438912" y="109728"/>
            <a:ext cx="2084832" cy="182880"/>
          </a:xfrm>
          <a:prstGeom prst="rect">
            <a:avLst/>
          </a:prstGeom>
          <a:noFill/>
          <a:ln/>
        </p:spPr>
        <p:txBody>
          <a:bodyPr wrap="square" lIns="0" tIns="0" rIns="0" bIns="0" rtlCol="0" anchor="ctr"/>
          <a:lstStyle/>
          <a:p>
            <a:pPr indent="0" marL="0">
              <a:buNone/>
            </a:pPr>
            <a:r>
              <a:rPr lang="en-US" sz="1150" b="1" spc="80" kern="0" dirty="0">
                <a:solidFill>
                  <a:srgbClr val="F3DFB0"/>
                </a:solidFill>
                <a:latin typeface="Aptos" pitchFamily="34" charset="0"/>
                <a:ea typeface="Aptos" pitchFamily="34" charset="-122"/>
                <a:cs typeface="Aptos" pitchFamily="34" charset="-120"/>
              </a:rPr>
              <a:t>TASK 2 · LESSON 02</a:t>
            </a:r>
            <a:endParaRPr lang="en-US" sz="1150" dirty="0"/>
          </a:p>
        </p:txBody>
      </p:sp>
      <p:sp>
        <p:nvSpPr>
          <p:cNvPr id="5" name="Text 3"/>
          <p:cNvSpPr/>
          <p:nvPr/>
        </p:nvSpPr>
        <p:spPr>
          <a:xfrm>
            <a:off x="429768" y="310896"/>
            <a:ext cx="11155680" cy="73152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Aptos Display" pitchFamily="34" charset="0"/>
                <a:ea typeface="Aptos Display" pitchFamily="34" charset="-122"/>
                <a:cs typeface="Aptos Display" pitchFamily="34" charset="-120"/>
              </a:rPr>
              <a:t>Turn service standards into observable actions</a:t>
            </a:r>
            <a:endParaRPr lang="en-US" sz="2800" dirty="0"/>
          </a:p>
        </p:txBody>
      </p:sp>
      <p:sp>
        <p:nvSpPr>
          <p:cNvPr id="6" name="Shape 4"/>
          <p:cNvSpPr/>
          <p:nvPr/>
        </p:nvSpPr>
        <p:spPr>
          <a:xfrm>
            <a:off x="5175504" y="1298448"/>
            <a:ext cx="6510528" cy="4901184"/>
          </a:xfrm>
          <a:prstGeom prst="roundRect">
            <a:avLst>
              <a:gd name="adj" fmla="val 1306"/>
            </a:avLst>
          </a:prstGeom>
          <a:solidFill>
            <a:srgbClr val="FFFDF8"/>
          </a:solidFill>
          <a:ln w="17780">
            <a:solidFill>
              <a:srgbClr val="B8D9D3"/>
            </a:solidFill>
            <a:prstDash val="solid"/>
          </a:ln>
        </p:spPr>
      </p:sp>
      <p:pic>
        <p:nvPicPr>
          <p:cNvPr id="7" name="standards-instructional-visual" descr="Six hospitality service examples showing observable courtesy, promptness, product knowledge, accuracy, presentation and problem resolu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285232" y="1914144"/>
            <a:ext cx="6291072" cy="3669792"/>
          </a:xfrm>
          <a:prstGeom prst="rect">
            <a:avLst/>
          </a:prstGeom>
        </p:spPr>
      </p:pic>
      <p:sp>
        <p:nvSpPr>
          <p:cNvPr id="8" name="Text 5"/>
          <p:cNvSpPr/>
          <p:nvPr/>
        </p:nvSpPr>
        <p:spPr>
          <a:xfrm>
            <a:off x="530352" y="1353312"/>
            <a:ext cx="4315968" cy="219456"/>
          </a:xfrm>
          <a:prstGeom prst="rect">
            <a:avLst/>
          </a:prstGeom>
          <a:noFill/>
          <a:ln/>
        </p:spPr>
        <p:txBody>
          <a:bodyPr wrap="square" lIns="0" tIns="0" rIns="0" bIns="0" rtlCol="0" anchor="ctr"/>
          <a:lstStyle/>
          <a:p>
            <a:pPr indent="0" marL="0">
              <a:buNone/>
            </a:pPr>
            <a:r>
              <a:rPr lang="en-US" sz="1300" b="1" spc="110" kern="0" dirty="0">
                <a:solidFill>
                  <a:srgbClr val="D7A84B"/>
                </a:solidFill>
                <a:latin typeface="Aptos" pitchFamily="34" charset="0"/>
                <a:ea typeface="Aptos" pitchFamily="34" charset="-122"/>
                <a:cs typeface="Aptos" pitchFamily="34" charset="-120"/>
              </a:rPr>
              <a:t>PURPOSE</a:t>
            </a:r>
            <a:endParaRPr lang="en-US" sz="1300" dirty="0"/>
          </a:p>
        </p:txBody>
      </p:sp>
      <p:sp>
        <p:nvSpPr>
          <p:cNvPr id="9" name="Text 6"/>
          <p:cNvSpPr/>
          <p:nvPr/>
        </p:nvSpPr>
        <p:spPr>
          <a:xfrm>
            <a:off x="530352" y="1627632"/>
            <a:ext cx="4315968" cy="1536192"/>
          </a:xfrm>
          <a:prstGeom prst="rect">
            <a:avLst/>
          </a:prstGeom>
          <a:noFill/>
          <a:ln/>
        </p:spPr>
        <p:txBody>
          <a:bodyPr wrap="square" lIns="0" tIns="0" rIns="0" bIns="0" rtlCol="0" anchor="t">
            <a:normAutofit/>
          </a:bodyPr>
          <a:lstStyle/>
          <a:p>
            <a:pPr indent="0" marL="0">
              <a:buNone/>
            </a:pPr>
            <a:r>
              <a:rPr lang="en-US" sz="1850" dirty="0">
                <a:solidFill>
                  <a:srgbClr val="17343A"/>
                </a:solidFill>
                <a:latin typeface="Aptos" pitchFamily="34" charset="0"/>
                <a:ea typeface="Aptos" pitchFamily="34" charset="-122"/>
                <a:cs typeface="Aptos" pitchFamily="34" charset="-120"/>
              </a:rPr>
              <a:t>Translate broad expectations such as professional, prompt and accurate into behaviours that students can practise, observe and improve.</a:t>
            </a:r>
            <a:endParaRPr lang="en-US" sz="1850" dirty="0"/>
          </a:p>
        </p:txBody>
      </p:sp>
      <p:sp>
        <p:nvSpPr>
          <p:cNvPr id="10" name="Text 7"/>
          <p:cNvSpPr/>
          <p:nvPr/>
        </p:nvSpPr>
        <p:spPr>
          <a:xfrm>
            <a:off x="530352" y="3291840"/>
            <a:ext cx="4315968" cy="219456"/>
          </a:xfrm>
          <a:prstGeom prst="rect">
            <a:avLst/>
          </a:prstGeom>
          <a:noFill/>
          <a:ln/>
        </p:spPr>
        <p:txBody>
          <a:bodyPr wrap="square" lIns="0" tIns="0" rIns="0" bIns="0" rtlCol="0" anchor="ctr"/>
          <a:lstStyle/>
          <a:p>
            <a:pPr indent="0" marL="0">
              <a:buNone/>
            </a:pPr>
            <a:r>
              <a:rPr lang="en-US" sz="1300" b="1" spc="110" kern="0" dirty="0">
                <a:solidFill>
                  <a:srgbClr val="D7A84B"/>
                </a:solidFill>
                <a:latin typeface="Aptos" pitchFamily="34" charset="0"/>
                <a:ea typeface="Aptos" pitchFamily="34" charset="-122"/>
                <a:cs typeface="Aptos" pitchFamily="34" charset="-120"/>
              </a:rPr>
              <a:t>NOTICE</a:t>
            </a:r>
            <a:endParaRPr lang="en-US" sz="1300" dirty="0"/>
          </a:p>
        </p:txBody>
      </p:sp>
      <p:sp>
        <p:nvSpPr>
          <p:cNvPr id="11" name="Shape 8"/>
          <p:cNvSpPr/>
          <p:nvPr/>
        </p:nvSpPr>
        <p:spPr>
          <a:xfrm>
            <a:off x="530352" y="3648456"/>
            <a:ext cx="118872" cy="118872"/>
          </a:xfrm>
          <a:prstGeom prst="ellipse">
            <a:avLst/>
          </a:prstGeom>
          <a:solidFill>
            <a:srgbClr val="D7A84B"/>
          </a:solidFill>
          <a:ln w="12700">
            <a:solidFill>
              <a:srgbClr val="D7A84B">
                <a:alpha val="0"/>
              </a:srgbClr>
            </a:solidFill>
            <a:prstDash val="solid"/>
          </a:ln>
        </p:spPr>
      </p:sp>
      <p:sp>
        <p:nvSpPr>
          <p:cNvPr id="12" name="Text 9"/>
          <p:cNvSpPr/>
          <p:nvPr/>
        </p:nvSpPr>
        <p:spPr>
          <a:xfrm>
            <a:off x="740664" y="35753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A standard must be visible in action</a:t>
            </a:r>
            <a:endParaRPr lang="en-US" sz="1600" dirty="0"/>
          </a:p>
        </p:txBody>
      </p:sp>
      <p:sp>
        <p:nvSpPr>
          <p:cNvPr id="13" name="Shape 10"/>
          <p:cNvSpPr/>
          <p:nvPr/>
        </p:nvSpPr>
        <p:spPr>
          <a:xfrm>
            <a:off x="530352" y="4105656"/>
            <a:ext cx="118872" cy="118872"/>
          </a:xfrm>
          <a:prstGeom prst="ellipse">
            <a:avLst/>
          </a:prstGeom>
          <a:solidFill>
            <a:srgbClr val="D7A84B"/>
          </a:solidFill>
          <a:ln w="12700">
            <a:solidFill>
              <a:srgbClr val="D7A84B">
                <a:alpha val="0"/>
              </a:srgbClr>
            </a:solidFill>
            <a:prstDash val="solid"/>
          </a:ln>
        </p:spPr>
      </p:sp>
      <p:sp>
        <p:nvSpPr>
          <p:cNvPr id="14" name="Text 11"/>
          <p:cNvSpPr/>
          <p:nvPr/>
        </p:nvSpPr>
        <p:spPr>
          <a:xfrm>
            <a:off x="740664" y="40325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Presentation communicates before staff speak</a:t>
            </a:r>
            <a:endParaRPr lang="en-US" sz="1600" dirty="0"/>
          </a:p>
        </p:txBody>
      </p:sp>
      <p:sp>
        <p:nvSpPr>
          <p:cNvPr id="15" name="Shape 12"/>
          <p:cNvSpPr/>
          <p:nvPr/>
        </p:nvSpPr>
        <p:spPr>
          <a:xfrm>
            <a:off x="530352" y="4562856"/>
            <a:ext cx="118872" cy="118872"/>
          </a:xfrm>
          <a:prstGeom prst="ellipse">
            <a:avLst/>
          </a:prstGeom>
          <a:solidFill>
            <a:srgbClr val="D7A84B"/>
          </a:solidFill>
          <a:ln w="12700">
            <a:solidFill>
              <a:srgbClr val="D7A84B">
                <a:alpha val="0"/>
              </a:srgbClr>
            </a:solidFill>
            <a:prstDash val="solid"/>
          </a:ln>
        </p:spPr>
      </p:sp>
      <p:sp>
        <p:nvSpPr>
          <p:cNvPr id="16" name="Text 13"/>
          <p:cNvSpPr/>
          <p:nvPr/>
        </p:nvSpPr>
        <p:spPr>
          <a:xfrm>
            <a:off x="740664" y="44897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Courtesy and personalisation without assumptions</a:t>
            </a:r>
            <a:endParaRPr lang="en-US" sz="1600" dirty="0"/>
          </a:p>
        </p:txBody>
      </p:sp>
      <p:sp>
        <p:nvSpPr>
          <p:cNvPr id="17" name="Shape 14"/>
          <p:cNvSpPr/>
          <p:nvPr/>
        </p:nvSpPr>
        <p:spPr>
          <a:xfrm>
            <a:off x="530352" y="5029200"/>
            <a:ext cx="4315968" cy="941832"/>
          </a:xfrm>
          <a:prstGeom prst="roundRect">
            <a:avLst>
              <a:gd name="adj" fmla="val 4854"/>
            </a:avLst>
          </a:prstGeom>
          <a:solidFill>
            <a:srgbClr val="0B4F4A"/>
          </a:solidFill>
          <a:ln w="12700">
            <a:solidFill>
              <a:srgbClr val="0B4F4A">
                <a:alpha val="0"/>
              </a:srgbClr>
            </a:solidFill>
            <a:prstDash val="solid"/>
          </a:ln>
        </p:spPr>
      </p:sp>
      <p:sp>
        <p:nvSpPr>
          <p:cNvPr id="18" name="Text 15"/>
          <p:cNvSpPr/>
          <p:nvPr/>
        </p:nvSpPr>
        <p:spPr>
          <a:xfrm>
            <a:off x="694944" y="5157216"/>
            <a:ext cx="658368" cy="182880"/>
          </a:xfrm>
          <a:prstGeom prst="rect">
            <a:avLst/>
          </a:prstGeom>
          <a:noFill/>
          <a:ln/>
        </p:spPr>
        <p:txBody>
          <a:bodyPr wrap="square" lIns="0" tIns="0" rIns="0" bIns="0" rtlCol="0" anchor="ctr"/>
          <a:lstStyle/>
          <a:p>
            <a:pPr indent="0" marL="0">
              <a:buNone/>
            </a:pPr>
            <a:r>
              <a:rPr lang="en-US" sz="1200" b="1" spc="80" kern="0" dirty="0">
                <a:solidFill>
                  <a:srgbClr val="F3DFB0"/>
                </a:solidFill>
                <a:latin typeface="Aptos" pitchFamily="34" charset="0"/>
                <a:ea typeface="Aptos" pitchFamily="34" charset="-122"/>
                <a:cs typeface="Aptos" pitchFamily="34" charset="-120"/>
              </a:rPr>
              <a:t>CHECK</a:t>
            </a:r>
            <a:endParaRPr lang="en-US" sz="1200" dirty="0"/>
          </a:p>
        </p:txBody>
      </p:sp>
      <p:sp>
        <p:nvSpPr>
          <p:cNvPr id="19" name="Text 16"/>
          <p:cNvSpPr/>
          <p:nvPr/>
        </p:nvSpPr>
        <p:spPr>
          <a:xfrm>
            <a:off x="1362456" y="5102352"/>
            <a:ext cx="3337560" cy="658368"/>
          </a:xfrm>
          <a:prstGeom prst="rect">
            <a:avLst/>
          </a:prstGeom>
          <a:noFill/>
          <a:ln/>
        </p:spPr>
        <p:txBody>
          <a:bodyPr wrap="square" lIns="0" tIns="0" rIns="0" bIns="0" rtlCol="0" anchor="ctr">
            <a:normAutofit/>
          </a:bodyPr>
          <a:lstStyle/>
          <a:p>
            <a:pPr indent="0" marL="0">
              <a:buNone/>
            </a:pPr>
            <a:r>
              <a:rPr lang="en-US" sz="1750" b="1" dirty="0">
                <a:solidFill>
                  <a:srgbClr val="FFFFFF"/>
                </a:solidFill>
                <a:latin typeface="Aptos" pitchFamily="34" charset="0"/>
                <a:ea typeface="Aptos" pitchFamily="34" charset="-122"/>
                <a:cs typeface="Aptos" pitchFamily="34" charset="-120"/>
              </a:rPr>
              <a:t>Which statement turns 'prompt service' into an observable standard?</a:t>
            </a:r>
            <a:endParaRPr lang="en-US" sz="1750" dirty="0"/>
          </a:p>
        </p:txBody>
      </p:sp>
      <p:sp>
        <p:nvSpPr>
          <p:cNvPr id="20" name="Shape 17"/>
          <p:cNvSpPr/>
          <p:nvPr/>
        </p:nvSpPr>
        <p:spPr>
          <a:xfrm>
            <a:off x="530352" y="6473952"/>
            <a:ext cx="11128248" cy="0"/>
          </a:xfrm>
          <a:prstGeom prst="line">
            <a:avLst/>
          </a:prstGeom>
          <a:noFill/>
          <a:ln w="15240">
            <a:solidFill>
              <a:srgbClr val="B8D9D3"/>
            </a:solidFill>
            <a:prstDash val="solid"/>
          </a:ln>
        </p:spPr>
      </p:sp>
      <p:sp>
        <p:nvSpPr>
          <p:cNvPr id="21" name="Text 18"/>
          <p:cNvSpPr/>
          <p:nvPr/>
        </p:nvSpPr>
        <p:spPr>
          <a:xfrm>
            <a:off x="566928" y="6528816"/>
            <a:ext cx="5303520" cy="164592"/>
          </a:xfrm>
          <a:prstGeom prst="rect">
            <a:avLst/>
          </a:prstGeom>
          <a:noFill/>
          <a:ln/>
        </p:spPr>
        <p:txBody>
          <a:bodyPr wrap="square" lIns="0" tIns="0" rIns="0" bIns="0" rtlCol="0" anchor="ctr"/>
          <a:lstStyle/>
          <a:p>
            <a:pPr indent="0" marL="0">
              <a:buNone/>
            </a:pPr>
            <a:r>
              <a:rPr lang="en-US" sz="1050" dirty="0">
                <a:solidFill>
                  <a:srgbClr val="53686C"/>
                </a:solidFill>
                <a:latin typeface="Aptos" pitchFamily="34" charset="0"/>
                <a:ea typeface="Aptos" pitchFamily="34" charset="-122"/>
                <a:cs typeface="Aptos" pitchFamily="34" charset="-120"/>
              </a:rPr>
              <a:t>SIT20322 Hospitality · Task 2</a:t>
            </a:r>
            <a:endParaRPr lang="en-US" sz="1050" dirty="0"/>
          </a:p>
        </p:txBody>
      </p:sp>
      <p:sp>
        <p:nvSpPr>
          <p:cNvPr id="22" name="Text 19"/>
          <p:cNvSpPr/>
          <p:nvPr/>
        </p:nvSpPr>
        <p:spPr>
          <a:xfrm>
            <a:off x="10881360" y="6528816"/>
            <a:ext cx="749808" cy="164592"/>
          </a:xfrm>
          <a:prstGeom prst="rect">
            <a:avLst/>
          </a:prstGeom>
          <a:noFill/>
          <a:ln/>
        </p:spPr>
        <p:txBody>
          <a:bodyPr wrap="square" lIns="0" tIns="0" rIns="0" bIns="0" rtlCol="0" anchor="ctr"/>
          <a:lstStyle/>
          <a:p>
            <a:pPr algn="r" indent="0" marL="0">
              <a:buNone/>
            </a:pPr>
            <a:r>
              <a:rPr lang="en-US" sz="1050" dirty="0">
                <a:solidFill>
                  <a:srgbClr val="53686C"/>
                </a:solidFill>
                <a:latin typeface="Aptos" pitchFamily="34" charset="0"/>
                <a:ea typeface="Aptos" pitchFamily="34" charset="-122"/>
                <a:cs typeface="Aptos" pitchFamily="34" charset="-120"/>
              </a:rPr>
              <a:t>3 / 10</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3E6"/>
        </a:solidFill>
      </p:bgPr>
    </p:bg>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0B4F4A"/>
          </a:solidFill>
          <a:ln w="12700">
            <a:solidFill>
              <a:srgbClr val="0B4F4A">
                <a:alpha val="0"/>
              </a:srgbClr>
            </a:solidFill>
            <a:prstDash val="solid"/>
          </a:ln>
        </p:spPr>
      </p:sp>
      <p:sp>
        <p:nvSpPr>
          <p:cNvPr id="3" name="Shape 1"/>
          <p:cNvSpPr/>
          <p:nvPr/>
        </p:nvSpPr>
        <p:spPr>
          <a:xfrm>
            <a:off x="0" y="0"/>
            <a:ext cx="164592" cy="1143000"/>
          </a:xfrm>
          <a:prstGeom prst="rect">
            <a:avLst/>
          </a:prstGeom>
          <a:solidFill>
            <a:srgbClr val="D7A84B"/>
          </a:solidFill>
          <a:ln w="12700">
            <a:solidFill>
              <a:srgbClr val="D7A84B">
                <a:alpha val="0"/>
              </a:srgbClr>
            </a:solidFill>
            <a:prstDash val="solid"/>
          </a:ln>
        </p:spPr>
      </p:sp>
      <p:sp>
        <p:nvSpPr>
          <p:cNvPr id="4" name="Text 2"/>
          <p:cNvSpPr/>
          <p:nvPr/>
        </p:nvSpPr>
        <p:spPr>
          <a:xfrm>
            <a:off x="438912" y="109728"/>
            <a:ext cx="2084832" cy="182880"/>
          </a:xfrm>
          <a:prstGeom prst="rect">
            <a:avLst/>
          </a:prstGeom>
          <a:noFill/>
          <a:ln/>
        </p:spPr>
        <p:txBody>
          <a:bodyPr wrap="square" lIns="0" tIns="0" rIns="0" bIns="0" rtlCol="0" anchor="ctr"/>
          <a:lstStyle/>
          <a:p>
            <a:pPr indent="0" marL="0">
              <a:buNone/>
            </a:pPr>
            <a:r>
              <a:rPr lang="en-US" sz="1150" b="1" spc="80" kern="0" dirty="0">
                <a:solidFill>
                  <a:srgbClr val="F3DFB0"/>
                </a:solidFill>
                <a:latin typeface="Aptos" pitchFamily="34" charset="0"/>
                <a:ea typeface="Aptos" pitchFamily="34" charset="-122"/>
                <a:cs typeface="Aptos" pitchFamily="34" charset="-120"/>
              </a:rPr>
              <a:t>TASK 2 · LESSON 03</a:t>
            </a:r>
            <a:endParaRPr lang="en-US" sz="1150" dirty="0"/>
          </a:p>
        </p:txBody>
      </p:sp>
      <p:sp>
        <p:nvSpPr>
          <p:cNvPr id="5" name="Text 3"/>
          <p:cNvSpPr/>
          <p:nvPr/>
        </p:nvSpPr>
        <p:spPr>
          <a:xfrm>
            <a:off x="429768" y="310896"/>
            <a:ext cx="11155680" cy="73152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Aptos Display" pitchFamily="34" charset="0"/>
                <a:ea typeface="Aptos Display" pitchFamily="34" charset="-122"/>
                <a:cs typeface="Aptos Display" pitchFamily="34" charset="-120"/>
              </a:rPr>
              <a:t>Know customer contexts without stereotyping people</a:t>
            </a:r>
            <a:endParaRPr lang="en-US" sz="2800" dirty="0"/>
          </a:p>
        </p:txBody>
      </p:sp>
      <p:sp>
        <p:nvSpPr>
          <p:cNvPr id="6" name="Shape 4"/>
          <p:cNvSpPr/>
          <p:nvPr/>
        </p:nvSpPr>
        <p:spPr>
          <a:xfrm>
            <a:off x="502920" y="1298448"/>
            <a:ext cx="6510528" cy="4901184"/>
          </a:xfrm>
          <a:prstGeom prst="roundRect">
            <a:avLst>
              <a:gd name="adj" fmla="val 1306"/>
            </a:avLst>
          </a:prstGeom>
          <a:solidFill>
            <a:srgbClr val="FFFDF8"/>
          </a:solidFill>
          <a:ln w="17780">
            <a:solidFill>
              <a:srgbClr val="B8D9D3"/>
            </a:solidFill>
            <a:prstDash val="solid"/>
          </a:ln>
        </p:spPr>
      </p:sp>
      <p:pic>
        <p:nvPicPr>
          <p:cNvPr id="7" name="customers-instructional-visual" descr="Customer contexts lead to neutral questions and confirmed individual needs rather than assumptions.">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12648" y="1914144"/>
            <a:ext cx="6291072" cy="3669792"/>
          </a:xfrm>
          <a:prstGeom prst="rect">
            <a:avLst/>
          </a:prstGeom>
        </p:spPr>
      </p:pic>
      <p:sp>
        <p:nvSpPr>
          <p:cNvPr id="8" name="Text 5"/>
          <p:cNvSpPr/>
          <p:nvPr/>
        </p:nvSpPr>
        <p:spPr>
          <a:xfrm>
            <a:off x="7342632" y="1353312"/>
            <a:ext cx="4315968" cy="219456"/>
          </a:xfrm>
          <a:prstGeom prst="rect">
            <a:avLst/>
          </a:prstGeom>
          <a:noFill/>
          <a:ln/>
        </p:spPr>
        <p:txBody>
          <a:bodyPr wrap="square" lIns="0" tIns="0" rIns="0" bIns="0" rtlCol="0" anchor="ctr"/>
          <a:lstStyle/>
          <a:p>
            <a:pPr indent="0" marL="0">
              <a:buNone/>
            </a:pPr>
            <a:r>
              <a:rPr lang="en-US" sz="1300" b="1" spc="110" kern="0" dirty="0">
                <a:solidFill>
                  <a:srgbClr val="D7A84B"/>
                </a:solidFill>
                <a:latin typeface="Aptos" pitchFamily="34" charset="0"/>
                <a:ea typeface="Aptos" pitchFamily="34" charset="-122"/>
                <a:cs typeface="Aptos" pitchFamily="34" charset="-120"/>
              </a:rPr>
              <a:t>PURPOSE</a:t>
            </a:r>
            <a:endParaRPr lang="en-US" sz="1300" dirty="0"/>
          </a:p>
        </p:txBody>
      </p:sp>
      <p:sp>
        <p:nvSpPr>
          <p:cNvPr id="9" name="Text 6"/>
          <p:cNvSpPr/>
          <p:nvPr/>
        </p:nvSpPr>
        <p:spPr>
          <a:xfrm>
            <a:off x="7342632" y="1627632"/>
            <a:ext cx="4315968" cy="1536192"/>
          </a:xfrm>
          <a:prstGeom prst="rect">
            <a:avLst/>
          </a:prstGeom>
          <a:noFill/>
          <a:ln/>
        </p:spPr>
        <p:txBody>
          <a:bodyPr wrap="square" lIns="0" tIns="0" rIns="0" bIns="0" rtlCol="0" anchor="t">
            <a:normAutofit/>
          </a:bodyPr>
          <a:lstStyle/>
          <a:p>
            <a:pPr indent="0" marL="0">
              <a:buNone/>
            </a:pPr>
            <a:r>
              <a:rPr lang="en-US" sz="1700" dirty="0">
                <a:solidFill>
                  <a:srgbClr val="17343A"/>
                </a:solidFill>
                <a:latin typeface="Aptos" pitchFamily="34" charset="0"/>
                <a:ea typeface="Aptos" pitchFamily="34" charset="-122"/>
                <a:cs typeface="Aptos" pitchFamily="34" charset="-120"/>
              </a:rPr>
              <a:t>Use customer categories and profiles as planning tools while still treating each individual customer as the authority on their own needs and preferences.</a:t>
            </a:r>
            <a:endParaRPr lang="en-US" sz="1700" dirty="0"/>
          </a:p>
        </p:txBody>
      </p:sp>
      <p:sp>
        <p:nvSpPr>
          <p:cNvPr id="10" name="Text 7"/>
          <p:cNvSpPr/>
          <p:nvPr/>
        </p:nvSpPr>
        <p:spPr>
          <a:xfrm>
            <a:off x="7342632" y="3291840"/>
            <a:ext cx="4315968" cy="219456"/>
          </a:xfrm>
          <a:prstGeom prst="rect">
            <a:avLst/>
          </a:prstGeom>
          <a:noFill/>
          <a:ln/>
        </p:spPr>
        <p:txBody>
          <a:bodyPr wrap="square" lIns="0" tIns="0" rIns="0" bIns="0" rtlCol="0" anchor="ctr"/>
          <a:lstStyle/>
          <a:p>
            <a:pPr indent="0" marL="0">
              <a:buNone/>
            </a:pPr>
            <a:r>
              <a:rPr lang="en-US" sz="1300" b="1" spc="110" kern="0" dirty="0">
                <a:solidFill>
                  <a:srgbClr val="D7A84B"/>
                </a:solidFill>
                <a:latin typeface="Aptos" pitchFamily="34" charset="0"/>
                <a:ea typeface="Aptos" pitchFamily="34" charset="-122"/>
                <a:cs typeface="Aptos" pitchFamily="34" charset="-120"/>
              </a:rPr>
              <a:t>NOTICE</a:t>
            </a:r>
            <a:endParaRPr lang="en-US" sz="1300" dirty="0"/>
          </a:p>
        </p:txBody>
      </p:sp>
      <p:sp>
        <p:nvSpPr>
          <p:cNvPr id="11" name="Shape 8"/>
          <p:cNvSpPr/>
          <p:nvPr/>
        </p:nvSpPr>
        <p:spPr>
          <a:xfrm>
            <a:off x="7342632" y="3648456"/>
            <a:ext cx="118872" cy="118872"/>
          </a:xfrm>
          <a:prstGeom prst="ellipse">
            <a:avLst/>
          </a:prstGeom>
          <a:solidFill>
            <a:srgbClr val="D7A84B"/>
          </a:solidFill>
          <a:ln w="12700">
            <a:solidFill>
              <a:srgbClr val="D7A84B">
                <a:alpha val="0"/>
              </a:srgbClr>
            </a:solidFill>
            <a:prstDash val="solid"/>
          </a:ln>
        </p:spPr>
      </p:sp>
      <p:sp>
        <p:nvSpPr>
          <p:cNvPr id="12" name="Text 9"/>
          <p:cNvSpPr/>
          <p:nvPr/>
        </p:nvSpPr>
        <p:spPr>
          <a:xfrm>
            <a:off x="7552944" y="35753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Customer categories describe context, not personality</a:t>
            </a:r>
            <a:endParaRPr lang="en-US" sz="1600" dirty="0"/>
          </a:p>
        </p:txBody>
      </p:sp>
      <p:sp>
        <p:nvSpPr>
          <p:cNvPr id="13" name="Shape 10"/>
          <p:cNvSpPr/>
          <p:nvPr/>
        </p:nvSpPr>
        <p:spPr>
          <a:xfrm>
            <a:off x="7342632" y="4105656"/>
            <a:ext cx="118872" cy="118872"/>
          </a:xfrm>
          <a:prstGeom prst="ellipse">
            <a:avLst/>
          </a:prstGeom>
          <a:solidFill>
            <a:srgbClr val="D7A84B"/>
          </a:solidFill>
          <a:ln w="12700">
            <a:solidFill>
              <a:srgbClr val="D7A84B">
                <a:alpha val="0"/>
              </a:srgbClr>
            </a:solidFill>
            <a:prstDash val="solid"/>
          </a:ln>
        </p:spPr>
      </p:sp>
      <p:sp>
        <p:nvSpPr>
          <p:cNvPr id="14" name="Text 11"/>
          <p:cNvSpPr/>
          <p:nvPr/>
        </p:nvSpPr>
        <p:spPr>
          <a:xfrm>
            <a:off x="7552944" y="40325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Six useful planning contexts</a:t>
            </a:r>
            <a:endParaRPr lang="en-US" sz="1600" dirty="0"/>
          </a:p>
        </p:txBody>
      </p:sp>
      <p:sp>
        <p:nvSpPr>
          <p:cNvPr id="15" name="Shape 12"/>
          <p:cNvSpPr/>
          <p:nvPr/>
        </p:nvSpPr>
        <p:spPr>
          <a:xfrm>
            <a:off x="7342632" y="4562856"/>
            <a:ext cx="118872" cy="118872"/>
          </a:xfrm>
          <a:prstGeom prst="ellipse">
            <a:avLst/>
          </a:prstGeom>
          <a:solidFill>
            <a:srgbClr val="D7A84B"/>
          </a:solidFill>
          <a:ln w="12700">
            <a:solidFill>
              <a:srgbClr val="D7A84B">
                <a:alpha val="0"/>
              </a:srgbClr>
            </a:solidFill>
            <a:prstDash val="solid"/>
          </a:ln>
        </p:spPr>
      </p:sp>
      <p:sp>
        <p:nvSpPr>
          <p:cNvPr id="16" name="Text 13"/>
          <p:cNvSpPr/>
          <p:nvPr/>
        </p:nvSpPr>
        <p:spPr>
          <a:xfrm>
            <a:off x="7552944" y="44897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What a customer profile can and cannot do</a:t>
            </a:r>
            <a:endParaRPr lang="en-US" sz="1600" dirty="0"/>
          </a:p>
        </p:txBody>
      </p:sp>
      <p:sp>
        <p:nvSpPr>
          <p:cNvPr id="17" name="Shape 14"/>
          <p:cNvSpPr/>
          <p:nvPr/>
        </p:nvSpPr>
        <p:spPr>
          <a:xfrm>
            <a:off x="7342632" y="5029200"/>
            <a:ext cx="4315968" cy="941832"/>
          </a:xfrm>
          <a:prstGeom prst="roundRect">
            <a:avLst>
              <a:gd name="adj" fmla="val 4854"/>
            </a:avLst>
          </a:prstGeom>
          <a:solidFill>
            <a:srgbClr val="0B4F4A"/>
          </a:solidFill>
          <a:ln w="12700">
            <a:solidFill>
              <a:srgbClr val="0B4F4A">
                <a:alpha val="0"/>
              </a:srgbClr>
            </a:solidFill>
            <a:prstDash val="solid"/>
          </a:ln>
        </p:spPr>
      </p:sp>
      <p:sp>
        <p:nvSpPr>
          <p:cNvPr id="18" name="Text 15"/>
          <p:cNvSpPr/>
          <p:nvPr/>
        </p:nvSpPr>
        <p:spPr>
          <a:xfrm>
            <a:off x="7507224" y="5157216"/>
            <a:ext cx="658368" cy="182880"/>
          </a:xfrm>
          <a:prstGeom prst="rect">
            <a:avLst/>
          </a:prstGeom>
          <a:noFill/>
          <a:ln/>
        </p:spPr>
        <p:txBody>
          <a:bodyPr wrap="square" lIns="0" tIns="0" rIns="0" bIns="0" rtlCol="0" anchor="ctr"/>
          <a:lstStyle/>
          <a:p>
            <a:pPr indent="0" marL="0">
              <a:buNone/>
            </a:pPr>
            <a:r>
              <a:rPr lang="en-US" sz="1200" b="1" spc="80" kern="0" dirty="0">
                <a:solidFill>
                  <a:srgbClr val="F3DFB0"/>
                </a:solidFill>
                <a:latin typeface="Aptos" pitchFamily="34" charset="0"/>
                <a:ea typeface="Aptos" pitchFamily="34" charset="-122"/>
                <a:cs typeface="Aptos" pitchFamily="34" charset="-120"/>
              </a:rPr>
              <a:t>CHECK</a:t>
            </a:r>
            <a:endParaRPr lang="en-US" sz="1200" dirty="0"/>
          </a:p>
        </p:txBody>
      </p:sp>
      <p:sp>
        <p:nvSpPr>
          <p:cNvPr id="19" name="Text 16"/>
          <p:cNvSpPr/>
          <p:nvPr/>
        </p:nvSpPr>
        <p:spPr>
          <a:xfrm>
            <a:off x="8174736" y="5102352"/>
            <a:ext cx="3337560" cy="658368"/>
          </a:xfrm>
          <a:prstGeom prst="rect">
            <a:avLst/>
          </a:prstGeom>
          <a:noFill/>
          <a:ln/>
        </p:spPr>
        <p:txBody>
          <a:bodyPr wrap="square" lIns="0" tIns="0" rIns="0" bIns="0" rtlCol="0" anchor="ctr">
            <a:normAutofit/>
          </a:bodyPr>
          <a:lstStyle/>
          <a:p>
            <a:pPr indent="0" marL="0">
              <a:buNone/>
            </a:pPr>
            <a:r>
              <a:rPr lang="en-US" sz="1750" b="1" dirty="0">
                <a:solidFill>
                  <a:srgbClr val="FFFFFF"/>
                </a:solidFill>
                <a:latin typeface="Aptos" pitchFamily="34" charset="0"/>
                <a:ea typeface="Aptos" pitchFamily="34" charset="-122"/>
                <a:cs typeface="Aptos" pitchFamily="34" charset="-120"/>
              </a:rPr>
              <a:t>What is the most appropriate use of a customer profile?</a:t>
            </a:r>
            <a:endParaRPr lang="en-US" sz="1750" dirty="0"/>
          </a:p>
        </p:txBody>
      </p:sp>
      <p:sp>
        <p:nvSpPr>
          <p:cNvPr id="20" name="Shape 17"/>
          <p:cNvSpPr/>
          <p:nvPr/>
        </p:nvSpPr>
        <p:spPr>
          <a:xfrm>
            <a:off x="530352" y="6473952"/>
            <a:ext cx="11128248" cy="0"/>
          </a:xfrm>
          <a:prstGeom prst="line">
            <a:avLst/>
          </a:prstGeom>
          <a:noFill/>
          <a:ln w="15240">
            <a:solidFill>
              <a:srgbClr val="B8D9D3"/>
            </a:solidFill>
            <a:prstDash val="solid"/>
          </a:ln>
        </p:spPr>
      </p:sp>
      <p:sp>
        <p:nvSpPr>
          <p:cNvPr id="21" name="Text 18"/>
          <p:cNvSpPr/>
          <p:nvPr/>
        </p:nvSpPr>
        <p:spPr>
          <a:xfrm>
            <a:off x="566928" y="6528816"/>
            <a:ext cx="5303520" cy="164592"/>
          </a:xfrm>
          <a:prstGeom prst="rect">
            <a:avLst/>
          </a:prstGeom>
          <a:noFill/>
          <a:ln/>
        </p:spPr>
        <p:txBody>
          <a:bodyPr wrap="square" lIns="0" tIns="0" rIns="0" bIns="0" rtlCol="0" anchor="ctr"/>
          <a:lstStyle/>
          <a:p>
            <a:pPr indent="0" marL="0">
              <a:buNone/>
            </a:pPr>
            <a:r>
              <a:rPr lang="en-US" sz="1050" dirty="0">
                <a:solidFill>
                  <a:srgbClr val="53686C"/>
                </a:solidFill>
                <a:latin typeface="Aptos" pitchFamily="34" charset="0"/>
                <a:ea typeface="Aptos" pitchFamily="34" charset="-122"/>
                <a:cs typeface="Aptos" pitchFamily="34" charset="-120"/>
              </a:rPr>
              <a:t>SIT20322 Hospitality · Task 2</a:t>
            </a:r>
            <a:endParaRPr lang="en-US" sz="1050" dirty="0"/>
          </a:p>
        </p:txBody>
      </p:sp>
      <p:sp>
        <p:nvSpPr>
          <p:cNvPr id="22" name="Text 19"/>
          <p:cNvSpPr/>
          <p:nvPr/>
        </p:nvSpPr>
        <p:spPr>
          <a:xfrm>
            <a:off x="10881360" y="6528816"/>
            <a:ext cx="749808" cy="164592"/>
          </a:xfrm>
          <a:prstGeom prst="rect">
            <a:avLst/>
          </a:prstGeom>
          <a:noFill/>
          <a:ln/>
        </p:spPr>
        <p:txBody>
          <a:bodyPr wrap="square" lIns="0" tIns="0" rIns="0" bIns="0" rtlCol="0" anchor="ctr"/>
          <a:lstStyle/>
          <a:p>
            <a:pPr algn="r" indent="0" marL="0">
              <a:buNone/>
            </a:pPr>
            <a:r>
              <a:rPr lang="en-US" sz="1050" dirty="0">
                <a:solidFill>
                  <a:srgbClr val="53686C"/>
                </a:solidFill>
                <a:latin typeface="Aptos" pitchFamily="34" charset="0"/>
                <a:ea typeface="Aptos" pitchFamily="34" charset="-122"/>
                <a:cs typeface="Aptos" pitchFamily="34" charset="-120"/>
              </a:rPr>
              <a:t>4 / 10</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3E6"/>
        </a:solidFill>
      </p:bgPr>
    </p:bg>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0B4F4A"/>
          </a:solidFill>
          <a:ln w="12700">
            <a:solidFill>
              <a:srgbClr val="0B4F4A">
                <a:alpha val="0"/>
              </a:srgbClr>
            </a:solidFill>
            <a:prstDash val="solid"/>
          </a:ln>
        </p:spPr>
      </p:sp>
      <p:sp>
        <p:nvSpPr>
          <p:cNvPr id="3" name="Shape 1"/>
          <p:cNvSpPr/>
          <p:nvPr/>
        </p:nvSpPr>
        <p:spPr>
          <a:xfrm>
            <a:off x="0" y="0"/>
            <a:ext cx="164592" cy="1143000"/>
          </a:xfrm>
          <a:prstGeom prst="rect">
            <a:avLst/>
          </a:prstGeom>
          <a:solidFill>
            <a:srgbClr val="D7A84B"/>
          </a:solidFill>
          <a:ln w="12700">
            <a:solidFill>
              <a:srgbClr val="D7A84B">
                <a:alpha val="0"/>
              </a:srgbClr>
            </a:solidFill>
            <a:prstDash val="solid"/>
          </a:ln>
        </p:spPr>
      </p:sp>
      <p:sp>
        <p:nvSpPr>
          <p:cNvPr id="4" name="Text 2"/>
          <p:cNvSpPr/>
          <p:nvPr/>
        </p:nvSpPr>
        <p:spPr>
          <a:xfrm>
            <a:off x="438912" y="109728"/>
            <a:ext cx="2084832" cy="182880"/>
          </a:xfrm>
          <a:prstGeom prst="rect">
            <a:avLst/>
          </a:prstGeom>
          <a:noFill/>
          <a:ln/>
        </p:spPr>
        <p:txBody>
          <a:bodyPr wrap="square" lIns="0" tIns="0" rIns="0" bIns="0" rtlCol="0" anchor="ctr"/>
          <a:lstStyle/>
          <a:p>
            <a:pPr indent="0" marL="0">
              <a:buNone/>
            </a:pPr>
            <a:r>
              <a:rPr lang="en-US" sz="1150" b="1" spc="80" kern="0" dirty="0">
                <a:solidFill>
                  <a:srgbClr val="F3DFB0"/>
                </a:solidFill>
                <a:latin typeface="Aptos" pitchFamily="34" charset="0"/>
                <a:ea typeface="Aptos" pitchFamily="34" charset="-122"/>
                <a:cs typeface="Aptos" pitchFamily="34" charset="-120"/>
              </a:rPr>
              <a:t>TASK 2 · LESSON 04</a:t>
            </a:r>
            <a:endParaRPr lang="en-US" sz="1150" dirty="0"/>
          </a:p>
        </p:txBody>
      </p:sp>
      <p:sp>
        <p:nvSpPr>
          <p:cNvPr id="5" name="Text 3"/>
          <p:cNvSpPr/>
          <p:nvPr/>
        </p:nvSpPr>
        <p:spPr>
          <a:xfrm>
            <a:off x="429768" y="310896"/>
            <a:ext cx="11155680" cy="731520"/>
          </a:xfrm>
          <a:prstGeom prst="rect">
            <a:avLst/>
          </a:prstGeom>
          <a:noFill/>
          <a:ln/>
        </p:spPr>
        <p:txBody>
          <a:bodyPr wrap="square" lIns="0" tIns="0" rIns="0" bIns="0" rtlCol="0" anchor="ctr">
            <a:normAutofit/>
          </a:bodyPr>
          <a:lstStyle/>
          <a:p>
            <a:pPr indent="0" marL="0">
              <a:buNone/>
            </a:pPr>
            <a:r>
              <a:rPr lang="en-US" sz="3500" b="1" dirty="0">
                <a:solidFill>
                  <a:srgbClr val="FFFFFF"/>
                </a:solidFill>
                <a:latin typeface="Aptos Display" pitchFamily="34" charset="0"/>
                <a:ea typeface="Aptos Display" pitchFamily="34" charset="-122"/>
                <a:cs typeface="Aptos Display" pitchFamily="34" charset="-120"/>
              </a:rPr>
              <a:t>Match needs and wants through questions</a:t>
            </a:r>
            <a:endParaRPr lang="en-US" sz="3500" dirty="0"/>
          </a:p>
        </p:txBody>
      </p:sp>
      <p:sp>
        <p:nvSpPr>
          <p:cNvPr id="6" name="Shape 4"/>
          <p:cNvSpPr/>
          <p:nvPr/>
        </p:nvSpPr>
        <p:spPr>
          <a:xfrm>
            <a:off x="5175504" y="1298448"/>
            <a:ext cx="6510528" cy="4901184"/>
          </a:xfrm>
          <a:prstGeom prst="roundRect">
            <a:avLst>
              <a:gd name="adj" fmla="val 1306"/>
            </a:avLst>
          </a:prstGeom>
          <a:solidFill>
            <a:srgbClr val="FFFDF8"/>
          </a:solidFill>
          <a:ln w="17780">
            <a:solidFill>
              <a:srgbClr val="B8D9D3"/>
            </a:solidFill>
            <a:prstDash val="solid"/>
          </a:ln>
        </p:spPr>
      </p:sp>
      <p:pic>
        <p:nvPicPr>
          <p:cNvPr id="7" name="needs-instructional-visual" descr="Six-step customer-needs funnel moves from an open request to a verified product or service match and confirm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285232" y="1914144"/>
            <a:ext cx="6291072" cy="3669792"/>
          </a:xfrm>
          <a:prstGeom prst="rect">
            <a:avLst/>
          </a:prstGeom>
        </p:spPr>
      </p:pic>
      <p:sp>
        <p:nvSpPr>
          <p:cNvPr id="8" name="Text 5"/>
          <p:cNvSpPr/>
          <p:nvPr/>
        </p:nvSpPr>
        <p:spPr>
          <a:xfrm>
            <a:off x="530352" y="1353312"/>
            <a:ext cx="4315968" cy="219456"/>
          </a:xfrm>
          <a:prstGeom prst="rect">
            <a:avLst/>
          </a:prstGeom>
          <a:noFill/>
          <a:ln/>
        </p:spPr>
        <p:txBody>
          <a:bodyPr wrap="square" lIns="0" tIns="0" rIns="0" bIns="0" rtlCol="0" anchor="ctr"/>
          <a:lstStyle/>
          <a:p>
            <a:pPr indent="0" marL="0">
              <a:buNone/>
            </a:pPr>
            <a:r>
              <a:rPr lang="en-US" sz="1300" b="1" spc="110" kern="0" dirty="0">
                <a:solidFill>
                  <a:srgbClr val="D7A84B"/>
                </a:solidFill>
                <a:latin typeface="Aptos" pitchFamily="34" charset="0"/>
                <a:ea typeface="Aptos" pitchFamily="34" charset="-122"/>
                <a:cs typeface="Aptos" pitchFamily="34" charset="-120"/>
              </a:rPr>
              <a:t>PURPOSE</a:t>
            </a:r>
            <a:endParaRPr lang="en-US" sz="1300" dirty="0"/>
          </a:p>
        </p:txBody>
      </p:sp>
      <p:sp>
        <p:nvSpPr>
          <p:cNvPr id="9" name="Text 6"/>
          <p:cNvSpPr/>
          <p:nvPr/>
        </p:nvSpPr>
        <p:spPr>
          <a:xfrm>
            <a:off x="530352" y="1627632"/>
            <a:ext cx="4315968" cy="1536192"/>
          </a:xfrm>
          <a:prstGeom prst="rect">
            <a:avLst/>
          </a:prstGeom>
          <a:noFill/>
          <a:ln/>
        </p:spPr>
        <p:txBody>
          <a:bodyPr wrap="square" lIns="0" tIns="0" rIns="0" bIns="0" rtlCol="0" anchor="t">
            <a:normAutofit/>
          </a:bodyPr>
          <a:lstStyle/>
          <a:p>
            <a:pPr indent="0" marL="0">
              <a:buNone/>
            </a:pPr>
            <a:r>
              <a:rPr lang="en-US" sz="1850" dirty="0">
                <a:solidFill>
                  <a:srgbClr val="17343A"/>
                </a:solidFill>
                <a:latin typeface="Aptos" pitchFamily="34" charset="0"/>
                <a:ea typeface="Aptos" pitchFamily="34" charset="-122"/>
                <a:cs typeface="Aptos" pitchFamily="34" charset="-120"/>
              </a:rPr>
              <a:t>Distinguish requirements from preferences and use a six-step, source-safe conversation to match an authorised product or service.</a:t>
            </a:r>
            <a:endParaRPr lang="en-US" sz="1850" dirty="0"/>
          </a:p>
        </p:txBody>
      </p:sp>
      <p:sp>
        <p:nvSpPr>
          <p:cNvPr id="10" name="Text 7"/>
          <p:cNvSpPr/>
          <p:nvPr/>
        </p:nvSpPr>
        <p:spPr>
          <a:xfrm>
            <a:off x="530352" y="3291840"/>
            <a:ext cx="4315968" cy="219456"/>
          </a:xfrm>
          <a:prstGeom prst="rect">
            <a:avLst/>
          </a:prstGeom>
          <a:noFill/>
          <a:ln/>
        </p:spPr>
        <p:txBody>
          <a:bodyPr wrap="square" lIns="0" tIns="0" rIns="0" bIns="0" rtlCol="0" anchor="ctr"/>
          <a:lstStyle/>
          <a:p>
            <a:pPr indent="0" marL="0">
              <a:buNone/>
            </a:pPr>
            <a:r>
              <a:rPr lang="en-US" sz="1300" b="1" spc="110" kern="0" dirty="0">
                <a:solidFill>
                  <a:srgbClr val="D7A84B"/>
                </a:solidFill>
                <a:latin typeface="Aptos" pitchFamily="34" charset="0"/>
                <a:ea typeface="Aptos" pitchFamily="34" charset="-122"/>
                <a:cs typeface="Aptos" pitchFamily="34" charset="-120"/>
              </a:rPr>
              <a:t>NOTICE</a:t>
            </a:r>
            <a:endParaRPr lang="en-US" sz="1300" dirty="0"/>
          </a:p>
        </p:txBody>
      </p:sp>
      <p:sp>
        <p:nvSpPr>
          <p:cNvPr id="11" name="Shape 8"/>
          <p:cNvSpPr/>
          <p:nvPr/>
        </p:nvSpPr>
        <p:spPr>
          <a:xfrm>
            <a:off x="530352" y="3648456"/>
            <a:ext cx="118872" cy="118872"/>
          </a:xfrm>
          <a:prstGeom prst="ellipse">
            <a:avLst/>
          </a:prstGeom>
          <a:solidFill>
            <a:srgbClr val="D7A84B"/>
          </a:solidFill>
          <a:ln w="12700">
            <a:solidFill>
              <a:srgbClr val="D7A84B">
                <a:alpha val="0"/>
              </a:srgbClr>
            </a:solidFill>
            <a:prstDash val="solid"/>
          </a:ln>
        </p:spPr>
      </p:sp>
      <p:sp>
        <p:nvSpPr>
          <p:cNvPr id="12" name="Text 9"/>
          <p:cNvSpPr/>
          <p:nvPr/>
        </p:nvSpPr>
        <p:spPr>
          <a:xfrm>
            <a:off x="740664" y="35753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Need, want and constraint</a:t>
            </a:r>
            <a:endParaRPr lang="en-US" sz="1600" dirty="0"/>
          </a:p>
        </p:txBody>
      </p:sp>
      <p:sp>
        <p:nvSpPr>
          <p:cNvPr id="13" name="Shape 10"/>
          <p:cNvSpPr/>
          <p:nvPr/>
        </p:nvSpPr>
        <p:spPr>
          <a:xfrm>
            <a:off x="530352" y="4105656"/>
            <a:ext cx="118872" cy="118872"/>
          </a:xfrm>
          <a:prstGeom prst="ellipse">
            <a:avLst/>
          </a:prstGeom>
          <a:solidFill>
            <a:srgbClr val="D7A84B"/>
          </a:solidFill>
          <a:ln w="12700">
            <a:solidFill>
              <a:srgbClr val="D7A84B">
                <a:alpha val="0"/>
              </a:srgbClr>
            </a:solidFill>
            <a:prstDash val="solid"/>
          </a:ln>
        </p:spPr>
      </p:sp>
      <p:sp>
        <p:nvSpPr>
          <p:cNvPr id="14" name="Text 11"/>
          <p:cNvSpPr/>
          <p:nvPr/>
        </p:nvSpPr>
        <p:spPr>
          <a:xfrm>
            <a:off x="740664" y="40325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A six-step matching conversation</a:t>
            </a:r>
            <a:endParaRPr lang="en-US" sz="1600" dirty="0"/>
          </a:p>
        </p:txBody>
      </p:sp>
      <p:sp>
        <p:nvSpPr>
          <p:cNvPr id="15" name="Shape 12"/>
          <p:cNvSpPr/>
          <p:nvPr/>
        </p:nvSpPr>
        <p:spPr>
          <a:xfrm>
            <a:off x="530352" y="4562856"/>
            <a:ext cx="118872" cy="118872"/>
          </a:xfrm>
          <a:prstGeom prst="ellipse">
            <a:avLst/>
          </a:prstGeom>
          <a:solidFill>
            <a:srgbClr val="D7A84B"/>
          </a:solidFill>
          <a:ln w="12700">
            <a:solidFill>
              <a:srgbClr val="D7A84B">
                <a:alpha val="0"/>
              </a:srgbClr>
            </a:solidFill>
            <a:prstDash val="solid"/>
          </a:ln>
        </p:spPr>
      </p:sp>
      <p:sp>
        <p:nvSpPr>
          <p:cNvPr id="16" name="Text 13"/>
          <p:cNvSpPr/>
          <p:nvPr/>
        </p:nvSpPr>
        <p:spPr>
          <a:xfrm>
            <a:off x="740664" y="44897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Open, focused and confirming questions</a:t>
            </a:r>
            <a:endParaRPr lang="en-US" sz="1600" dirty="0"/>
          </a:p>
        </p:txBody>
      </p:sp>
      <p:sp>
        <p:nvSpPr>
          <p:cNvPr id="17" name="Shape 14"/>
          <p:cNvSpPr/>
          <p:nvPr/>
        </p:nvSpPr>
        <p:spPr>
          <a:xfrm>
            <a:off x="530352" y="5029200"/>
            <a:ext cx="4315968" cy="1234440"/>
          </a:xfrm>
          <a:prstGeom prst="roundRect">
            <a:avLst>
              <a:gd name="adj" fmla="val 3704"/>
            </a:avLst>
          </a:prstGeom>
          <a:solidFill>
            <a:srgbClr val="0B4F4A"/>
          </a:solidFill>
          <a:ln w="12700">
            <a:solidFill>
              <a:srgbClr val="0B4F4A">
                <a:alpha val="0"/>
              </a:srgbClr>
            </a:solidFill>
            <a:prstDash val="solid"/>
          </a:ln>
        </p:spPr>
      </p:sp>
      <p:sp>
        <p:nvSpPr>
          <p:cNvPr id="18" name="Text 15"/>
          <p:cNvSpPr/>
          <p:nvPr/>
        </p:nvSpPr>
        <p:spPr>
          <a:xfrm>
            <a:off x="694944" y="5129784"/>
            <a:ext cx="3986784" cy="182880"/>
          </a:xfrm>
          <a:prstGeom prst="rect">
            <a:avLst/>
          </a:prstGeom>
          <a:noFill/>
          <a:ln/>
        </p:spPr>
        <p:txBody>
          <a:bodyPr wrap="square" lIns="0" tIns="0" rIns="0" bIns="0" rtlCol="0" anchor="ctr"/>
          <a:lstStyle/>
          <a:p>
            <a:pPr indent="0" marL="0">
              <a:buNone/>
            </a:pPr>
            <a:r>
              <a:rPr lang="en-US" sz="1200" b="1" spc="80" kern="0" dirty="0">
                <a:solidFill>
                  <a:srgbClr val="F3DFB0"/>
                </a:solidFill>
                <a:latin typeface="Aptos" pitchFamily="34" charset="0"/>
                <a:ea typeface="Aptos" pitchFamily="34" charset="-122"/>
                <a:cs typeface="Aptos" pitchFamily="34" charset="-120"/>
              </a:rPr>
              <a:t>CHECK</a:t>
            </a:r>
            <a:endParaRPr lang="en-US" sz="1200" dirty="0"/>
          </a:p>
        </p:txBody>
      </p:sp>
      <p:sp>
        <p:nvSpPr>
          <p:cNvPr id="19" name="Text 16"/>
          <p:cNvSpPr/>
          <p:nvPr/>
        </p:nvSpPr>
        <p:spPr>
          <a:xfrm>
            <a:off x="694944" y="5358384"/>
            <a:ext cx="3986784" cy="850392"/>
          </a:xfrm>
          <a:prstGeom prst="rect">
            <a:avLst/>
          </a:prstGeom>
          <a:noFill/>
          <a:ln/>
        </p:spPr>
        <p:txBody>
          <a:bodyPr wrap="square" lIns="0" tIns="0" rIns="0" bIns="0" rtlCol="0" anchor="ctr">
            <a:normAutofit/>
          </a:bodyPr>
          <a:lstStyle/>
          <a:p>
            <a:pPr indent="0" marL="0">
              <a:buNone/>
            </a:pPr>
            <a:r>
              <a:rPr lang="en-US" sz="1550" b="1" dirty="0">
                <a:solidFill>
                  <a:srgbClr val="FFFFFF"/>
                </a:solidFill>
                <a:latin typeface="Aptos" pitchFamily="34" charset="0"/>
                <a:ea typeface="Aptos" pitchFamily="34" charset="-122"/>
                <a:cs typeface="Aptos" pitchFamily="34" charset="-120"/>
              </a:rPr>
              <a:t>A customer says, 'I must leave in fifteen minutes, but I would prefer something warm.' Which statement is accurate?</a:t>
            </a:r>
            <a:endParaRPr lang="en-US" sz="1550" dirty="0"/>
          </a:p>
        </p:txBody>
      </p:sp>
      <p:sp>
        <p:nvSpPr>
          <p:cNvPr id="20" name="Shape 17"/>
          <p:cNvSpPr/>
          <p:nvPr/>
        </p:nvSpPr>
        <p:spPr>
          <a:xfrm>
            <a:off x="530352" y="6473952"/>
            <a:ext cx="11128248" cy="0"/>
          </a:xfrm>
          <a:prstGeom prst="line">
            <a:avLst/>
          </a:prstGeom>
          <a:noFill/>
          <a:ln w="15240">
            <a:solidFill>
              <a:srgbClr val="B8D9D3"/>
            </a:solidFill>
            <a:prstDash val="solid"/>
          </a:ln>
        </p:spPr>
      </p:sp>
      <p:sp>
        <p:nvSpPr>
          <p:cNvPr id="21" name="Text 18"/>
          <p:cNvSpPr/>
          <p:nvPr/>
        </p:nvSpPr>
        <p:spPr>
          <a:xfrm>
            <a:off x="566928" y="6528816"/>
            <a:ext cx="5303520" cy="164592"/>
          </a:xfrm>
          <a:prstGeom prst="rect">
            <a:avLst/>
          </a:prstGeom>
          <a:noFill/>
          <a:ln/>
        </p:spPr>
        <p:txBody>
          <a:bodyPr wrap="square" lIns="0" tIns="0" rIns="0" bIns="0" rtlCol="0" anchor="ctr"/>
          <a:lstStyle/>
          <a:p>
            <a:pPr indent="0" marL="0">
              <a:buNone/>
            </a:pPr>
            <a:r>
              <a:rPr lang="en-US" sz="1050" dirty="0">
                <a:solidFill>
                  <a:srgbClr val="53686C"/>
                </a:solidFill>
                <a:latin typeface="Aptos" pitchFamily="34" charset="0"/>
                <a:ea typeface="Aptos" pitchFamily="34" charset="-122"/>
                <a:cs typeface="Aptos" pitchFamily="34" charset="-120"/>
              </a:rPr>
              <a:t>SIT20322 Hospitality · Task 2</a:t>
            </a:r>
            <a:endParaRPr lang="en-US" sz="1050" dirty="0"/>
          </a:p>
        </p:txBody>
      </p:sp>
      <p:sp>
        <p:nvSpPr>
          <p:cNvPr id="22" name="Text 19"/>
          <p:cNvSpPr/>
          <p:nvPr/>
        </p:nvSpPr>
        <p:spPr>
          <a:xfrm>
            <a:off x="10881360" y="6528816"/>
            <a:ext cx="749808" cy="164592"/>
          </a:xfrm>
          <a:prstGeom prst="rect">
            <a:avLst/>
          </a:prstGeom>
          <a:noFill/>
          <a:ln/>
        </p:spPr>
        <p:txBody>
          <a:bodyPr wrap="square" lIns="0" tIns="0" rIns="0" bIns="0" rtlCol="0" anchor="ctr"/>
          <a:lstStyle/>
          <a:p>
            <a:pPr algn="r" indent="0" marL="0">
              <a:buNone/>
            </a:pPr>
            <a:r>
              <a:rPr lang="en-US" sz="1050" dirty="0">
                <a:solidFill>
                  <a:srgbClr val="53686C"/>
                </a:solidFill>
                <a:latin typeface="Aptos" pitchFamily="34" charset="0"/>
                <a:ea typeface="Aptos" pitchFamily="34" charset="-122"/>
                <a:cs typeface="Aptos" pitchFamily="34" charset="-120"/>
              </a:rPr>
              <a:t>5 / 10</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3E6"/>
        </a:solidFill>
      </p:bgPr>
    </p:bg>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0B4F4A"/>
          </a:solidFill>
          <a:ln w="12700">
            <a:solidFill>
              <a:srgbClr val="0B4F4A">
                <a:alpha val="0"/>
              </a:srgbClr>
            </a:solidFill>
            <a:prstDash val="solid"/>
          </a:ln>
        </p:spPr>
      </p:sp>
      <p:sp>
        <p:nvSpPr>
          <p:cNvPr id="3" name="Shape 1"/>
          <p:cNvSpPr/>
          <p:nvPr/>
        </p:nvSpPr>
        <p:spPr>
          <a:xfrm>
            <a:off x="0" y="0"/>
            <a:ext cx="164592" cy="1143000"/>
          </a:xfrm>
          <a:prstGeom prst="rect">
            <a:avLst/>
          </a:prstGeom>
          <a:solidFill>
            <a:srgbClr val="D7A84B"/>
          </a:solidFill>
          <a:ln w="12700">
            <a:solidFill>
              <a:srgbClr val="D7A84B">
                <a:alpha val="0"/>
              </a:srgbClr>
            </a:solidFill>
            <a:prstDash val="solid"/>
          </a:ln>
        </p:spPr>
      </p:sp>
      <p:sp>
        <p:nvSpPr>
          <p:cNvPr id="4" name="Text 2"/>
          <p:cNvSpPr/>
          <p:nvPr/>
        </p:nvSpPr>
        <p:spPr>
          <a:xfrm>
            <a:off x="438912" y="109728"/>
            <a:ext cx="2084832" cy="182880"/>
          </a:xfrm>
          <a:prstGeom prst="rect">
            <a:avLst/>
          </a:prstGeom>
          <a:noFill/>
          <a:ln/>
        </p:spPr>
        <p:txBody>
          <a:bodyPr wrap="square" lIns="0" tIns="0" rIns="0" bIns="0" rtlCol="0" anchor="ctr"/>
          <a:lstStyle/>
          <a:p>
            <a:pPr indent="0" marL="0">
              <a:buNone/>
            </a:pPr>
            <a:r>
              <a:rPr lang="en-US" sz="1150" b="1" spc="80" kern="0" dirty="0">
                <a:solidFill>
                  <a:srgbClr val="F3DFB0"/>
                </a:solidFill>
                <a:latin typeface="Aptos" pitchFamily="34" charset="0"/>
                <a:ea typeface="Aptos" pitchFamily="34" charset="-122"/>
                <a:cs typeface="Aptos" pitchFamily="34" charset="-120"/>
              </a:rPr>
              <a:t>TASK 2 · LESSON 05</a:t>
            </a:r>
            <a:endParaRPr lang="en-US" sz="1150" dirty="0"/>
          </a:p>
        </p:txBody>
      </p:sp>
      <p:sp>
        <p:nvSpPr>
          <p:cNvPr id="5" name="Text 3"/>
          <p:cNvSpPr/>
          <p:nvPr/>
        </p:nvSpPr>
        <p:spPr>
          <a:xfrm>
            <a:off x="429768" y="310896"/>
            <a:ext cx="11155680" cy="731520"/>
          </a:xfrm>
          <a:prstGeom prst="rect">
            <a:avLst/>
          </a:prstGeom>
          <a:noFill/>
          <a:ln/>
        </p:spPr>
        <p:txBody>
          <a:bodyPr wrap="square" lIns="0" tIns="0" rIns="0" bIns="0" rtlCol="0" anchor="ctr">
            <a:normAutofit/>
          </a:bodyPr>
          <a:lstStyle/>
          <a:p>
            <a:pPr indent="0" marL="0">
              <a:buNone/>
            </a:pPr>
            <a:r>
              <a:rPr lang="en-US" sz="3500" b="1" dirty="0">
                <a:solidFill>
                  <a:srgbClr val="FFFFFF"/>
                </a:solidFill>
                <a:latin typeface="Aptos Display" pitchFamily="34" charset="0"/>
                <a:ea typeface="Aptos Display" pitchFamily="34" charset="-122"/>
                <a:cs typeface="Aptos Display" pitchFamily="34" charset="-120"/>
              </a:rPr>
              <a:t>Explain and match products accurately</a:t>
            </a:r>
            <a:endParaRPr lang="en-US" sz="3500" dirty="0"/>
          </a:p>
        </p:txBody>
      </p:sp>
      <p:sp>
        <p:nvSpPr>
          <p:cNvPr id="6" name="Shape 4"/>
          <p:cNvSpPr/>
          <p:nvPr/>
        </p:nvSpPr>
        <p:spPr>
          <a:xfrm>
            <a:off x="502920" y="1298448"/>
            <a:ext cx="6510528" cy="4901184"/>
          </a:xfrm>
          <a:prstGeom prst="roundRect">
            <a:avLst>
              <a:gd name="adj" fmla="val 1306"/>
            </a:avLst>
          </a:prstGeom>
          <a:solidFill>
            <a:srgbClr val="FFFDF8"/>
          </a:solidFill>
          <a:ln w="17780">
            <a:solidFill>
              <a:srgbClr val="B8D9D3"/>
            </a:solidFill>
            <a:prstDash val="solid"/>
          </a:ln>
        </p:spPr>
      </p:sp>
      <p:pic>
        <p:nvPicPr>
          <p:cNvPr id="7" name="products-instructional-visual" descr="Two product options are compared using verified features, price, quality expectation and fit with a confirmed customer request.">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12648" y="1914144"/>
            <a:ext cx="6291072" cy="3669792"/>
          </a:xfrm>
          <a:prstGeom prst="rect">
            <a:avLst/>
          </a:prstGeom>
        </p:spPr>
      </p:pic>
      <p:sp>
        <p:nvSpPr>
          <p:cNvPr id="8" name="Text 5"/>
          <p:cNvSpPr/>
          <p:nvPr/>
        </p:nvSpPr>
        <p:spPr>
          <a:xfrm>
            <a:off x="7342632" y="1353312"/>
            <a:ext cx="4315968" cy="219456"/>
          </a:xfrm>
          <a:prstGeom prst="rect">
            <a:avLst/>
          </a:prstGeom>
          <a:noFill/>
          <a:ln/>
        </p:spPr>
        <p:txBody>
          <a:bodyPr wrap="square" lIns="0" tIns="0" rIns="0" bIns="0" rtlCol="0" anchor="ctr"/>
          <a:lstStyle/>
          <a:p>
            <a:pPr indent="0" marL="0">
              <a:buNone/>
            </a:pPr>
            <a:r>
              <a:rPr lang="en-US" sz="1300" b="1" spc="110" kern="0" dirty="0">
                <a:solidFill>
                  <a:srgbClr val="D7A84B"/>
                </a:solidFill>
                <a:latin typeface="Aptos" pitchFamily="34" charset="0"/>
                <a:ea typeface="Aptos" pitchFamily="34" charset="-122"/>
                <a:cs typeface="Aptos" pitchFamily="34" charset="-120"/>
              </a:rPr>
              <a:t>PURPOSE</a:t>
            </a:r>
            <a:endParaRPr lang="en-US" sz="1300" dirty="0"/>
          </a:p>
        </p:txBody>
      </p:sp>
      <p:sp>
        <p:nvSpPr>
          <p:cNvPr id="9" name="Text 6"/>
          <p:cNvSpPr/>
          <p:nvPr/>
        </p:nvSpPr>
        <p:spPr>
          <a:xfrm>
            <a:off x="7342632" y="1627632"/>
            <a:ext cx="4315968" cy="1536192"/>
          </a:xfrm>
          <a:prstGeom prst="rect">
            <a:avLst/>
          </a:prstGeom>
          <a:noFill/>
          <a:ln/>
        </p:spPr>
        <p:txBody>
          <a:bodyPr wrap="square" lIns="0" tIns="0" rIns="0" bIns="0" rtlCol="0" anchor="t">
            <a:normAutofit/>
          </a:bodyPr>
          <a:lstStyle/>
          <a:p>
            <a:pPr indent="0" marL="0">
              <a:buNone/>
            </a:pPr>
            <a:r>
              <a:rPr lang="en-US" sz="1700" dirty="0">
                <a:solidFill>
                  <a:srgbClr val="17343A"/>
                </a:solidFill>
                <a:latin typeface="Aptos" pitchFamily="34" charset="0"/>
                <a:ea typeface="Aptos" pitchFamily="34" charset="-122"/>
                <a:cs typeface="Aptos" pitchFamily="34" charset="-120"/>
              </a:rPr>
              <a:t>Develop the product knowledge, value language and verification habits needed to recommend hospitality products without pressure or unsupported claims.</a:t>
            </a:r>
            <a:endParaRPr lang="en-US" sz="1700" dirty="0"/>
          </a:p>
        </p:txBody>
      </p:sp>
      <p:sp>
        <p:nvSpPr>
          <p:cNvPr id="10" name="Text 7"/>
          <p:cNvSpPr/>
          <p:nvPr/>
        </p:nvSpPr>
        <p:spPr>
          <a:xfrm>
            <a:off x="7342632" y="3291840"/>
            <a:ext cx="4315968" cy="219456"/>
          </a:xfrm>
          <a:prstGeom prst="rect">
            <a:avLst/>
          </a:prstGeom>
          <a:noFill/>
          <a:ln/>
        </p:spPr>
        <p:txBody>
          <a:bodyPr wrap="square" lIns="0" tIns="0" rIns="0" bIns="0" rtlCol="0" anchor="ctr"/>
          <a:lstStyle/>
          <a:p>
            <a:pPr indent="0" marL="0">
              <a:buNone/>
            </a:pPr>
            <a:r>
              <a:rPr lang="en-US" sz="1300" b="1" spc="110" kern="0" dirty="0">
                <a:solidFill>
                  <a:srgbClr val="D7A84B"/>
                </a:solidFill>
                <a:latin typeface="Aptos" pitchFamily="34" charset="0"/>
                <a:ea typeface="Aptos" pitchFamily="34" charset="-122"/>
                <a:cs typeface="Aptos" pitchFamily="34" charset="-120"/>
              </a:rPr>
              <a:t>NOTICE</a:t>
            </a:r>
            <a:endParaRPr lang="en-US" sz="1300" dirty="0"/>
          </a:p>
        </p:txBody>
      </p:sp>
      <p:sp>
        <p:nvSpPr>
          <p:cNvPr id="11" name="Shape 8"/>
          <p:cNvSpPr/>
          <p:nvPr/>
        </p:nvSpPr>
        <p:spPr>
          <a:xfrm>
            <a:off x="7342632" y="3648456"/>
            <a:ext cx="118872" cy="118872"/>
          </a:xfrm>
          <a:prstGeom prst="ellipse">
            <a:avLst/>
          </a:prstGeom>
          <a:solidFill>
            <a:srgbClr val="D7A84B"/>
          </a:solidFill>
          <a:ln w="12700">
            <a:solidFill>
              <a:srgbClr val="D7A84B">
                <a:alpha val="0"/>
              </a:srgbClr>
            </a:solidFill>
            <a:prstDash val="solid"/>
          </a:ln>
        </p:spPr>
      </p:sp>
      <p:sp>
        <p:nvSpPr>
          <p:cNvPr id="12" name="Text 9"/>
          <p:cNvSpPr/>
          <p:nvPr/>
        </p:nvSpPr>
        <p:spPr>
          <a:xfrm>
            <a:off x="7552944" y="35753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Product knowledge begins with an authorised source</a:t>
            </a:r>
            <a:endParaRPr lang="en-US" sz="1600" dirty="0"/>
          </a:p>
        </p:txBody>
      </p:sp>
      <p:sp>
        <p:nvSpPr>
          <p:cNvPr id="13" name="Shape 10"/>
          <p:cNvSpPr/>
          <p:nvPr/>
        </p:nvSpPr>
        <p:spPr>
          <a:xfrm>
            <a:off x="7342632" y="4105656"/>
            <a:ext cx="118872" cy="118872"/>
          </a:xfrm>
          <a:prstGeom prst="ellipse">
            <a:avLst/>
          </a:prstGeom>
          <a:solidFill>
            <a:srgbClr val="D7A84B"/>
          </a:solidFill>
          <a:ln w="12700">
            <a:solidFill>
              <a:srgbClr val="D7A84B">
                <a:alpha val="0"/>
              </a:srgbClr>
            </a:solidFill>
            <a:prstDash val="solid"/>
          </a:ln>
        </p:spPr>
      </p:sp>
      <p:sp>
        <p:nvSpPr>
          <p:cNvPr id="14" name="Text 11"/>
          <p:cNvSpPr/>
          <p:nvPr/>
        </p:nvSpPr>
        <p:spPr>
          <a:xfrm>
            <a:off x="7552944" y="40325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Price, quality and value are connected but different</a:t>
            </a:r>
            <a:endParaRPr lang="en-US" sz="1600" dirty="0"/>
          </a:p>
        </p:txBody>
      </p:sp>
      <p:sp>
        <p:nvSpPr>
          <p:cNvPr id="15" name="Shape 12"/>
          <p:cNvSpPr/>
          <p:nvPr/>
        </p:nvSpPr>
        <p:spPr>
          <a:xfrm>
            <a:off x="7342632" y="4562856"/>
            <a:ext cx="118872" cy="118872"/>
          </a:xfrm>
          <a:prstGeom prst="ellipse">
            <a:avLst/>
          </a:prstGeom>
          <a:solidFill>
            <a:srgbClr val="D7A84B"/>
          </a:solidFill>
          <a:ln w="12700">
            <a:solidFill>
              <a:srgbClr val="D7A84B">
                <a:alpha val="0"/>
              </a:srgbClr>
            </a:solidFill>
            <a:prstDash val="solid"/>
          </a:ln>
        </p:spPr>
      </p:sp>
      <p:sp>
        <p:nvSpPr>
          <p:cNvPr id="16" name="Text 13"/>
          <p:cNvSpPr/>
          <p:nvPr/>
        </p:nvSpPr>
        <p:spPr>
          <a:xfrm>
            <a:off x="7552944" y="44897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Connect a feature to the customer's request</a:t>
            </a:r>
            <a:endParaRPr lang="en-US" sz="1600" dirty="0"/>
          </a:p>
        </p:txBody>
      </p:sp>
      <p:sp>
        <p:nvSpPr>
          <p:cNvPr id="17" name="Shape 14"/>
          <p:cNvSpPr/>
          <p:nvPr/>
        </p:nvSpPr>
        <p:spPr>
          <a:xfrm>
            <a:off x="7342632" y="5029200"/>
            <a:ext cx="4315968" cy="941832"/>
          </a:xfrm>
          <a:prstGeom prst="roundRect">
            <a:avLst>
              <a:gd name="adj" fmla="val 4854"/>
            </a:avLst>
          </a:prstGeom>
          <a:solidFill>
            <a:srgbClr val="0B4F4A"/>
          </a:solidFill>
          <a:ln w="12700">
            <a:solidFill>
              <a:srgbClr val="0B4F4A">
                <a:alpha val="0"/>
              </a:srgbClr>
            </a:solidFill>
            <a:prstDash val="solid"/>
          </a:ln>
        </p:spPr>
      </p:sp>
      <p:sp>
        <p:nvSpPr>
          <p:cNvPr id="18" name="Text 15"/>
          <p:cNvSpPr/>
          <p:nvPr/>
        </p:nvSpPr>
        <p:spPr>
          <a:xfrm>
            <a:off x="7507224" y="5157216"/>
            <a:ext cx="658368" cy="182880"/>
          </a:xfrm>
          <a:prstGeom prst="rect">
            <a:avLst/>
          </a:prstGeom>
          <a:noFill/>
          <a:ln/>
        </p:spPr>
        <p:txBody>
          <a:bodyPr wrap="square" lIns="0" tIns="0" rIns="0" bIns="0" rtlCol="0" anchor="ctr"/>
          <a:lstStyle/>
          <a:p>
            <a:pPr indent="0" marL="0">
              <a:buNone/>
            </a:pPr>
            <a:r>
              <a:rPr lang="en-US" sz="1200" b="1" spc="80" kern="0" dirty="0">
                <a:solidFill>
                  <a:srgbClr val="F3DFB0"/>
                </a:solidFill>
                <a:latin typeface="Aptos" pitchFamily="34" charset="0"/>
                <a:ea typeface="Aptos" pitchFamily="34" charset="-122"/>
                <a:cs typeface="Aptos" pitchFamily="34" charset="-120"/>
              </a:rPr>
              <a:t>CHECK</a:t>
            </a:r>
            <a:endParaRPr lang="en-US" sz="1200" dirty="0"/>
          </a:p>
        </p:txBody>
      </p:sp>
      <p:sp>
        <p:nvSpPr>
          <p:cNvPr id="19" name="Text 16"/>
          <p:cNvSpPr/>
          <p:nvPr/>
        </p:nvSpPr>
        <p:spPr>
          <a:xfrm>
            <a:off x="8174736" y="5102352"/>
            <a:ext cx="3337560" cy="658368"/>
          </a:xfrm>
          <a:prstGeom prst="rect">
            <a:avLst/>
          </a:prstGeom>
          <a:noFill/>
          <a:ln/>
        </p:spPr>
        <p:txBody>
          <a:bodyPr wrap="square" lIns="0" tIns="0" rIns="0" bIns="0" rtlCol="0" anchor="ctr">
            <a:normAutofit/>
          </a:bodyPr>
          <a:lstStyle/>
          <a:p>
            <a:pPr indent="0" marL="0">
              <a:buNone/>
            </a:pPr>
            <a:r>
              <a:rPr lang="en-US" sz="1750" b="1" dirty="0">
                <a:solidFill>
                  <a:srgbClr val="FFFFFF"/>
                </a:solidFill>
                <a:latin typeface="Aptos" pitchFamily="34" charset="0"/>
                <a:ea typeface="Aptos" pitchFamily="34" charset="-122"/>
                <a:cs typeface="Aptos" pitchFamily="34" charset="-120"/>
              </a:rPr>
              <a:t>Which source is strongest for explaining what is available right now?</a:t>
            </a:r>
            <a:endParaRPr lang="en-US" sz="1750" dirty="0"/>
          </a:p>
        </p:txBody>
      </p:sp>
      <p:sp>
        <p:nvSpPr>
          <p:cNvPr id="20" name="Shape 17"/>
          <p:cNvSpPr/>
          <p:nvPr/>
        </p:nvSpPr>
        <p:spPr>
          <a:xfrm>
            <a:off x="530352" y="6473952"/>
            <a:ext cx="11128248" cy="0"/>
          </a:xfrm>
          <a:prstGeom prst="line">
            <a:avLst/>
          </a:prstGeom>
          <a:noFill/>
          <a:ln w="15240">
            <a:solidFill>
              <a:srgbClr val="B8D9D3"/>
            </a:solidFill>
            <a:prstDash val="solid"/>
          </a:ln>
        </p:spPr>
      </p:sp>
      <p:sp>
        <p:nvSpPr>
          <p:cNvPr id="21" name="Text 18"/>
          <p:cNvSpPr/>
          <p:nvPr/>
        </p:nvSpPr>
        <p:spPr>
          <a:xfrm>
            <a:off x="566928" y="6528816"/>
            <a:ext cx="5303520" cy="164592"/>
          </a:xfrm>
          <a:prstGeom prst="rect">
            <a:avLst/>
          </a:prstGeom>
          <a:noFill/>
          <a:ln/>
        </p:spPr>
        <p:txBody>
          <a:bodyPr wrap="square" lIns="0" tIns="0" rIns="0" bIns="0" rtlCol="0" anchor="ctr"/>
          <a:lstStyle/>
          <a:p>
            <a:pPr indent="0" marL="0">
              <a:buNone/>
            </a:pPr>
            <a:r>
              <a:rPr lang="en-US" sz="1050" dirty="0">
                <a:solidFill>
                  <a:srgbClr val="53686C"/>
                </a:solidFill>
                <a:latin typeface="Aptos" pitchFamily="34" charset="0"/>
                <a:ea typeface="Aptos" pitchFamily="34" charset="-122"/>
                <a:cs typeface="Aptos" pitchFamily="34" charset="-120"/>
              </a:rPr>
              <a:t>SIT20322 Hospitality · Task 2</a:t>
            </a:r>
            <a:endParaRPr lang="en-US" sz="1050" dirty="0"/>
          </a:p>
        </p:txBody>
      </p:sp>
      <p:sp>
        <p:nvSpPr>
          <p:cNvPr id="22" name="Text 19"/>
          <p:cNvSpPr/>
          <p:nvPr/>
        </p:nvSpPr>
        <p:spPr>
          <a:xfrm>
            <a:off x="10881360" y="6528816"/>
            <a:ext cx="749808" cy="164592"/>
          </a:xfrm>
          <a:prstGeom prst="rect">
            <a:avLst/>
          </a:prstGeom>
          <a:noFill/>
          <a:ln/>
        </p:spPr>
        <p:txBody>
          <a:bodyPr wrap="square" lIns="0" tIns="0" rIns="0" bIns="0" rtlCol="0" anchor="ctr"/>
          <a:lstStyle/>
          <a:p>
            <a:pPr algn="r" indent="0" marL="0">
              <a:buNone/>
            </a:pPr>
            <a:r>
              <a:rPr lang="en-US" sz="1050" dirty="0">
                <a:solidFill>
                  <a:srgbClr val="53686C"/>
                </a:solidFill>
                <a:latin typeface="Aptos" pitchFamily="34" charset="0"/>
                <a:ea typeface="Aptos" pitchFamily="34" charset="-122"/>
                <a:cs typeface="Aptos" pitchFamily="34" charset="-120"/>
              </a:rPr>
              <a:t>6 / 10</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3E6"/>
        </a:solidFill>
      </p:bgPr>
    </p:bg>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0B4F4A"/>
          </a:solidFill>
          <a:ln w="12700">
            <a:solidFill>
              <a:srgbClr val="0B4F4A">
                <a:alpha val="0"/>
              </a:srgbClr>
            </a:solidFill>
            <a:prstDash val="solid"/>
          </a:ln>
        </p:spPr>
      </p:sp>
      <p:sp>
        <p:nvSpPr>
          <p:cNvPr id="3" name="Shape 1"/>
          <p:cNvSpPr/>
          <p:nvPr/>
        </p:nvSpPr>
        <p:spPr>
          <a:xfrm>
            <a:off x="0" y="0"/>
            <a:ext cx="164592" cy="1143000"/>
          </a:xfrm>
          <a:prstGeom prst="rect">
            <a:avLst/>
          </a:prstGeom>
          <a:solidFill>
            <a:srgbClr val="D7A84B"/>
          </a:solidFill>
          <a:ln w="12700">
            <a:solidFill>
              <a:srgbClr val="D7A84B">
                <a:alpha val="0"/>
              </a:srgbClr>
            </a:solidFill>
            <a:prstDash val="solid"/>
          </a:ln>
        </p:spPr>
      </p:sp>
      <p:sp>
        <p:nvSpPr>
          <p:cNvPr id="4" name="Text 2"/>
          <p:cNvSpPr/>
          <p:nvPr/>
        </p:nvSpPr>
        <p:spPr>
          <a:xfrm>
            <a:off x="438912" y="109728"/>
            <a:ext cx="2084832" cy="182880"/>
          </a:xfrm>
          <a:prstGeom prst="rect">
            <a:avLst/>
          </a:prstGeom>
          <a:noFill/>
          <a:ln/>
        </p:spPr>
        <p:txBody>
          <a:bodyPr wrap="square" lIns="0" tIns="0" rIns="0" bIns="0" rtlCol="0" anchor="ctr"/>
          <a:lstStyle/>
          <a:p>
            <a:pPr indent="0" marL="0">
              <a:buNone/>
            </a:pPr>
            <a:r>
              <a:rPr lang="en-US" sz="1150" b="1" spc="80" kern="0" dirty="0">
                <a:solidFill>
                  <a:srgbClr val="F3DFB0"/>
                </a:solidFill>
                <a:latin typeface="Aptos" pitchFamily="34" charset="0"/>
                <a:ea typeface="Aptos" pitchFamily="34" charset="-122"/>
                <a:cs typeface="Aptos" pitchFamily="34" charset="-120"/>
              </a:rPr>
              <a:t>TASK 2 · LESSON 06</a:t>
            </a:r>
            <a:endParaRPr lang="en-US" sz="1150" dirty="0"/>
          </a:p>
        </p:txBody>
      </p:sp>
      <p:sp>
        <p:nvSpPr>
          <p:cNvPr id="5" name="Text 3"/>
          <p:cNvSpPr/>
          <p:nvPr/>
        </p:nvSpPr>
        <p:spPr>
          <a:xfrm>
            <a:off x="429768" y="310896"/>
            <a:ext cx="11155680" cy="731520"/>
          </a:xfrm>
          <a:prstGeom prst="rect">
            <a:avLst/>
          </a:prstGeom>
          <a:noFill/>
          <a:ln/>
        </p:spPr>
        <p:txBody>
          <a:bodyPr wrap="square" lIns="0" tIns="0" rIns="0" bIns="0" rtlCol="0" anchor="ctr">
            <a:normAutofit/>
          </a:bodyPr>
          <a:lstStyle/>
          <a:p>
            <a:pPr indent="0" marL="0">
              <a:buNone/>
            </a:pPr>
            <a:r>
              <a:rPr lang="en-US" sz="2400" b="1" dirty="0">
                <a:solidFill>
                  <a:srgbClr val="FFFFFF"/>
                </a:solidFill>
                <a:latin typeface="Aptos Display" pitchFamily="34" charset="0"/>
                <a:ea typeface="Aptos Display" pitchFamily="34" charset="-122"/>
                <a:cs typeface="Aptos Display" pitchFamily="34" charset="-120"/>
              </a:rPr>
              <a:t>Take bookings and orders with a closed communication loop</a:t>
            </a:r>
            <a:endParaRPr lang="en-US" sz="2400" dirty="0"/>
          </a:p>
        </p:txBody>
      </p:sp>
      <p:sp>
        <p:nvSpPr>
          <p:cNvPr id="6" name="Shape 4"/>
          <p:cNvSpPr/>
          <p:nvPr/>
        </p:nvSpPr>
        <p:spPr>
          <a:xfrm>
            <a:off x="5175504" y="1298448"/>
            <a:ext cx="6510528" cy="4901184"/>
          </a:xfrm>
          <a:prstGeom prst="roundRect">
            <a:avLst>
              <a:gd name="adj" fmla="val 1306"/>
            </a:avLst>
          </a:prstGeom>
          <a:solidFill>
            <a:srgbClr val="FFFDF8"/>
          </a:solidFill>
          <a:ln w="17780">
            <a:solidFill>
              <a:srgbClr val="B8D9D3"/>
            </a:solidFill>
            <a:prstDash val="solid"/>
          </a:ln>
        </p:spPr>
      </p:sp>
      <p:pic>
        <p:nvPicPr>
          <p:cNvPr id="7" name="orders-instructional-visual" descr="Booking and order workflows show listening, recording, clarification, repeat-back, internal handover and correction of uncertainty.">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285232" y="1914144"/>
            <a:ext cx="6291072" cy="3669792"/>
          </a:xfrm>
          <a:prstGeom prst="rect">
            <a:avLst/>
          </a:prstGeom>
        </p:spPr>
      </p:pic>
      <p:sp>
        <p:nvSpPr>
          <p:cNvPr id="8" name="Text 5"/>
          <p:cNvSpPr/>
          <p:nvPr/>
        </p:nvSpPr>
        <p:spPr>
          <a:xfrm>
            <a:off x="530352" y="1353312"/>
            <a:ext cx="4315968" cy="219456"/>
          </a:xfrm>
          <a:prstGeom prst="rect">
            <a:avLst/>
          </a:prstGeom>
          <a:noFill/>
          <a:ln/>
        </p:spPr>
        <p:txBody>
          <a:bodyPr wrap="square" lIns="0" tIns="0" rIns="0" bIns="0" rtlCol="0" anchor="ctr"/>
          <a:lstStyle/>
          <a:p>
            <a:pPr indent="0" marL="0">
              <a:buNone/>
            </a:pPr>
            <a:r>
              <a:rPr lang="en-US" sz="1300" b="1" spc="110" kern="0" dirty="0">
                <a:solidFill>
                  <a:srgbClr val="D7A84B"/>
                </a:solidFill>
                <a:latin typeface="Aptos" pitchFamily="34" charset="0"/>
                <a:ea typeface="Aptos" pitchFamily="34" charset="-122"/>
                <a:cs typeface="Aptos" pitchFamily="34" charset="-120"/>
              </a:rPr>
              <a:t>PURPOSE</a:t>
            </a:r>
            <a:endParaRPr lang="en-US" sz="1300" dirty="0"/>
          </a:p>
        </p:txBody>
      </p:sp>
      <p:sp>
        <p:nvSpPr>
          <p:cNvPr id="9" name="Text 6"/>
          <p:cNvSpPr/>
          <p:nvPr/>
        </p:nvSpPr>
        <p:spPr>
          <a:xfrm>
            <a:off x="530352" y="1627632"/>
            <a:ext cx="4315968" cy="1536192"/>
          </a:xfrm>
          <a:prstGeom prst="rect">
            <a:avLst/>
          </a:prstGeom>
          <a:noFill/>
          <a:ln/>
        </p:spPr>
        <p:txBody>
          <a:bodyPr wrap="square" lIns="0" tIns="0" rIns="0" bIns="0" rtlCol="0" anchor="t">
            <a:normAutofit/>
          </a:bodyPr>
          <a:lstStyle/>
          <a:p>
            <a:pPr indent="0" marL="0">
              <a:buNone/>
            </a:pPr>
            <a:r>
              <a:rPr lang="en-US" sz="1850" dirty="0">
                <a:solidFill>
                  <a:srgbClr val="17343A"/>
                </a:solidFill>
                <a:latin typeface="Aptos" pitchFamily="34" charset="0"/>
                <a:ea typeface="Aptos" pitchFamily="34" charset="-122"/>
                <a:cs typeface="Aptos" pitchFamily="34" charset="-120"/>
              </a:rPr>
              <a:t>Collect, record, repeat and hand over the details needed for accurate bookings and food or beverage orders while protecting personal information.</a:t>
            </a:r>
            <a:endParaRPr lang="en-US" sz="1850" dirty="0"/>
          </a:p>
        </p:txBody>
      </p:sp>
      <p:sp>
        <p:nvSpPr>
          <p:cNvPr id="10" name="Text 7"/>
          <p:cNvSpPr/>
          <p:nvPr/>
        </p:nvSpPr>
        <p:spPr>
          <a:xfrm>
            <a:off x="530352" y="3291840"/>
            <a:ext cx="4315968" cy="219456"/>
          </a:xfrm>
          <a:prstGeom prst="rect">
            <a:avLst/>
          </a:prstGeom>
          <a:noFill/>
          <a:ln/>
        </p:spPr>
        <p:txBody>
          <a:bodyPr wrap="square" lIns="0" tIns="0" rIns="0" bIns="0" rtlCol="0" anchor="ctr"/>
          <a:lstStyle/>
          <a:p>
            <a:pPr indent="0" marL="0">
              <a:buNone/>
            </a:pPr>
            <a:r>
              <a:rPr lang="en-US" sz="1300" b="1" spc="110" kern="0" dirty="0">
                <a:solidFill>
                  <a:srgbClr val="D7A84B"/>
                </a:solidFill>
                <a:latin typeface="Aptos" pitchFamily="34" charset="0"/>
                <a:ea typeface="Aptos" pitchFamily="34" charset="-122"/>
                <a:cs typeface="Aptos" pitchFamily="34" charset="-120"/>
              </a:rPr>
              <a:t>NOTICE</a:t>
            </a:r>
            <a:endParaRPr lang="en-US" sz="1300" dirty="0"/>
          </a:p>
        </p:txBody>
      </p:sp>
      <p:sp>
        <p:nvSpPr>
          <p:cNvPr id="11" name="Shape 8"/>
          <p:cNvSpPr/>
          <p:nvPr/>
        </p:nvSpPr>
        <p:spPr>
          <a:xfrm>
            <a:off x="530352" y="3648456"/>
            <a:ext cx="118872" cy="118872"/>
          </a:xfrm>
          <a:prstGeom prst="ellipse">
            <a:avLst/>
          </a:prstGeom>
          <a:solidFill>
            <a:srgbClr val="D7A84B"/>
          </a:solidFill>
          <a:ln w="12700">
            <a:solidFill>
              <a:srgbClr val="D7A84B">
                <a:alpha val="0"/>
              </a:srgbClr>
            </a:solidFill>
            <a:prstDash val="solid"/>
          </a:ln>
        </p:spPr>
      </p:sp>
      <p:sp>
        <p:nvSpPr>
          <p:cNvPr id="12" name="Text 9"/>
          <p:cNvSpPr/>
          <p:nvPr/>
        </p:nvSpPr>
        <p:spPr>
          <a:xfrm>
            <a:off x="740664" y="35753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Prepare before the customer speaks</a:t>
            </a:r>
            <a:endParaRPr lang="en-US" sz="1600" dirty="0"/>
          </a:p>
        </p:txBody>
      </p:sp>
      <p:sp>
        <p:nvSpPr>
          <p:cNvPr id="13" name="Shape 10"/>
          <p:cNvSpPr/>
          <p:nvPr/>
        </p:nvSpPr>
        <p:spPr>
          <a:xfrm>
            <a:off x="530352" y="4105656"/>
            <a:ext cx="118872" cy="118872"/>
          </a:xfrm>
          <a:prstGeom prst="ellipse">
            <a:avLst/>
          </a:prstGeom>
          <a:solidFill>
            <a:srgbClr val="D7A84B"/>
          </a:solidFill>
          <a:ln w="12700">
            <a:solidFill>
              <a:srgbClr val="D7A84B">
                <a:alpha val="0"/>
              </a:srgbClr>
            </a:solidFill>
            <a:prstDash val="solid"/>
          </a:ln>
        </p:spPr>
      </p:sp>
      <p:sp>
        <p:nvSpPr>
          <p:cNvPr id="14" name="Text 11"/>
          <p:cNvSpPr/>
          <p:nvPr/>
        </p:nvSpPr>
        <p:spPr>
          <a:xfrm>
            <a:off x="740664" y="40325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A booking record needs complete fields</a:t>
            </a:r>
            <a:endParaRPr lang="en-US" sz="1600" dirty="0"/>
          </a:p>
        </p:txBody>
      </p:sp>
      <p:sp>
        <p:nvSpPr>
          <p:cNvPr id="15" name="Shape 12"/>
          <p:cNvSpPr/>
          <p:nvPr/>
        </p:nvSpPr>
        <p:spPr>
          <a:xfrm>
            <a:off x="530352" y="4562856"/>
            <a:ext cx="118872" cy="118872"/>
          </a:xfrm>
          <a:prstGeom prst="ellipse">
            <a:avLst/>
          </a:prstGeom>
          <a:solidFill>
            <a:srgbClr val="D7A84B"/>
          </a:solidFill>
          <a:ln w="12700">
            <a:solidFill>
              <a:srgbClr val="D7A84B">
                <a:alpha val="0"/>
              </a:srgbClr>
            </a:solidFill>
            <a:prstDash val="solid"/>
          </a:ln>
        </p:spPr>
      </p:sp>
      <p:sp>
        <p:nvSpPr>
          <p:cNvPr id="16" name="Text 13"/>
          <p:cNvSpPr/>
          <p:nvPr/>
        </p:nvSpPr>
        <p:spPr>
          <a:xfrm>
            <a:off x="740664" y="44897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Booking workflow: collect, repeat and close</a:t>
            </a:r>
            <a:endParaRPr lang="en-US" sz="1600" dirty="0"/>
          </a:p>
        </p:txBody>
      </p:sp>
      <p:sp>
        <p:nvSpPr>
          <p:cNvPr id="17" name="Shape 14"/>
          <p:cNvSpPr/>
          <p:nvPr/>
        </p:nvSpPr>
        <p:spPr>
          <a:xfrm>
            <a:off x="530352" y="5029200"/>
            <a:ext cx="4315968" cy="941832"/>
          </a:xfrm>
          <a:prstGeom prst="roundRect">
            <a:avLst>
              <a:gd name="adj" fmla="val 4854"/>
            </a:avLst>
          </a:prstGeom>
          <a:solidFill>
            <a:srgbClr val="0B4F4A"/>
          </a:solidFill>
          <a:ln w="12700">
            <a:solidFill>
              <a:srgbClr val="0B4F4A">
                <a:alpha val="0"/>
              </a:srgbClr>
            </a:solidFill>
            <a:prstDash val="solid"/>
          </a:ln>
        </p:spPr>
      </p:sp>
      <p:sp>
        <p:nvSpPr>
          <p:cNvPr id="18" name="Text 15"/>
          <p:cNvSpPr/>
          <p:nvPr/>
        </p:nvSpPr>
        <p:spPr>
          <a:xfrm>
            <a:off x="694944" y="5157216"/>
            <a:ext cx="658368" cy="182880"/>
          </a:xfrm>
          <a:prstGeom prst="rect">
            <a:avLst/>
          </a:prstGeom>
          <a:noFill/>
          <a:ln/>
        </p:spPr>
        <p:txBody>
          <a:bodyPr wrap="square" lIns="0" tIns="0" rIns="0" bIns="0" rtlCol="0" anchor="ctr"/>
          <a:lstStyle/>
          <a:p>
            <a:pPr indent="0" marL="0">
              <a:buNone/>
            </a:pPr>
            <a:r>
              <a:rPr lang="en-US" sz="1200" b="1" spc="80" kern="0" dirty="0">
                <a:solidFill>
                  <a:srgbClr val="F3DFB0"/>
                </a:solidFill>
                <a:latin typeface="Aptos" pitchFamily="34" charset="0"/>
                <a:ea typeface="Aptos" pitchFamily="34" charset="-122"/>
                <a:cs typeface="Aptos" pitchFamily="34" charset="-120"/>
              </a:rPr>
              <a:t>CHECK</a:t>
            </a:r>
            <a:endParaRPr lang="en-US" sz="1200" dirty="0"/>
          </a:p>
        </p:txBody>
      </p:sp>
      <p:sp>
        <p:nvSpPr>
          <p:cNvPr id="19" name="Text 16"/>
          <p:cNvSpPr/>
          <p:nvPr/>
        </p:nvSpPr>
        <p:spPr>
          <a:xfrm>
            <a:off x="1362456" y="5102352"/>
            <a:ext cx="3337560" cy="658368"/>
          </a:xfrm>
          <a:prstGeom prst="rect">
            <a:avLst/>
          </a:prstGeom>
          <a:noFill/>
          <a:ln/>
        </p:spPr>
        <p:txBody>
          <a:bodyPr wrap="square" lIns="0" tIns="0" rIns="0" bIns="0" rtlCol="0" anchor="ctr">
            <a:normAutofit/>
          </a:bodyPr>
          <a:lstStyle/>
          <a:p>
            <a:pPr indent="0" marL="0">
              <a:buNone/>
            </a:pPr>
            <a:r>
              <a:rPr lang="en-US" sz="1750" b="1" dirty="0">
                <a:solidFill>
                  <a:srgbClr val="FFFFFF"/>
                </a:solidFill>
                <a:latin typeface="Aptos" pitchFamily="34" charset="0"/>
                <a:ea typeface="Aptos" pitchFamily="34" charset="-122"/>
                <a:cs typeface="Aptos" pitchFamily="34" charset="-120"/>
              </a:rPr>
              <a:t>Which booking details should be repeated before the interaction closes?</a:t>
            </a:r>
            <a:endParaRPr lang="en-US" sz="1750" dirty="0"/>
          </a:p>
        </p:txBody>
      </p:sp>
      <p:sp>
        <p:nvSpPr>
          <p:cNvPr id="20" name="Shape 17"/>
          <p:cNvSpPr/>
          <p:nvPr/>
        </p:nvSpPr>
        <p:spPr>
          <a:xfrm>
            <a:off x="530352" y="6473952"/>
            <a:ext cx="11128248" cy="0"/>
          </a:xfrm>
          <a:prstGeom prst="line">
            <a:avLst/>
          </a:prstGeom>
          <a:noFill/>
          <a:ln w="15240">
            <a:solidFill>
              <a:srgbClr val="B8D9D3"/>
            </a:solidFill>
            <a:prstDash val="solid"/>
          </a:ln>
        </p:spPr>
      </p:sp>
      <p:sp>
        <p:nvSpPr>
          <p:cNvPr id="21" name="Text 18"/>
          <p:cNvSpPr/>
          <p:nvPr/>
        </p:nvSpPr>
        <p:spPr>
          <a:xfrm>
            <a:off x="566928" y="6528816"/>
            <a:ext cx="5303520" cy="164592"/>
          </a:xfrm>
          <a:prstGeom prst="rect">
            <a:avLst/>
          </a:prstGeom>
          <a:noFill/>
          <a:ln/>
        </p:spPr>
        <p:txBody>
          <a:bodyPr wrap="square" lIns="0" tIns="0" rIns="0" bIns="0" rtlCol="0" anchor="ctr"/>
          <a:lstStyle/>
          <a:p>
            <a:pPr indent="0" marL="0">
              <a:buNone/>
            </a:pPr>
            <a:r>
              <a:rPr lang="en-US" sz="1050" dirty="0">
                <a:solidFill>
                  <a:srgbClr val="53686C"/>
                </a:solidFill>
                <a:latin typeface="Aptos" pitchFamily="34" charset="0"/>
                <a:ea typeface="Aptos" pitchFamily="34" charset="-122"/>
                <a:cs typeface="Aptos" pitchFamily="34" charset="-120"/>
              </a:rPr>
              <a:t>SIT20322 Hospitality · Task 2</a:t>
            </a:r>
            <a:endParaRPr lang="en-US" sz="1050" dirty="0"/>
          </a:p>
        </p:txBody>
      </p:sp>
      <p:sp>
        <p:nvSpPr>
          <p:cNvPr id="22" name="Text 19"/>
          <p:cNvSpPr/>
          <p:nvPr/>
        </p:nvSpPr>
        <p:spPr>
          <a:xfrm>
            <a:off x="10881360" y="6528816"/>
            <a:ext cx="749808" cy="164592"/>
          </a:xfrm>
          <a:prstGeom prst="rect">
            <a:avLst/>
          </a:prstGeom>
          <a:noFill/>
          <a:ln/>
        </p:spPr>
        <p:txBody>
          <a:bodyPr wrap="square" lIns="0" tIns="0" rIns="0" bIns="0" rtlCol="0" anchor="ctr"/>
          <a:lstStyle/>
          <a:p>
            <a:pPr algn="r" indent="0" marL="0">
              <a:buNone/>
            </a:pPr>
            <a:r>
              <a:rPr lang="en-US" sz="1050" dirty="0">
                <a:solidFill>
                  <a:srgbClr val="53686C"/>
                </a:solidFill>
                <a:latin typeface="Aptos" pitchFamily="34" charset="0"/>
                <a:ea typeface="Aptos" pitchFamily="34" charset="-122"/>
                <a:cs typeface="Aptos" pitchFamily="34" charset="-120"/>
              </a:rPr>
              <a:t>7 / 10</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3E6"/>
        </a:solidFill>
      </p:bgPr>
    </p:bg>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0B4F4A"/>
          </a:solidFill>
          <a:ln w="12700">
            <a:solidFill>
              <a:srgbClr val="0B4F4A">
                <a:alpha val="0"/>
              </a:srgbClr>
            </a:solidFill>
            <a:prstDash val="solid"/>
          </a:ln>
        </p:spPr>
      </p:sp>
      <p:sp>
        <p:nvSpPr>
          <p:cNvPr id="3" name="Shape 1"/>
          <p:cNvSpPr/>
          <p:nvPr/>
        </p:nvSpPr>
        <p:spPr>
          <a:xfrm>
            <a:off x="0" y="0"/>
            <a:ext cx="164592" cy="1143000"/>
          </a:xfrm>
          <a:prstGeom prst="rect">
            <a:avLst/>
          </a:prstGeom>
          <a:solidFill>
            <a:srgbClr val="D7A84B"/>
          </a:solidFill>
          <a:ln w="12700">
            <a:solidFill>
              <a:srgbClr val="D7A84B">
                <a:alpha val="0"/>
              </a:srgbClr>
            </a:solidFill>
            <a:prstDash val="solid"/>
          </a:ln>
        </p:spPr>
      </p:sp>
      <p:sp>
        <p:nvSpPr>
          <p:cNvPr id="4" name="Text 2"/>
          <p:cNvSpPr/>
          <p:nvPr/>
        </p:nvSpPr>
        <p:spPr>
          <a:xfrm>
            <a:off x="438912" y="109728"/>
            <a:ext cx="2084832" cy="182880"/>
          </a:xfrm>
          <a:prstGeom prst="rect">
            <a:avLst/>
          </a:prstGeom>
          <a:noFill/>
          <a:ln/>
        </p:spPr>
        <p:txBody>
          <a:bodyPr wrap="square" lIns="0" tIns="0" rIns="0" bIns="0" rtlCol="0" anchor="ctr"/>
          <a:lstStyle/>
          <a:p>
            <a:pPr indent="0" marL="0">
              <a:buNone/>
            </a:pPr>
            <a:r>
              <a:rPr lang="en-US" sz="1150" b="1" spc="80" kern="0" dirty="0">
                <a:solidFill>
                  <a:srgbClr val="F3DFB0"/>
                </a:solidFill>
                <a:latin typeface="Aptos" pitchFamily="34" charset="0"/>
                <a:ea typeface="Aptos" pitchFamily="34" charset="-122"/>
                <a:cs typeface="Aptos" pitchFamily="34" charset="-120"/>
              </a:rPr>
              <a:t>TASK 2 · LESSON 07</a:t>
            </a:r>
            <a:endParaRPr lang="en-US" sz="1150" dirty="0"/>
          </a:p>
        </p:txBody>
      </p:sp>
      <p:sp>
        <p:nvSpPr>
          <p:cNvPr id="5" name="Text 3"/>
          <p:cNvSpPr/>
          <p:nvPr/>
        </p:nvSpPr>
        <p:spPr>
          <a:xfrm>
            <a:off x="429768" y="310896"/>
            <a:ext cx="11155680" cy="731520"/>
          </a:xfrm>
          <a:prstGeom prst="rect">
            <a:avLst/>
          </a:prstGeom>
          <a:noFill/>
          <a:ln/>
        </p:spPr>
        <p:txBody>
          <a:bodyPr wrap="square" lIns="0" tIns="0" rIns="0" bIns="0" rtlCol="0" anchor="ctr">
            <a:normAutofit/>
          </a:bodyPr>
          <a:lstStyle/>
          <a:p>
            <a:pPr indent="0" marL="0">
              <a:buNone/>
            </a:pPr>
            <a:r>
              <a:rPr lang="en-US" sz="2400" b="1" dirty="0">
                <a:solidFill>
                  <a:srgbClr val="FFFFFF"/>
                </a:solidFill>
                <a:latin typeface="Aptos Display" pitchFamily="34" charset="0"/>
                <a:ea typeface="Aptos Display" pitchFamily="34" charset="-122"/>
                <a:cs typeface="Aptos Display" pitchFamily="34" charset="-120"/>
              </a:rPr>
              <a:t>Provide culturally respectful and disability-inclusive service</a:t>
            </a:r>
            <a:endParaRPr lang="en-US" sz="2400" dirty="0"/>
          </a:p>
        </p:txBody>
      </p:sp>
      <p:sp>
        <p:nvSpPr>
          <p:cNvPr id="6" name="Shape 4"/>
          <p:cNvSpPr/>
          <p:nvPr/>
        </p:nvSpPr>
        <p:spPr>
          <a:xfrm>
            <a:off x="502920" y="1298448"/>
            <a:ext cx="6510528" cy="4901184"/>
          </a:xfrm>
          <a:prstGeom prst="roundRect">
            <a:avLst>
              <a:gd name="adj" fmla="val 1306"/>
            </a:avLst>
          </a:prstGeom>
          <a:solidFill>
            <a:srgbClr val="FFFDF8"/>
          </a:solidFill>
          <a:ln w="17780">
            <a:solidFill>
              <a:srgbClr val="B8D9D3"/>
            </a:solidFill>
            <a:prstDash val="solid"/>
          </a:ln>
        </p:spPr>
      </p:sp>
      <p:pic>
        <p:nvPicPr>
          <p:cNvPr id="7" name="inclusive-instructional-visual" descr="Inclusive hospitality service pathway asks the customer, offers communication or access options, checks authority and confirms what works.">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12648" y="1914144"/>
            <a:ext cx="6291072" cy="3669792"/>
          </a:xfrm>
          <a:prstGeom prst="rect">
            <a:avLst/>
          </a:prstGeom>
        </p:spPr>
      </p:pic>
      <p:sp>
        <p:nvSpPr>
          <p:cNvPr id="8" name="Text 5"/>
          <p:cNvSpPr/>
          <p:nvPr/>
        </p:nvSpPr>
        <p:spPr>
          <a:xfrm>
            <a:off x="7342632" y="1353312"/>
            <a:ext cx="4315968" cy="219456"/>
          </a:xfrm>
          <a:prstGeom prst="rect">
            <a:avLst/>
          </a:prstGeom>
          <a:noFill/>
          <a:ln/>
        </p:spPr>
        <p:txBody>
          <a:bodyPr wrap="square" lIns="0" tIns="0" rIns="0" bIns="0" rtlCol="0" anchor="ctr"/>
          <a:lstStyle/>
          <a:p>
            <a:pPr indent="0" marL="0">
              <a:buNone/>
            </a:pPr>
            <a:r>
              <a:rPr lang="en-US" sz="1300" b="1" spc="110" kern="0" dirty="0">
                <a:solidFill>
                  <a:srgbClr val="D7A84B"/>
                </a:solidFill>
                <a:latin typeface="Aptos" pitchFamily="34" charset="0"/>
                <a:ea typeface="Aptos" pitchFamily="34" charset="-122"/>
                <a:cs typeface="Aptos" pitchFamily="34" charset="-120"/>
              </a:rPr>
              <a:t>PURPOSE</a:t>
            </a:r>
            <a:endParaRPr lang="en-US" sz="1300" dirty="0"/>
          </a:p>
        </p:txBody>
      </p:sp>
      <p:sp>
        <p:nvSpPr>
          <p:cNvPr id="9" name="Text 6"/>
          <p:cNvSpPr/>
          <p:nvPr/>
        </p:nvSpPr>
        <p:spPr>
          <a:xfrm>
            <a:off x="7342632" y="1627632"/>
            <a:ext cx="4315968" cy="1536192"/>
          </a:xfrm>
          <a:prstGeom prst="rect">
            <a:avLst/>
          </a:prstGeom>
          <a:noFill/>
          <a:ln/>
        </p:spPr>
        <p:txBody>
          <a:bodyPr wrap="square" lIns="0" tIns="0" rIns="0" bIns="0" rtlCol="0" anchor="t">
            <a:normAutofit/>
          </a:bodyPr>
          <a:lstStyle/>
          <a:p>
            <a:pPr indent="0" marL="0">
              <a:buNone/>
            </a:pPr>
            <a:r>
              <a:rPr lang="en-US" sz="1850" dirty="0">
                <a:solidFill>
                  <a:srgbClr val="17343A"/>
                </a:solidFill>
                <a:latin typeface="Aptos" pitchFamily="34" charset="0"/>
                <a:ea typeface="Aptos" pitchFamily="34" charset="-122"/>
                <a:cs typeface="Aptos" pitchFamily="34" charset="-120"/>
              </a:rPr>
              <a:t>Adapt communication and access respectfully without turning cultural information, disability or customer profiles into assumptions.</a:t>
            </a:r>
            <a:endParaRPr lang="en-US" sz="1850" dirty="0"/>
          </a:p>
        </p:txBody>
      </p:sp>
      <p:sp>
        <p:nvSpPr>
          <p:cNvPr id="10" name="Text 7"/>
          <p:cNvSpPr/>
          <p:nvPr/>
        </p:nvSpPr>
        <p:spPr>
          <a:xfrm>
            <a:off x="7342632" y="3291840"/>
            <a:ext cx="4315968" cy="219456"/>
          </a:xfrm>
          <a:prstGeom prst="rect">
            <a:avLst/>
          </a:prstGeom>
          <a:noFill/>
          <a:ln/>
        </p:spPr>
        <p:txBody>
          <a:bodyPr wrap="square" lIns="0" tIns="0" rIns="0" bIns="0" rtlCol="0" anchor="ctr"/>
          <a:lstStyle/>
          <a:p>
            <a:pPr indent="0" marL="0">
              <a:buNone/>
            </a:pPr>
            <a:r>
              <a:rPr lang="en-US" sz="1300" b="1" spc="110" kern="0" dirty="0">
                <a:solidFill>
                  <a:srgbClr val="D7A84B"/>
                </a:solidFill>
                <a:latin typeface="Aptos" pitchFamily="34" charset="0"/>
                <a:ea typeface="Aptos" pitchFamily="34" charset="-122"/>
                <a:cs typeface="Aptos" pitchFamily="34" charset="-120"/>
              </a:rPr>
              <a:t>NOTICE</a:t>
            </a:r>
            <a:endParaRPr lang="en-US" sz="1300" dirty="0"/>
          </a:p>
        </p:txBody>
      </p:sp>
      <p:sp>
        <p:nvSpPr>
          <p:cNvPr id="11" name="Shape 8"/>
          <p:cNvSpPr/>
          <p:nvPr/>
        </p:nvSpPr>
        <p:spPr>
          <a:xfrm>
            <a:off x="7342632" y="3648456"/>
            <a:ext cx="118872" cy="118872"/>
          </a:xfrm>
          <a:prstGeom prst="ellipse">
            <a:avLst/>
          </a:prstGeom>
          <a:solidFill>
            <a:srgbClr val="D7A84B"/>
          </a:solidFill>
          <a:ln w="12700">
            <a:solidFill>
              <a:srgbClr val="D7A84B">
                <a:alpha val="0"/>
              </a:srgbClr>
            </a:solidFill>
            <a:prstDash val="solid"/>
          </a:ln>
        </p:spPr>
      </p:sp>
      <p:sp>
        <p:nvSpPr>
          <p:cNvPr id="12" name="Text 9"/>
          <p:cNvSpPr/>
          <p:nvPr/>
        </p:nvSpPr>
        <p:spPr>
          <a:xfrm>
            <a:off x="7552944" y="35753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Diversity is normal in Australian hospitality</a:t>
            </a:r>
            <a:endParaRPr lang="en-US" sz="1600" dirty="0"/>
          </a:p>
        </p:txBody>
      </p:sp>
      <p:sp>
        <p:nvSpPr>
          <p:cNvPr id="13" name="Shape 10"/>
          <p:cNvSpPr/>
          <p:nvPr/>
        </p:nvSpPr>
        <p:spPr>
          <a:xfrm>
            <a:off x="7342632" y="4105656"/>
            <a:ext cx="118872" cy="118872"/>
          </a:xfrm>
          <a:prstGeom prst="ellipse">
            <a:avLst/>
          </a:prstGeom>
          <a:solidFill>
            <a:srgbClr val="D7A84B"/>
          </a:solidFill>
          <a:ln w="12700">
            <a:solidFill>
              <a:srgbClr val="D7A84B">
                <a:alpha val="0"/>
              </a:srgbClr>
            </a:solidFill>
            <a:prstDash val="solid"/>
          </a:ln>
        </p:spPr>
      </p:sp>
      <p:sp>
        <p:nvSpPr>
          <p:cNvPr id="14" name="Text 11"/>
          <p:cNvSpPr/>
          <p:nvPr/>
        </p:nvSpPr>
        <p:spPr>
          <a:xfrm>
            <a:off x="7552944" y="40325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Protocols guide awareness, not predictions</a:t>
            </a:r>
            <a:endParaRPr lang="en-US" sz="1600" dirty="0"/>
          </a:p>
        </p:txBody>
      </p:sp>
      <p:sp>
        <p:nvSpPr>
          <p:cNvPr id="15" name="Shape 12"/>
          <p:cNvSpPr/>
          <p:nvPr/>
        </p:nvSpPr>
        <p:spPr>
          <a:xfrm>
            <a:off x="7342632" y="4562856"/>
            <a:ext cx="118872" cy="118872"/>
          </a:xfrm>
          <a:prstGeom prst="ellipse">
            <a:avLst/>
          </a:prstGeom>
          <a:solidFill>
            <a:srgbClr val="D7A84B"/>
          </a:solidFill>
          <a:ln w="12700">
            <a:solidFill>
              <a:srgbClr val="D7A84B">
                <a:alpha val="0"/>
              </a:srgbClr>
            </a:solidFill>
            <a:prstDash val="solid"/>
          </a:ln>
        </p:spPr>
      </p:sp>
      <p:sp>
        <p:nvSpPr>
          <p:cNvPr id="16" name="Text 13"/>
          <p:cNvSpPr/>
          <p:nvPr/>
        </p:nvSpPr>
        <p:spPr>
          <a:xfrm>
            <a:off x="7552944" y="44897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Make information easier to use</a:t>
            </a:r>
            <a:endParaRPr lang="en-US" sz="1600" dirty="0"/>
          </a:p>
        </p:txBody>
      </p:sp>
      <p:sp>
        <p:nvSpPr>
          <p:cNvPr id="17" name="Shape 14"/>
          <p:cNvSpPr/>
          <p:nvPr/>
        </p:nvSpPr>
        <p:spPr>
          <a:xfrm>
            <a:off x="7342632" y="5029200"/>
            <a:ext cx="4315968" cy="941832"/>
          </a:xfrm>
          <a:prstGeom prst="roundRect">
            <a:avLst>
              <a:gd name="adj" fmla="val 4854"/>
            </a:avLst>
          </a:prstGeom>
          <a:solidFill>
            <a:srgbClr val="0B4F4A"/>
          </a:solidFill>
          <a:ln w="12700">
            <a:solidFill>
              <a:srgbClr val="0B4F4A">
                <a:alpha val="0"/>
              </a:srgbClr>
            </a:solidFill>
            <a:prstDash val="solid"/>
          </a:ln>
        </p:spPr>
      </p:sp>
      <p:sp>
        <p:nvSpPr>
          <p:cNvPr id="18" name="Text 15"/>
          <p:cNvSpPr/>
          <p:nvPr/>
        </p:nvSpPr>
        <p:spPr>
          <a:xfrm>
            <a:off x="7507224" y="5157216"/>
            <a:ext cx="658368" cy="182880"/>
          </a:xfrm>
          <a:prstGeom prst="rect">
            <a:avLst/>
          </a:prstGeom>
          <a:noFill/>
          <a:ln/>
        </p:spPr>
        <p:txBody>
          <a:bodyPr wrap="square" lIns="0" tIns="0" rIns="0" bIns="0" rtlCol="0" anchor="ctr"/>
          <a:lstStyle/>
          <a:p>
            <a:pPr indent="0" marL="0">
              <a:buNone/>
            </a:pPr>
            <a:r>
              <a:rPr lang="en-US" sz="1200" b="1" spc="80" kern="0" dirty="0">
                <a:solidFill>
                  <a:srgbClr val="F3DFB0"/>
                </a:solidFill>
                <a:latin typeface="Aptos" pitchFamily="34" charset="0"/>
                <a:ea typeface="Aptos" pitchFamily="34" charset="-122"/>
                <a:cs typeface="Aptos" pitchFamily="34" charset="-120"/>
              </a:rPr>
              <a:t>CHECK</a:t>
            </a:r>
            <a:endParaRPr lang="en-US" sz="1200" dirty="0"/>
          </a:p>
        </p:txBody>
      </p:sp>
      <p:sp>
        <p:nvSpPr>
          <p:cNvPr id="19" name="Text 16"/>
          <p:cNvSpPr/>
          <p:nvPr/>
        </p:nvSpPr>
        <p:spPr>
          <a:xfrm>
            <a:off x="8174736" y="5102352"/>
            <a:ext cx="3337560" cy="658368"/>
          </a:xfrm>
          <a:prstGeom prst="rect">
            <a:avLst/>
          </a:prstGeom>
          <a:noFill/>
          <a:ln/>
        </p:spPr>
        <p:txBody>
          <a:bodyPr wrap="square" lIns="0" tIns="0" rIns="0" bIns="0" rtlCol="0" anchor="ctr">
            <a:normAutofit/>
          </a:bodyPr>
          <a:lstStyle/>
          <a:p>
            <a:pPr indent="0" marL="0">
              <a:buNone/>
            </a:pPr>
            <a:r>
              <a:rPr lang="en-US" sz="1750" b="1" dirty="0">
                <a:solidFill>
                  <a:srgbClr val="FFFFFF"/>
                </a:solidFill>
                <a:latin typeface="Aptos" pitchFamily="34" charset="0"/>
                <a:ea typeface="Aptos" pitchFamily="34" charset="-122"/>
                <a:cs typeface="Aptos" pitchFamily="34" charset="-120"/>
              </a:rPr>
              <a:t>How should cultural-protocol information be used in customer service?</a:t>
            </a:r>
            <a:endParaRPr lang="en-US" sz="1750" dirty="0"/>
          </a:p>
        </p:txBody>
      </p:sp>
      <p:sp>
        <p:nvSpPr>
          <p:cNvPr id="20" name="Shape 17"/>
          <p:cNvSpPr/>
          <p:nvPr/>
        </p:nvSpPr>
        <p:spPr>
          <a:xfrm>
            <a:off x="530352" y="6473952"/>
            <a:ext cx="11128248" cy="0"/>
          </a:xfrm>
          <a:prstGeom prst="line">
            <a:avLst/>
          </a:prstGeom>
          <a:noFill/>
          <a:ln w="15240">
            <a:solidFill>
              <a:srgbClr val="B8D9D3"/>
            </a:solidFill>
            <a:prstDash val="solid"/>
          </a:ln>
        </p:spPr>
      </p:sp>
      <p:sp>
        <p:nvSpPr>
          <p:cNvPr id="21" name="Text 18"/>
          <p:cNvSpPr/>
          <p:nvPr/>
        </p:nvSpPr>
        <p:spPr>
          <a:xfrm>
            <a:off x="566928" y="6528816"/>
            <a:ext cx="5303520" cy="164592"/>
          </a:xfrm>
          <a:prstGeom prst="rect">
            <a:avLst/>
          </a:prstGeom>
          <a:noFill/>
          <a:ln/>
        </p:spPr>
        <p:txBody>
          <a:bodyPr wrap="square" lIns="0" tIns="0" rIns="0" bIns="0" rtlCol="0" anchor="ctr"/>
          <a:lstStyle/>
          <a:p>
            <a:pPr indent="0" marL="0">
              <a:buNone/>
            </a:pPr>
            <a:r>
              <a:rPr lang="en-US" sz="1050" dirty="0">
                <a:solidFill>
                  <a:srgbClr val="53686C"/>
                </a:solidFill>
                <a:latin typeface="Aptos" pitchFamily="34" charset="0"/>
                <a:ea typeface="Aptos" pitchFamily="34" charset="-122"/>
                <a:cs typeface="Aptos" pitchFamily="34" charset="-120"/>
              </a:rPr>
              <a:t>SIT20322 Hospitality · Task 2</a:t>
            </a:r>
            <a:endParaRPr lang="en-US" sz="1050" dirty="0"/>
          </a:p>
        </p:txBody>
      </p:sp>
      <p:sp>
        <p:nvSpPr>
          <p:cNvPr id="22" name="Text 19"/>
          <p:cNvSpPr/>
          <p:nvPr/>
        </p:nvSpPr>
        <p:spPr>
          <a:xfrm>
            <a:off x="10881360" y="6528816"/>
            <a:ext cx="749808" cy="164592"/>
          </a:xfrm>
          <a:prstGeom prst="rect">
            <a:avLst/>
          </a:prstGeom>
          <a:noFill/>
          <a:ln/>
        </p:spPr>
        <p:txBody>
          <a:bodyPr wrap="square" lIns="0" tIns="0" rIns="0" bIns="0" rtlCol="0" anchor="ctr"/>
          <a:lstStyle/>
          <a:p>
            <a:pPr algn="r" indent="0" marL="0">
              <a:buNone/>
            </a:pPr>
            <a:r>
              <a:rPr lang="en-US" sz="1050" dirty="0">
                <a:solidFill>
                  <a:srgbClr val="53686C"/>
                </a:solidFill>
                <a:latin typeface="Aptos" pitchFamily="34" charset="0"/>
                <a:ea typeface="Aptos" pitchFamily="34" charset="-122"/>
                <a:cs typeface="Aptos" pitchFamily="34" charset="-120"/>
              </a:rPr>
              <a:t>8 / 10</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3E6"/>
        </a:solidFill>
      </p:bgPr>
    </p:bg>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0B4F4A"/>
          </a:solidFill>
          <a:ln w="12700">
            <a:solidFill>
              <a:srgbClr val="0B4F4A">
                <a:alpha val="0"/>
              </a:srgbClr>
            </a:solidFill>
            <a:prstDash val="solid"/>
          </a:ln>
        </p:spPr>
      </p:sp>
      <p:sp>
        <p:nvSpPr>
          <p:cNvPr id="3" name="Shape 1"/>
          <p:cNvSpPr/>
          <p:nvPr/>
        </p:nvSpPr>
        <p:spPr>
          <a:xfrm>
            <a:off x="0" y="0"/>
            <a:ext cx="164592" cy="1143000"/>
          </a:xfrm>
          <a:prstGeom prst="rect">
            <a:avLst/>
          </a:prstGeom>
          <a:solidFill>
            <a:srgbClr val="D7A84B"/>
          </a:solidFill>
          <a:ln w="12700">
            <a:solidFill>
              <a:srgbClr val="D7A84B">
                <a:alpha val="0"/>
              </a:srgbClr>
            </a:solidFill>
            <a:prstDash val="solid"/>
          </a:ln>
        </p:spPr>
      </p:sp>
      <p:sp>
        <p:nvSpPr>
          <p:cNvPr id="4" name="Text 2"/>
          <p:cNvSpPr/>
          <p:nvPr/>
        </p:nvSpPr>
        <p:spPr>
          <a:xfrm>
            <a:off x="438912" y="109728"/>
            <a:ext cx="2084832" cy="182880"/>
          </a:xfrm>
          <a:prstGeom prst="rect">
            <a:avLst/>
          </a:prstGeom>
          <a:noFill/>
          <a:ln/>
        </p:spPr>
        <p:txBody>
          <a:bodyPr wrap="square" lIns="0" tIns="0" rIns="0" bIns="0" rtlCol="0" anchor="ctr"/>
          <a:lstStyle/>
          <a:p>
            <a:pPr indent="0" marL="0">
              <a:buNone/>
            </a:pPr>
            <a:r>
              <a:rPr lang="en-US" sz="1150" b="1" spc="80" kern="0" dirty="0">
                <a:solidFill>
                  <a:srgbClr val="F3DFB0"/>
                </a:solidFill>
                <a:latin typeface="Aptos" pitchFamily="34" charset="0"/>
                <a:ea typeface="Aptos" pitchFamily="34" charset="-122"/>
                <a:cs typeface="Aptos" pitchFamily="34" charset="-120"/>
              </a:rPr>
              <a:t>TASK 2 · LESSON 08</a:t>
            </a:r>
            <a:endParaRPr lang="en-US" sz="1150" dirty="0"/>
          </a:p>
        </p:txBody>
      </p:sp>
      <p:sp>
        <p:nvSpPr>
          <p:cNvPr id="5" name="Text 3"/>
          <p:cNvSpPr/>
          <p:nvPr/>
        </p:nvSpPr>
        <p:spPr>
          <a:xfrm>
            <a:off x="429768" y="310896"/>
            <a:ext cx="11155680" cy="731520"/>
          </a:xfrm>
          <a:prstGeom prst="rect">
            <a:avLst/>
          </a:prstGeom>
          <a:noFill/>
          <a:ln/>
        </p:spPr>
        <p:txBody>
          <a:bodyPr wrap="square" lIns="0" tIns="0" rIns="0" bIns="0" rtlCol="0" anchor="ctr">
            <a:normAutofit/>
          </a:bodyPr>
          <a:lstStyle/>
          <a:p>
            <a:pPr indent="0" marL="0">
              <a:buNone/>
            </a:pPr>
            <a:r>
              <a:rPr lang="en-US" sz="2400" b="1" dirty="0">
                <a:solidFill>
                  <a:srgbClr val="FFFFFF"/>
                </a:solidFill>
                <a:latin typeface="Aptos Display" pitchFamily="34" charset="0"/>
                <a:ea typeface="Aptos Display" pitchFamily="34" charset="-122"/>
                <a:cs typeface="Aptos Display" pitchFamily="34" charset="-120"/>
              </a:rPr>
              <a:t>Recover service problems, manage conflict and use feedback</a:t>
            </a:r>
            <a:endParaRPr lang="en-US" sz="2400" dirty="0"/>
          </a:p>
        </p:txBody>
      </p:sp>
      <p:sp>
        <p:nvSpPr>
          <p:cNvPr id="6" name="Shape 4"/>
          <p:cNvSpPr/>
          <p:nvPr/>
        </p:nvSpPr>
        <p:spPr>
          <a:xfrm>
            <a:off x="5175504" y="1298448"/>
            <a:ext cx="6510528" cy="4901184"/>
          </a:xfrm>
          <a:prstGeom prst="roundRect">
            <a:avLst>
              <a:gd name="adj" fmla="val 1306"/>
            </a:avLst>
          </a:prstGeom>
          <a:solidFill>
            <a:srgbClr val="FFFDF8"/>
          </a:solidFill>
          <a:ln w="17780">
            <a:solidFill>
              <a:srgbClr val="B8D9D3"/>
            </a:solidFill>
            <a:prstDash val="solid"/>
          </a:ln>
        </p:spPr>
      </p:sp>
      <p:pic>
        <p:nvPicPr>
          <p:cNvPr id="7" name="recovery-instructional-visual" descr="Service recovery diagram moves from listening and clarification to routine action, supervisor decision or safety escalation, then follow-up and improvement recordi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285232" y="1914144"/>
            <a:ext cx="6291072" cy="3669792"/>
          </a:xfrm>
          <a:prstGeom prst="rect">
            <a:avLst/>
          </a:prstGeom>
        </p:spPr>
      </p:pic>
      <p:sp>
        <p:nvSpPr>
          <p:cNvPr id="8" name="Text 5"/>
          <p:cNvSpPr/>
          <p:nvPr/>
        </p:nvSpPr>
        <p:spPr>
          <a:xfrm>
            <a:off x="530352" y="1353312"/>
            <a:ext cx="4315968" cy="219456"/>
          </a:xfrm>
          <a:prstGeom prst="rect">
            <a:avLst/>
          </a:prstGeom>
          <a:noFill/>
          <a:ln/>
        </p:spPr>
        <p:txBody>
          <a:bodyPr wrap="square" lIns="0" tIns="0" rIns="0" bIns="0" rtlCol="0" anchor="ctr"/>
          <a:lstStyle/>
          <a:p>
            <a:pPr indent="0" marL="0">
              <a:buNone/>
            </a:pPr>
            <a:r>
              <a:rPr lang="en-US" sz="1300" b="1" spc="110" kern="0" dirty="0">
                <a:solidFill>
                  <a:srgbClr val="D7A84B"/>
                </a:solidFill>
                <a:latin typeface="Aptos" pitchFamily="34" charset="0"/>
                <a:ea typeface="Aptos" pitchFamily="34" charset="-122"/>
                <a:cs typeface="Aptos" pitchFamily="34" charset="-120"/>
              </a:rPr>
              <a:t>PURPOSE</a:t>
            </a:r>
            <a:endParaRPr lang="en-US" sz="1300" dirty="0"/>
          </a:p>
        </p:txBody>
      </p:sp>
      <p:sp>
        <p:nvSpPr>
          <p:cNvPr id="9" name="Text 6"/>
          <p:cNvSpPr/>
          <p:nvPr/>
        </p:nvSpPr>
        <p:spPr>
          <a:xfrm>
            <a:off x="530352" y="1627632"/>
            <a:ext cx="4315968" cy="1536192"/>
          </a:xfrm>
          <a:prstGeom prst="rect">
            <a:avLst/>
          </a:prstGeom>
          <a:noFill/>
          <a:ln/>
        </p:spPr>
        <p:txBody>
          <a:bodyPr wrap="square" lIns="0" tIns="0" rIns="0" bIns="0" rtlCol="0" anchor="t">
            <a:normAutofit/>
          </a:bodyPr>
          <a:lstStyle/>
          <a:p>
            <a:pPr indent="0" marL="0">
              <a:buNone/>
            </a:pPr>
            <a:r>
              <a:rPr lang="en-US" sz="1850" dirty="0">
                <a:solidFill>
                  <a:srgbClr val="17343A"/>
                </a:solidFill>
                <a:latin typeface="Aptos" pitchFamily="34" charset="0"/>
                <a:ea typeface="Aptos" pitchFamily="34" charset="-122"/>
                <a:cs typeface="Aptos" pitchFamily="34" charset="-120"/>
              </a:rPr>
              <a:t>Use a calm recovery process for routine problems, recognise escalation limits and turn useful feedback into a documented improvement action.</a:t>
            </a:r>
            <a:endParaRPr lang="en-US" sz="1850" dirty="0"/>
          </a:p>
        </p:txBody>
      </p:sp>
      <p:sp>
        <p:nvSpPr>
          <p:cNvPr id="10" name="Text 7"/>
          <p:cNvSpPr/>
          <p:nvPr/>
        </p:nvSpPr>
        <p:spPr>
          <a:xfrm>
            <a:off x="530352" y="3291840"/>
            <a:ext cx="4315968" cy="219456"/>
          </a:xfrm>
          <a:prstGeom prst="rect">
            <a:avLst/>
          </a:prstGeom>
          <a:noFill/>
          <a:ln/>
        </p:spPr>
        <p:txBody>
          <a:bodyPr wrap="square" lIns="0" tIns="0" rIns="0" bIns="0" rtlCol="0" anchor="ctr"/>
          <a:lstStyle/>
          <a:p>
            <a:pPr indent="0" marL="0">
              <a:buNone/>
            </a:pPr>
            <a:r>
              <a:rPr lang="en-US" sz="1300" b="1" spc="110" kern="0" dirty="0">
                <a:solidFill>
                  <a:srgbClr val="D7A84B"/>
                </a:solidFill>
                <a:latin typeface="Aptos" pitchFamily="34" charset="0"/>
                <a:ea typeface="Aptos" pitchFamily="34" charset="-122"/>
                <a:cs typeface="Aptos" pitchFamily="34" charset="-120"/>
              </a:rPr>
              <a:t>NOTICE</a:t>
            </a:r>
            <a:endParaRPr lang="en-US" sz="1300" dirty="0"/>
          </a:p>
        </p:txBody>
      </p:sp>
      <p:sp>
        <p:nvSpPr>
          <p:cNvPr id="11" name="Shape 8"/>
          <p:cNvSpPr/>
          <p:nvPr/>
        </p:nvSpPr>
        <p:spPr>
          <a:xfrm>
            <a:off x="530352" y="3648456"/>
            <a:ext cx="118872" cy="118872"/>
          </a:xfrm>
          <a:prstGeom prst="ellipse">
            <a:avLst/>
          </a:prstGeom>
          <a:solidFill>
            <a:srgbClr val="D7A84B"/>
          </a:solidFill>
          <a:ln w="12700">
            <a:solidFill>
              <a:srgbClr val="D7A84B">
                <a:alpha val="0"/>
              </a:srgbClr>
            </a:solidFill>
            <a:prstDash val="solid"/>
          </a:ln>
        </p:spPr>
      </p:sp>
      <p:sp>
        <p:nvSpPr>
          <p:cNvPr id="12" name="Text 9"/>
          <p:cNvSpPr/>
          <p:nvPr/>
        </p:nvSpPr>
        <p:spPr>
          <a:xfrm>
            <a:off x="740664" y="35753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A six-part routine recovery sequence</a:t>
            </a:r>
            <a:endParaRPr lang="en-US" sz="1600" dirty="0"/>
          </a:p>
        </p:txBody>
      </p:sp>
      <p:sp>
        <p:nvSpPr>
          <p:cNvPr id="13" name="Shape 10"/>
          <p:cNvSpPr/>
          <p:nvPr/>
        </p:nvSpPr>
        <p:spPr>
          <a:xfrm>
            <a:off x="530352" y="4105656"/>
            <a:ext cx="118872" cy="118872"/>
          </a:xfrm>
          <a:prstGeom prst="ellipse">
            <a:avLst/>
          </a:prstGeom>
          <a:solidFill>
            <a:srgbClr val="D7A84B"/>
          </a:solidFill>
          <a:ln w="12700">
            <a:solidFill>
              <a:srgbClr val="D7A84B">
                <a:alpha val="0"/>
              </a:srgbClr>
            </a:solidFill>
            <a:prstDash val="solid"/>
          </a:ln>
        </p:spPr>
      </p:sp>
      <p:sp>
        <p:nvSpPr>
          <p:cNvPr id="14" name="Text 11"/>
          <p:cNvSpPr/>
          <p:nvPr/>
        </p:nvSpPr>
        <p:spPr>
          <a:xfrm>
            <a:off x="740664" y="40325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Constructive and destructive conflict</a:t>
            </a:r>
            <a:endParaRPr lang="en-US" sz="1600" dirty="0"/>
          </a:p>
        </p:txBody>
      </p:sp>
      <p:sp>
        <p:nvSpPr>
          <p:cNvPr id="15" name="Shape 12"/>
          <p:cNvSpPr/>
          <p:nvPr/>
        </p:nvSpPr>
        <p:spPr>
          <a:xfrm>
            <a:off x="530352" y="4562856"/>
            <a:ext cx="118872" cy="118872"/>
          </a:xfrm>
          <a:prstGeom prst="ellipse">
            <a:avLst/>
          </a:prstGeom>
          <a:solidFill>
            <a:srgbClr val="D7A84B"/>
          </a:solidFill>
          <a:ln w="12700">
            <a:solidFill>
              <a:srgbClr val="D7A84B">
                <a:alpha val="0"/>
              </a:srgbClr>
            </a:solidFill>
            <a:prstDash val="solid"/>
          </a:ln>
        </p:spPr>
      </p:sp>
      <p:sp>
        <p:nvSpPr>
          <p:cNvPr id="16" name="Text 13"/>
          <p:cNvSpPr/>
          <p:nvPr/>
        </p:nvSpPr>
        <p:spPr>
          <a:xfrm>
            <a:off x="740664" y="44897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Know when routine recovery must stop</a:t>
            </a:r>
            <a:endParaRPr lang="en-US" sz="1600" dirty="0"/>
          </a:p>
        </p:txBody>
      </p:sp>
      <p:sp>
        <p:nvSpPr>
          <p:cNvPr id="17" name="Shape 14"/>
          <p:cNvSpPr/>
          <p:nvPr/>
        </p:nvSpPr>
        <p:spPr>
          <a:xfrm>
            <a:off x="530352" y="5029200"/>
            <a:ext cx="4315968" cy="1024128"/>
          </a:xfrm>
          <a:prstGeom prst="roundRect">
            <a:avLst>
              <a:gd name="adj" fmla="val 4464"/>
            </a:avLst>
          </a:prstGeom>
          <a:solidFill>
            <a:srgbClr val="0B4F4A"/>
          </a:solidFill>
          <a:ln w="12700">
            <a:solidFill>
              <a:srgbClr val="0B4F4A">
                <a:alpha val="0"/>
              </a:srgbClr>
            </a:solidFill>
            <a:prstDash val="solid"/>
          </a:ln>
        </p:spPr>
      </p:sp>
      <p:sp>
        <p:nvSpPr>
          <p:cNvPr id="18" name="Text 15"/>
          <p:cNvSpPr/>
          <p:nvPr/>
        </p:nvSpPr>
        <p:spPr>
          <a:xfrm>
            <a:off x="694944" y="5157216"/>
            <a:ext cx="658368" cy="182880"/>
          </a:xfrm>
          <a:prstGeom prst="rect">
            <a:avLst/>
          </a:prstGeom>
          <a:noFill/>
          <a:ln/>
        </p:spPr>
        <p:txBody>
          <a:bodyPr wrap="square" lIns="0" tIns="0" rIns="0" bIns="0" rtlCol="0" anchor="ctr"/>
          <a:lstStyle/>
          <a:p>
            <a:pPr indent="0" marL="0">
              <a:buNone/>
            </a:pPr>
            <a:r>
              <a:rPr lang="en-US" sz="1200" b="1" spc="80" kern="0" dirty="0">
                <a:solidFill>
                  <a:srgbClr val="F3DFB0"/>
                </a:solidFill>
                <a:latin typeface="Aptos" pitchFamily="34" charset="0"/>
                <a:ea typeface="Aptos" pitchFamily="34" charset="-122"/>
                <a:cs typeface="Aptos" pitchFamily="34" charset="-120"/>
              </a:rPr>
              <a:t>CHECK</a:t>
            </a:r>
            <a:endParaRPr lang="en-US" sz="1200" dirty="0"/>
          </a:p>
        </p:txBody>
      </p:sp>
      <p:sp>
        <p:nvSpPr>
          <p:cNvPr id="19" name="Text 16"/>
          <p:cNvSpPr/>
          <p:nvPr/>
        </p:nvSpPr>
        <p:spPr>
          <a:xfrm>
            <a:off x="1362456" y="5102352"/>
            <a:ext cx="3337560" cy="740664"/>
          </a:xfrm>
          <a:prstGeom prst="rect">
            <a:avLst/>
          </a:prstGeom>
          <a:noFill/>
          <a:ln/>
        </p:spPr>
        <p:txBody>
          <a:bodyPr wrap="square" lIns="0" tIns="0" rIns="0" bIns="0" rtlCol="0" anchor="ctr">
            <a:normAutofit/>
          </a:bodyPr>
          <a:lstStyle/>
          <a:p>
            <a:pPr indent="0" marL="0">
              <a:buNone/>
            </a:pPr>
            <a:r>
              <a:rPr lang="en-US" sz="1650" b="1" dirty="0">
                <a:solidFill>
                  <a:srgbClr val="FFFFFF"/>
                </a:solidFill>
                <a:latin typeface="Aptos" pitchFamily="34" charset="0"/>
                <a:ea typeface="Aptos" pitchFamily="34" charset="-122"/>
                <a:cs typeface="Aptos" pitchFamily="34" charset="-120"/>
              </a:rPr>
              <a:t>A customer says their meal is wrong and they are visibly upset. What should happen first?</a:t>
            </a:r>
            <a:endParaRPr lang="en-US" sz="1650" dirty="0"/>
          </a:p>
        </p:txBody>
      </p:sp>
      <p:sp>
        <p:nvSpPr>
          <p:cNvPr id="20" name="Shape 17"/>
          <p:cNvSpPr/>
          <p:nvPr/>
        </p:nvSpPr>
        <p:spPr>
          <a:xfrm>
            <a:off x="530352" y="6473952"/>
            <a:ext cx="11128248" cy="0"/>
          </a:xfrm>
          <a:prstGeom prst="line">
            <a:avLst/>
          </a:prstGeom>
          <a:noFill/>
          <a:ln w="15240">
            <a:solidFill>
              <a:srgbClr val="B8D9D3"/>
            </a:solidFill>
            <a:prstDash val="solid"/>
          </a:ln>
        </p:spPr>
      </p:sp>
      <p:sp>
        <p:nvSpPr>
          <p:cNvPr id="21" name="Text 18"/>
          <p:cNvSpPr/>
          <p:nvPr/>
        </p:nvSpPr>
        <p:spPr>
          <a:xfrm>
            <a:off x="566928" y="6528816"/>
            <a:ext cx="5303520" cy="164592"/>
          </a:xfrm>
          <a:prstGeom prst="rect">
            <a:avLst/>
          </a:prstGeom>
          <a:noFill/>
          <a:ln/>
        </p:spPr>
        <p:txBody>
          <a:bodyPr wrap="square" lIns="0" tIns="0" rIns="0" bIns="0" rtlCol="0" anchor="ctr"/>
          <a:lstStyle/>
          <a:p>
            <a:pPr indent="0" marL="0">
              <a:buNone/>
            </a:pPr>
            <a:r>
              <a:rPr lang="en-US" sz="1050" dirty="0">
                <a:solidFill>
                  <a:srgbClr val="53686C"/>
                </a:solidFill>
                <a:latin typeface="Aptos" pitchFamily="34" charset="0"/>
                <a:ea typeface="Aptos" pitchFamily="34" charset="-122"/>
                <a:cs typeface="Aptos" pitchFamily="34" charset="-120"/>
              </a:rPr>
              <a:t>SIT20322 Hospitality · Task 2</a:t>
            </a:r>
            <a:endParaRPr lang="en-US" sz="1050" dirty="0"/>
          </a:p>
        </p:txBody>
      </p:sp>
      <p:sp>
        <p:nvSpPr>
          <p:cNvPr id="22" name="Text 19"/>
          <p:cNvSpPr/>
          <p:nvPr/>
        </p:nvSpPr>
        <p:spPr>
          <a:xfrm>
            <a:off x="10881360" y="6528816"/>
            <a:ext cx="749808" cy="164592"/>
          </a:xfrm>
          <a:prstGeom prst="rect">
            <a:avLst/>
          </a:prstGeom>
          <a:noFill/>
          <a:ln/>
        </p:spPr>
        <p:txBody>
          <a:bodyPr wrap="square" lIns="0" tIns="0" rIns="0" bIns="0" rtlCol="0" anchor="ctr"/>
          <a:lstStyle/>
          <a:p>
            <a:pPr algn="r" indent="0" marL="0">
              <a:buNone/>
            </a:pPr>
            <a:r>
              <a:rPr lang="en-US" sz="1050" dirty="0">
                <a:solidFill>
                  <a:srgbClr val="53686C"/>
                </a:solidFill>
                <a:latin typeface="Aptos" pitchFamily="34" charset="0"/>
                <a:ea typeface="Aptos" pitchFamily="34" charset="-122"/>
                <a:cs typeface="Aptos" pitchFamily="34" charset="-120"/>
              </a:rPr>
              <a:t>9 / 10</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3E6"/>
        </a:solidFill>
      </p:bgPr>
    </p:bg>
    <p:spTree>
      <p:nvGrpSpPr>
        <p:cNvPr id="1" name=""/>
        <p:cNvGrpSpPr/>
        <p:nvPr/>
      </p:nvGrpSpPr>
      <p:grpSpPr>
        <a:xfrm>
          <a:off x="0" y="0"/>
          <a:ext cx="0" cy="0"/>
          <a:chOff x="0" y="0"/>
          <a:chExt cx="0" cy="0"/>
        </a:xfrm>
      </p:grpSpPr>
      <p:sp>
        <p:nvSpPr>
          <p:cNvPr id="2" name="Shape 0"/>
          <p:cNvSpPr/>
          <p:nvPr/>
        </p:nvSpPr>
        <p:spPr>
          <a:xfrm>
            <a:off x="0" y="0"/>
            <a:ext cx="12191695" cy="1207008"/>
          </a:xfrm>
          <a:prstGeom prst="rect">
            <a:avLst/>
          </a:prstGeom>
          <a:solidFill>
            <a:srgbClr val="0B4F4A"/>
          </a:solidFill>
          <a:ln w="12700">
            <a:solidFill>
              <a:srgbClr val="0B4F4A">
                <a:alpha val="0"/>
              </a:srgbClr>
            </a:solidFill>
            <a:prstDash val="solid"/>
          </a:ln>
        </p:spPr>
      </p:sp>
      <p:sp>
        <p:nvSpPr>
          <p:cNvPr id="3" name="Text 1"/>
          <p:cNvSpPr/>
          <p:nvPr/>
        </p:nvSpPr>
        <p:spPr>
          <a:xfrm>
            <a:off x="658368" y="292608"/>
            <a:ext cx="10927080" cy="585216"/>
          </a:xfrm>
          <a:prstGeom prst="rect">
            <a:avLst/>
          </a:prstGeom>
          <a:noFill/>
          <a:ln/>
        </p:spPr>
        <p:txBody>
          <a:bodyPr wrap="square" lIns="0" tIns="0" rIns="0" bIns="0" rtlCol="0" anchor="ctr"/>
          <a:lstStyle/>
          <a:p>
            <a:pPr algn="ctr" indent="0" marL="0">
              <a:buNone/>
            </a:pPr>
            <a:r>
              <a:rPr lang="en-US" sz="3800" b="1" dirty="0">
                <a:solidFill>
                  <a:srgbClr val="FFFFFF"/>
                </a:solidFill>
                <a:latin typeface="Aptos Display" pitchFamily="34" charset="0"/>
                <a:ea typeface="Aptos Display" pitchFamily="34" charset="-122"/>
                <a:cs typeface="Aptos Display" pitchFamily="34" charset="-120"/>
              </a:rPr>
              <a:t>Finish with evidence, not a guess</a:t>
            </a:r>
            <a:endParaRPr lang="en-US" sz="3800" dirty="0"/>
          </a:p>
        </p:txBody>
      </p:sp>
      <p:sp>
        <p:nvSpPr>
          <p:cNvPr id="4" name="Text 2"/>
          <p:cNvSpPr/>
          <p:nvPr/>
        </p:nvSpPr>
        <p:spPr>
          <a:xfrm>
            <a:off x="694944" y="1682496"/>
            <a:ext cx="640080" cy="384048"/>
          </a:xfrm>
          <a:prstGeom prst="rect">
            <a:avLst/>
          </a:prstGeom>
          <a:noFill/>
          <a:ln/>
        </p:spPr>
        <p:txBody>
          <a:bodyPr wrap="square" lIns="0" tIns="0" rIns="0" bIns="0" rtlCol="0" anchor="ctr"/>
          <a:lstStyle/>
          <a:p>
            <a:pPr indent="0" marL="0">
              <a:buNone/>
            </a:pPr>
            <a:r>
              <a:rPr lang="en-US" sz="2200" b="1" dirty="0">
                <a:solidFill>
                  <a:srgbClr val="D7A84B"/>
                </a:solidFill>
                <a:latin typeface="Aptos Display" pitchFamily="34" charset="0"/>
                <a:ea typeface="Aptos Display" pitchFamily="34" charset="-122"/>
                <a:cs typeface="Aptos Display" pitchFamily="34" charset="-120"/>
              </a:rPr>
              <a:t>01</a:t>
            </a:r>
            <a:endParaRPr lang="en-US" sz="2200" dirty="0"/>
          </a:p>
        </p:txBody>
      </p:sp>
      <p:sp>
        <p:nvSpPr>
          <p:cNvPr id="5" name="Text 3"/>
          <p:cNvSpPr/>
          <p:nvPr/>
        </p:nvSpPr>
        <p:spPr>
          <a:xfrm>
            <a:off x="694944" y="2212848"/>
            <a:ext cx="3246120" cy="438912"/>
          </a:xfrm>
          <a:prstGeom prst="rect">
            <a:avLst/>
          </a:prstGeom>
          <a:noFill/>
          <a:ln/>
        </p:spPr>
        <p:txBody>
          <a:bodyPr wrap="square" lIns="0" tIns="0" rIns="0" bIns="0" rtlCol="0" anchor="ctr"/>
          <a:lstStyle/>
          <a:p>
            <a:pPr indent="0" marL="0">
              <a:buNone/>
            </a:pPr>
            <a:r>
              <a:rPr lang="en-US" sz="2700" b="1" dirty="0">
                <a:solidFill>
                  <a:srgbClr val="0B4F4A"/>
                </a:solidFill>
                <a:latin typeface="Aptos Display" pitchFamily="34" charset="0"/>
                <a:ea typeface="Aptos Display" pitchFamily="34" charset="-122"/>
                <a:cs typeface="Aptos Display" pitchFamily="34" charset="-120"/>
              </a:rPr>
              <a:t>Retrieve</a:t>
            </a:r>
            <a:endParaRPr lang="en-US" sz="2700" dirty="0"/>
          </a:p>
        </p:txBody>
      </p:sp>
      <p:sp>
        <p:nvSpPr>
          <p:cNvPr id="6" name="Text 4"/>
          <p:cNvSpPr/>
          <p:nvPr/>
        </p:nvSpPr>
        <p:spPr>
          <a:xfrm>
            <a:off x="694944" y="2770632"/>
            <a:ext cx="3246120" cy="1298448"/>
          </a:xfrm>
          <a:prstGeom prst="rect">
            <a:avLst/>
          </a:prstGeom>
          <a:noFill/>
          <a:ln/>
        </p:spPr>
        <p:txBody>
          <a:bodyPr wrap="square" lIns="0" tIns="0" rIns="0" bIns="0" rtlCol="0" anchor="t">
            <a:normAutofit/>
          </a:bodyPr>
          <a:lstStyle/>
          <a:p>
            <a:pPr indent="0" marL="0">
              <a:buNone/>
            </a:pPr>
            <a:r>
              <a:rPr lang="en-US" sz="1900" dirty="0">
                <a:solidFill>
                  <a:srgbClr val="17343A"/>
                </a:solidFill>
                <a:latin typeface="Aptos" pitchFamily="34" charset="0"/>
                <a:ea typeface="Aptos" pitchFamily="34" charset="-122"/>
                <a:cs typeface="Aptos" pitchFamily="34" charset="-120"/>
              </a:rPr>
              <a:t>Explain one lesson idea and the workplace consequence it helps prevent or improve.</a:t>
            </a:r>
            <a:endParaRPr lang="en-US" sz="1900" dirty="0"/>
          </a:p>
        </p:txBody>
      </p:sp>
      <p:sp>
        <p:nvSpPr>
          <p:cNvPr id="7" name="Text 5"/>
          <p:cNvSpPr/>
          <p:nvPr/>
        </p:nvSpPr>
        <p:spPr>
          <a:xfrm>
            <a:off x="4498848" y="1682496"/>
            <a:ext cx="640080" cy="384048"/>
          </a:xfrm>
          <a:prstGeom prst="rect">
            <a:avLst/>
          </a:prstGeom>
          <a:noFill/>
          <a:ln/>
        </p:spPr>
        <p:txBody>
          <a:bodyPr wrap="square" lIns="0" tIns="0" rIns="0" bIns="0" rtlCol="0" anchor="ctr"/>
          <a:lstStyle/>
          <a:p>
            <a:pPr indent="0" marL="0">
              <a:buNone/>
            </a:pPr>
            <a:r>
              <a:rPr lang="en-US" sz="2200" b="1" dirty="0">
                <a:solidFill>
                  <a:srgbClr val="D7A84B"/>
                </a:solidFill>
                <a:latin typeface="Aptos Display" pitchFamily="34" charset="0"/>
                <a:ea typeface="Aptos Display" pitchFamily="34" charset="-122"/>
                <a:cs typeface="Aptos Display" pitchFamily="34" charset="-120"/>
              </a:rPr>
              <a:t>02</a:t>
            </a:r>
            <a:endParaRPr lang="en-US" sz="2200" dirty="0"/>
          </a:p>
        </p:txBody>
      </p:sp>
      <p:sp>
        <p:nvSpPr>
          <p:cNvPr id="8" name="Text 6"/>
          <p:cNvSpPr/>
          <p:nvPr/>
        </p:nvSpPr>
        <p:spPr>
          <a:xfrm>
            <a:off x="4498848" y="2212848"/>
            <a:ext cx="3246120" cy="438912"/>
          </a:xfrm>
          <a:prstGeom prst="rect">
            <a:avLst/>
          </a:prstGeom>
          <a:noFill/>
          <a:ln/>
        </p:spPr>
        <p:txBody>
          <a:bodyPr wrap="square" lIns="0" tIns="0" rIns="0" bIns="0" rtlCol="0" anchor="ctr"/>
          <a:lstStyle/>
          <a:p>
            <a:pPr indent="0" marL="0">
              <a:buNone/>
            </a:pPr>
            <a:r>
              <a:rPr lang="en-US" sz="2700" b="1" dirty="0">
                <a:solidFill>
                  <a:srgbClr val="0B4F4A"/>
                </a:solidFill>
                <a:latin typeface="Aptos Display" pitchFamily="34" charset="0"/>
                <a:ea typeface="Aptos Display" pitchFamily="34" charset="-122"/>
                <a:cs typeface="Aptos Display" pitchFamily="34" charset="-120"/>
              </a:rPr>
              <a:t>Apply</a:t>
            </a:r>
            <a:endParaRPr lang="en-US" sz="2700" dirty="0"/>
          </a:p>
        </p:txBody>
      </p:sp>
      <p:sp>
        <p:nvSpPr>
          <p:cNvPr id="9" name="Text 7"/>
          <p:cNvSpPr/>
          <p:nvPr/>
        </p:nvSpPr>
        <p:spPr>
          <a:xfrm>
            <a:off x="4498848" y="2770632"/>
            <a:ext cx="3246120" cy="1298448"/>
          </a:xfrm>
          <a:prstGeom prst="rect">
            <a:avLst/>
          </a:prstGeom>
          <a:noFill/>
          <a:ln/>
        </p:spPr>
        <p:txBody>
          <a:bodyPr wrap="square" lIns="0" tIns="0" rIns="0" bIns="0" rtlCol="0" anchor="t">
            <a:normAutofit/>
          </a:bodyPr>
          <a:lstStyle/>
          <a:p>
            <a:pPr indent="0" marL="0">
              <a:buNone/>
            </a:pPr>
            <a:r>
              <a:rPr lang="en-US" sz="1900" dirty="0">
                <a:solidFill>
                  <a:srgbClr val="17343A"/>
                </a:solidFill>
                <a:latin typeface="Aptos" pitchFamily="34" charset="0"/>
                <a:ea typeface="Aptos" pitchFamily="34" charset="-122"/>
                <a:cs typeface="Aptos" pitchFamily="34" charset="-120"/>
              </a:rPr>
              <a:t>Use one module visual to justify the next safe, accurate or service-focused action.</a:t>
            </a:r>
            <a:endParaRPr lang="en-US" sz="1900" dirty="0"/>
          </a:p>
        </p:txBody>
      </p:sp>
      <p:sp>
        <p:nvSpPr>
          <p:cNvPr id="10" name="Text 8"/>
          <p:cNvSpPr/>
          <p:nvPr/>
        </p:nvSpPr>
        <p:spPr>
          <a:xfrm>
            <a:off x="8302752" y="1682496"/>
            <a:ext cx="640080" cy="384048"/>
          </a:xfrm>
          <a:prstGeom prst="rect">
            <a:avLst/>
          </a:prstGeom>
          <a:noFill/>
          <a:ln/>
        </p:spPr>
        <p:txBody>
          <a:bodyPr wrap="square" lIns="0" tIns="0" rIns="0" bIns="0" rtlCol="0" anchor="ctr"/>
          <a:lstStyle/>
          <a:p>
            <a:pPr indent="0" marL="0">
              <a:buNone/>
            </a:pPr>
            <a:r>
              <a:rPr lang="en-US" sz="2200" b="1" dirty="0">
                <a:solidFill>
                  <a:srgbClr val="D7A84B"/>
                </a:solidFill>
                <a:latin typeface="Aptos Display" pitchFamily="34" charset="0"/>
                <a:ea typeface="Aptos Display" pitchFamily="34" charset="-122"/>
                <a:cs typeface="Aptos Display" pitchFamily="34" charset="-120"/>
              </a:rPr>
              <a:t>03</a:t>
            </a:r>
            <a:endParaRPr lang="en-US" sz="2200" dirty="0"/>
          </a:p>
        </p:txBody>
      </p:sp>
      <p:sp>
        <p:nvSpPr>
          <p:cNvPr id="11" name="Text 9"/>
          <p:cNvSpPr/>
          <p:nvPr/>
        </p:nvSpPr>
        <p:spPr>
          <a:xfrm>
            <a:off x="8302752" y="2212848"/>
            <a:ext cx="3246120" cy="438912"/>
          </a:xfrm>
          <a:prstGeom prst="rect">
            <a:avLst/>
          </a:prstGeom>
          <a:noFill/>
          <a:ln/>
        </p:spPr>
        <p:txBody>
          <a:bodyPr wrap="square" lIns="0" tIns="0" rIns="0" bIns="0" rtlCol="0" anchor="ctr"/>
          <a:lstStyle/>
          <a:p>
            <a:pPr indent="0" marL="0">
              <a:buNone/>
            </a:pPr>
            <a:r>
              <a:rPr lang="en-US" sz="2700" b="1" dirty="0">
                <a:solidFill>
                  <a:srgbClr val="0B4F4A"/>
                </a:solidFill>
                <a:latin typeface="Aptos Display" pitchFamily="34" charset="0"/>
                <a:ea typeface="Aptos Display" pitchFamily="34" charset="-122"/>
                <a:cs typeface="Aptos Display" pitchFamily="34" charset="-120"/>
              </a:rPr>
              <a:t>Check the boundary</a:t>
            </a:r>
            <a:endParaRPr lang="en-US" sz="2700" dirty="0"/>
          </a:p>
        </p:txBody>
      </p:sp>
      <p:sp>
        <p:nvSpPr>
          <p:cNvPr id="12" name="Text 10"/>
          <p:cNvSpPr/>
          <p:nvPr/>
        </p:nvSpPr>
        <p:spPr>
          <a:xfrm>
            <a:off x="8302752" y="2770632"/>
            <a:ext cx="3246120" cy="1298448"/>
          </a:xfrm>
          <a:prstGeom prst="rect">
            <a:avLst/>
          </a:prstGeom>
          <a:noFill/>
          <a:ln/>
        </p:spPr>
        <p:txBody>
          <a:bodyPr wrap="square" lIns="0" tIns="0" rIns="0" bIns="0" rtlCol="0" anchor="t">
            <a:normAutofit/>
          </a:bodyPr>
          <a:lstStyle/>
          <a:p>
            <a:pPr indent="0" marL="0">
              <a:buNone/>
            </a:pPr>
            <a:r>
              <a:rPr lang="en-US" sz="1900" dirty="0">
                <a:solidFill>
                  <a:srgbClr val="17343A"/>
                </a:solidFill>
                <a:latin typeface="Aptos" pitchFamily="34" charset="0"/>
                <a:ea typeface="Aptos" pitchFamily="34" charset="-122"/>
                <a:cs typeface="Aptos" pitchFamily="34" charset="-120"/>
              </a:rPr>
              <a:t>Name what must come from the current teacher, workplace or RTO source before anyone acts.</a:t>
            </a:r>
            <a:endParaRPr lang="en-US" sz="1900" dirty="0"/>
          </a:p>
        </p:txBody>
      </p:sp>
      <p:sp>
        <p:nvSpPr>
          <p:cNvPr id="13" name="Shape 11"/>
          <p:cNvSpPr/>
          <p:nvPr/>
        </p:nvSpPr>
        <p:spPr>
          <a:xfrm>
            <a:off x="694944" y="4782312"/>
            <a:ext cx="10808208" cy="1143000"/>
          </a:xfrm>
          <a:prstGeom prst="roundRect">
            <a:avLst>
              <a:gd name="adj" fmla="val 4000"/>
            </a:avLst>
          </a:prstGeom>
          <a:solidFill>
            <a:srgbClr val="B8D9D3">
              <a:alpha val="80000"/>
            </a:srgbClr>
          </a:solidFill>
          <a:ln w="15240">
            <a:solidFill>
              <a:srgbClr val="19766F"/>
            </a:solidFill>
            <a:prstDash val="solid"/>
          </a:ln>
        </p:spPr>
      </p:sp>
      <p:sp>
        <p:nvSpPr>
          <p:cNvPr id="14" name="Text 12"/>
          <p:cNvSpPr/>
          <p:nvPr/>
        </p:nvSpPr>
        <p:spPr>
          <a:xfrm>
            <a:off x="914400" y="5001768"/>
            <a:ext cx="1097280" cy="219456"/>
          </a:xfrm>
          <a:prstGeom prst="rect">
            <a:avLst/>
          </a:prstGeom>
          <a:noFill/>
          <a:ln/>
        </p:spPr>
        <p:txBody>
          <a:bodyPr wrap="square" lIns="0" tIns="0" rIns="0" bIns="0" rtlCol="0" anchor="ctr"/>
          <a:lstStyle/>
          <a:p>
            <a:pPr indent="0" marL="0">
              <a:buNone/>
            </a:pPr>
            <a:r>
              <a:rPr lang="en-US" sz="1300" b="1" spc="80" kern="0" dirty="0">
                <a:solidFill>
                  <a:srgbClr val="0B4F4A"/>
                </a:solidFill>
                <a:latin typeface="Aptos" pitchFamily="34" charset="0"/>
                <a:ea typeface="Aptos" pitchFamily="34" charset="-122"/>
                <a:cs typeface="Aptos" pitchFamily="34" charset="-120"/>
              </a:rPr>
              <a:t>NEXT STEP</a:t>
            </a:r>
            <a:endParaRPr lang="en-US" sz="1300" dirty="0"/>
          </a:p>
        </p:txBody>
      </p:sp>
      <p:sp>
        <p:nvSpPr>
          <p:cNvPr id="15" name="Text 13"/>
          <p:cNvSpPr/>
          <p:nvPr/>
        </p:nvSpPr>
        <p:spPr>
          <a:xfrm>
            <a:off x="2084832" y="4910328"/>
            <a:ext cx="9107424" cy="585216"/>
          </a:xfrm>
          <a:prstGeom prst="rect">
            <a:avLst/>
          </a:prstGeom>
          <a:noFill/>
          <a:ln/>
        </p:spPr>
        <p:txBody>
          <a:bodyPr wrap="square" lIns="0" tIns="0" rIns="0" bIns="0" rtlCol="0" anchor="ctr">
            <a:normAutofit/>
          </a:bodyPr>
          <a:lstStyle/>
          <a:p>
            <a:pPr indent="0" marL="0">
              <a:buNone/>
            </a:pPr>
            <a:r>
              <a:rPr lang="en-US" sz="1900" b="1" dirty="0">
                <a:solidFill>
                  <a:srgbClr val="17343A"/>
                </a:solidFill>
                <a:latin typeface="Aptos" pitchFamily="34" charset="0"/>
                <a:ea typeface="Aptos" pitchFamily="34" charset="-122"/>
                <a:cs typeface="Aptos" pitchFamily="34" charset="-120"/>
              </a:rPr>
              <a:t>Complete the teacher-nominated response or activity, save only privacy-safe learning evidence, and ask before acting when a procedure or authority limit is unclear.</a:t>
            </a:r>
            <a:endParaRPr lang="en-US" sz="1900" dirty="0"/>
          </a:p>
        </p:txBody>
      </p:sp>
      <p:sp>
        <p:nvSpPr>
          <p:cNvPr id="16" name="Shape 14"/>
          <p:cNvSpPr/>
          <p:nvPr/>
        </p:nvSpPr>
        <p:spPr>
          <a:xfrm>
            <a:off x="530352" y="6473952"/>
            <a:ext cx="11128248" cy="0"/>
          </a:xfrm>
          <a:prstGeom prst="line">
            <a:avLst/>
          </a:prstGeom>
          <a:noFill/>
          <a:ln w="15240">
            <a:solidFill>
              <a:srgbClr val="B8D9D3"/>
            </a:solidFill>
            <a:prstDash val="solid"/>
          </a:ln>
        </p:spPr>
      </p:sp>
      <p:sp>
        <p:nvSpPr>
          <p:cNvPr id="17" name="Text 15"/>
          <p:cNvSpPr/>
          <p:nvPr/>
        </p:nvSpPr>
        <p:spPr>
          <a:xfrm>
            <a:off x="566928" y="6528816"/>
            <a:ext cx="5303520" cy="164592"/>
          </a:xfrm>
          <a:prstGeom prst="rect">
            <a:avLst/>
          </a:prstGeom>
          <a:noFill/>
          <a:ln/>
        </p:spPr>
        <p:txBody>
          <a:bodyPr wrap="square" lIns="0" tIns="0" rIns="0" bIns="0" rtlCol="0" anchor="ctr"/>
          <a:lstStyle/>
          <a:p>
            <a:pPr indent="0" marL="0">
              <a:buNone/>
            </a:pPr>
            <a:r>
              <a:rPr lang="en-US" sz="1050" dirty="0">
                <a:solidFill>
                  <a:srgbClr val="53686C"/>
                </a:solidFill>
                <a:latin typeface="Aptos" pitchFamily="34" charset="0"/>
                <a:ea typeface="Aptos" pitchFamily="34" charset="-122"/>
                <a:cs typeface="Aptos" pitchFamily="34" charset="-120"/>
              </a:rPr>
              <a:t>SIT20322 Hospitality · Task 2</a:t>
            </a:r>
            <a:endParaRPr lang="en-US" sz="1050" dirty="0"/>
          </a:p>
        </p:txBody>
      </p:sp>
      <p:sp>
        <p:nvSpPr>
          <p:cNvPr id="18" name="Text 16"/>
          <p:cNvSpPr/>
          <p:nvPr/>
        </p:nvSpPr>
        <p:spPr>
          <a:xfrm>
            <a:off x="10881360" y="6528816"/>
            <a:ext cx="749808" cy="164592"/>
          </a:xfrm>
          <a:prstGeom prst="rect">
            <a:avLst/>
          </a:prstGeom>
          <a:noFill/>
          <a:ln/>
        </p:spPr>
        <p:txBody>
          <a:bodyPr wrap="square" lIns="0" tIns="0" rIns="0" bIns="0" rtlCol="0" anchor="ctr"/>
          <a:lstStyle/>
          <a:p>
            <a:pPr algn="r" indent="0" marL="0">
              <a:buNone/>
            </a:pPr>
            <a:r>
              <a:rPr lang="en-US" sz="1050" dirty="0">
                <a:solidFill>
                  <a:srgbClr val="53686C"/>
                </a:solidFill>
                <a:latin typeface="Aptos" pitchFamily="34" charset="0"/>
                <a:ea typeface="Aptos" pitchFamily="34" charset="-122"/>
                <a:cs typeface="Aptos" pitchFamily="34" charset="-120"/>
              </a:rPr>
              <a:t>10 / 10</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TAS Faculty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 2 — Service Please</dc:title>
  <dc:subject>SIT20322 Hospitality Task 2 classroom teaching deck</dc:subject>
  <dc:creator>TAS Faculty</dc:creator>
  <cp:lastModifiedBy>TAS Faculty</cp:lastModifiedBy>
  <cp:revision>1</cp:revision>
  <dcterms:created xsi:type="dcterms:W3CDTF">2026-08-20T14:31:54Z</dcterms:created>
  <dcterms:modified xsi:type="dcterms:W3CDTF">2026-08-20T14:31:54Z</dcterms:modified>
</cp:coreProperties>
</file>